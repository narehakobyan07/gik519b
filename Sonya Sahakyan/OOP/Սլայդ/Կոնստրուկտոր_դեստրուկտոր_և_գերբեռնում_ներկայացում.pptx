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b63a3450ac418a" /><Relationship Type="http://schemas.openxmlformats.org/officeDocument/2006/relationships/extended-properties" Target="/docProps/app.xml" Id="R8d08419e5b2f4831" /><Relationship Type="http://schemas.openxmlformats.org/officeDocument/2006/relationships/officeDocument" Target="/ppt/presentation.xml" Id="R036b0ec17e1046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58f69388c1426f"/>
  </p:sldMasterIdLst>
  <p:notesMasterIdLst>
    <p:notesMasterId xmlns:r="http://schemas.openxmlformats.org/officeDocument/2006/relationships" r:id="R5b08dfb3b13d4dfc"/>
  </p:notesMasterIdLst>
  <p:sldIdLst>
    <p:sldId xmlns:r="http://schemas.openxmlformats.org/officeDocument/2006/relationships" id="256" r:id="Ra8977046cc764d14"/>
    <p:sldId xmlns:r="http://schemas.openxmlformats.org/officeDocument/2006/relationships" id="257" r:id="Red0da05a7dd042c9"/>
    <p:sldId xmlns:r="http://schemas.openxmlformats.org/officeDocument/2006/relationships" id="258" r:id="R1f1395e7b65a40ac"/>
    <p:sldId xmlns:r="http://schemas.openxmlformats.org/officeDocument/2006/relationships" id="259" r:id="R495771e446c4438a"/>
    <p:sldId xmlns:r="http://schemas.openxmlformats.org/officeDocument/2006/relationships" id="260" r:id="Re49591a73a454222"/>
    <p:sldId xmlns:r="http://schemas.openxmlformats.org/officeDocument/2006/relationships" id="261" r:id="R9a4f01ebe4fd4a1a"/>
    <p:sldId xmlns:r="http://schemas.openxmlformats.org/officeDocument/2006/relationships" id="262" r:id="R47a2920086a34e63"/>
    <p:sldId xmlns:r="http://schemas.openxmlformats.org/officeDocument/2006/relationships" id="263" r:id="R0eb1ae7e41e446e7"/>
    <p:sldId xmlns:r="http://schemas.openxmlformats.org/officeDocument/2006/relationships" id="264" r:id="R89bc3ef1853d4b00"/>
    <p:sldId xmlns:r="http://schemas.openxmlformats.org/officeDocument/2006/relationships" id="265" r:id="Rd068bf4153d74065"/>
    <p:sldId xmlns:r="http://schemas.openxmlformats.org/officeDocument/2006/relationships" id="266" r:id="Rdb4ad77c1807484d"/>
    <p:sldId xmlns:r="http://schemas.openxmlformats.org/officeDocument/2006/relationships" id="267" r:id="R5bb8a77d210749b2"/>
    <p:sldId xmlns:r="http://schemas.openxmlformats.org/officeDocument/2006/relationships" id="268" r:id="R502776a29c1648d3"/>
    <p:sldId xmlns:r="http://schemas.openxmlformats.org/officeDocument/2006/relationships" id="269" r:id="Rfb95062c14f1417b"/>
    <p:sldId xmlns:r="http://schemas.openxmlformats.org/officeDocument/2006/relationships" id="270" r:id="R8b25f3e1e8064f98"/>
    <p:sldId xmlns:r="http://schemas.openxmlformats.org/officeDocument/2006/relationships" id="271" r:id="R2f9a0adcf9bf4c1d"/>
    <p:sldId xmlns:r="http://schemas.openxmlformats.org/officeDocument/2006/relationships" id="272" r:id="Rbb698f249fc54c94"/>
    <p:sldId xmlns:r="http://schemas.openxmlformats.org/officeDocument/2006/relationships" id="273" r:id="R5ddbf1402e9a44dd"/>
    <p:sldId xmlns:r="http://schemas.openxmlformats.org/officeDocument/2006/relationships" id="274" r:id="R3330f61b8e8744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4e7c287d67424c" /><Relationship Type="http://schemas.openxmlformats.org/officeDocument/2006/relationships/slideMaster" Target="/ppt/slideMasters/slideMaster1.xml" Id="R3758f69388c1426f" /><Relationship Type="http://schemas.openxmlformats.org/officeDocument/2006/relationships/notesMaster" Target="/ppt/notesMasters/notesMaster1.xml" Id="R5b08dfb3b13d4dfc" /><Relationship Type="http://schemas.openxmlformats.org/officeDocument/2006/relationships/presProps" Target="/ppt/presProps.xml" Id="R5195b4f2c80748b2" /><Relationship Type="http://schemas.openxmlformats.org/officeDocument/2006/relationships/tableStyles" Target="/ppt/tableStyles.xml" Id="Rcf9de3789a244d6b" /><Relationship Type="http://schemas.openxmlformats.org/officeDocument/2006/relationships/slide" Target="/ppt/slides/slide1.xml" Id="Ra8977046cc764d14" /><Relationship Type="http://schemas.openxmlformats.org/officeDocument/2006/relationships/slide" Target="/ppt/slides/slide2.xml" Id="Red0da05a7dd042c9" /><Relationship Type="http://schemas.openxmlformats.org/officeDocument/2006/relationships/slide" Target="/ppt/slides/slide3.xml" Id="R1f1395e7b65a40ac" /><Relationship Type="http://schemas.openxmlformats.org/officeDocument/2006/relationships/slide" Target="/ppt/slides/slide4.xml" Id="R495771e446c4438a" /><Relationship Type="http://schemas.openxmlformats.org/officeDocument/2006/relationships/slide" Target="/ppt/slides/slide5.xml" Id="Re49591a73a454222" /><Relationship Type="http://schemas.openxmlformats.org/officeDocument/2006/relationships/slide" Target="/ppt/slides/slide6.xml" Id="R9a4f01ebe4fd4a1a" /><Relationship Type="http://schemas.openxmlformats.org/officeDocument/2006/relationships/slide" Target="/ppt/slides/slide7.xml" Id="R47a2920086a34e63" /><Relationship Type="http://schemas.openxmlformats.org/officeDocument/2006/relationships/slide" Target="/ppt/slides/slide8.xml" Id="R0eb1ae7e41e446e7" /><Relationship Type="http://schemas.openxmlformats.org/officeDocument/2006/relationships/slide" Target="/ppt/slides/slide9.xml" Id="R89bc3ef1853d4b00" /><Relationship Type="http://schemas.openxmlformats.org/officeDocument/2006/relationships/slide" Target="/ppt/slides/slide10.xml" Id="Rd068bf4153d74065" /><Relationship Type="http://schemas.openxmlformats.org/officeDocument/2006/relationships/slide" Target="/ppt/slides/slide11.xml" Id="Rdb4ad77c1807484d" /><Relationship Type="http://schemas.openxmlformats.org/officeDocument/2006/relationships/slide" Target="/ppt/slides/slide12.xml" Id="R5bb8a77d210749b2" /><Relationship Type="http://schemas.openxmlformats.org/officeDocument/2006/relationships/slide" Target="/ppt/slides/slide13.xml" Id="R502776a29c1648d3" /><Relationship Type="http://schemas.openxmlformats.org/officeDocument/2006/relationships/slide" Target="/ppt/slides/slide14.xml" Id="Rfb95062c14f1417b" /><Relationship Type="http://schemas.openxmlformats.org/officeDocument/2006/relationships/slide" Target="/ppt/slides/slide15.xml" Id="R8b25f3e1e8064f98" /><Relationship Type="http://schemas.openxmlformats.org/officeDocument/2006/relationships/slide" Target="/ppt/slides/slide16.xml" Id="R2f9a0adcf9bf4c1d" /><Relationship Type="http://schemas.openxmlformats.org/officeDocument/2006/relationships/slide" Target="/ppt/slides/slide17.xml" Id="Rbb698f249fc54c94" /><Relationship Type="http://schemas.openxmlformats.org/officeDocument/2006/relationships/slide" Target="/ppt/slides/slide18.xml" Id="R5ddbf1402e9a44dd" /><Relationship Type="http://schemas.openxmlformats.org/officeDocument/2006/relationships/slide" Target="/ppt/slides/slide19.xml" Id="R3330f61b8e8744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7a4eca564941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38975d021d437c" /><Relationship Type="http://schemas.openxmlformats.org/officeDocument/2006/relationships/notesMaster" Target="/ppt/notesMasters/notesMaster1.xml" Id="Rbdcd3cdbfb2746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91d96dc7a34538" /><Relationship Type="http://schemas.openxmlformats.org/officeDocument/2006/relationships/notesMaster" Target="/ppt/notesMasters/notesMaster1.xml" Id="R7d48eb45412545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bacf7e7ba84866" /><Relationship Type="http://schemas.openxmlformats.org/officeDocument/2006/relationships/notesMaster" Target="/ppt/notesMasters/notesMaster1.xml" Id="R097994ceb5d641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4716ba26884932" /><Relationship Type="http://schemas.openxmlformats.org/officeDocument/2006/relationships/notesMaster" Target="/ppt/notesMasters/notesMaster1.xml" Id="Re85478cbc61246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c95f3d4c1e4931" /><Relationship Type="http://schemas.openxmlformats.org/officeDocument/2006/relationships/notesMaster" Target="/ppt/notesMasters/notesMaster1.xml" Id="Ra57d8474e59f4c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206d42063a48fe" /><Relationship Type="http://schemas.openxmlformats.org/officeDocument/2006/relationships/notesMaster" Target="/ppt/notesMasters/notesMaster1.xml" Id="R3e7dbcb9ef4342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38edac9b6e4608" /><Relationship Type="http://schemas.openxmlformats.org/officeDocument/2006/relationships/notesMaster" Target="/ppt/notesMasters/notesMaster1.xml" Id="R90b6097966ec4d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d3cf3d60af4347" /><Relationship Type="http://schemas.openxmlformats.org/officeDocument/2006/relationships/notesMaster" Target="/ppt/notesMasters/notesMaster1.xml" Id="Refd33766ac3c47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d4c907f0304a3b" /><Relationship Type="http://schemas.openxmlformats.org/officeDocument/2006/relationships/notesMaster" Target="/ppt/notesMasters/notesMaster1.xml" Id="Rfc52c3ee6a4040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5946ee48ac4cc9" /><Relationship Type="http://schemas.openxmlformats.org/officeDocument/2006/relationships/notesMaster" Target="/ppt/notesMasters/notesMaster1.xml" Id="R60d95525b46147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cd5bd3eae244c0" /><Relationship Type="http://schemas.openxmlformats.org/officeDocument/2006/relationships/notesMaster" Target="/ppt/notesMasters/notesMaster1.xml" Id="R6b88335f67df42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59609776724bd4" /><Relationship Type="http://schemas.openxmlformats.org/officeDocument/2006/relationships/notesMaster" Target="/ppt/notesMasters/notesMaster1.xml" Id="Ra1daa2ebdc104e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187dbb458804ea2" /><Relationship Type="http://schemas.openxmlformats.org/officeDocument/2006/relationships/notesMaster" Target="/ppt/notesMasters/notesMaster1.xml" Id="Rba57d69fe18f49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de2ac73a204876" /><Relationship Type="http://schemas.openxmlformats.org/officeDocument/2006/relationships/notesMaster" Target="/ppt/notesMasters/notesMaster1.xml" Id="Rfd17253b58584a3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f58e747ce384107" /><Relationship Type="http://schemas.openxmlformats.org/officeDocument/2006/relationships/notesMaster" Target="/ppt/notesMasters/notesMaster1.xml" Id="R4505620cf80c469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32cf1d372454011" /><Relationship Type="http://schemas.openxmlformats.org/officeDocument/2006/relationships/notesMaster" Target="/ppt/notesMasters/notesMaster1.xml" Id="R990d053712c648a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4f99e3c17543bf" /><Relationship Type="http://schemas.openxmlformats.org/officeDocument/2006/relationships/notesMaster" Target="/ppt/notesMasters/notesMaster1.xml" Id="Ra32c3a0b7f9c4ed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e2f73dea895440d" /><Relationship Type="http://schemas.openxmlformats.org/officeDocument/2006/relationships/notesMaster" Target="/ppt/notesMasters/notesMaster1.xml" Id="Re9c25262e1374b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72e52f57e454e31" /><Relationship Type="http://schemas.openxmlformats.org/officeDocument/2006/relationships/notesMaster" Target="/ppt/notesMasters/notesMaster1.xml" Id="Re850b6de636a48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Ներկայացնել թեման որպես օբյեկտի կյանքի սկիզբ և ավարտ։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Արդյունքները կապել հաջորդ կոդային օրինակների հետ։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Կոնստրուկտորն ու դեստրուկտորը հատուկ անդամ մեթոդներ են։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Բացատրել կոդը տող առ տող և կապել սլայդի հիմնական կանոնի հետ։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Բացատրել կոդը տող առ տող և կապել սլայդի հիմնական կանոնի հետ։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Բացատրել կոդը տող առ տող և կապել սլայդի հիմնական կանոնի հետ։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Բացատրել կոդը տող առ տող և կապել սլայդի հիմնական կանոնի հետ։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Պարամետրերի ցուցակները պետք է տարբերվեն։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Բացատրել կոդը տող առ տող և կապել սլայդի հիմնական կանոնի հետ։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Բացատրել կոդը տող առ տող և կապել սլայդի հիմնական կանոնի հետ։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Բացատրել գերբեռնման անորոշությունը։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Բացատրել կոդը տող առ տող և կապել սլայդի հիմնական կանոնի հետ։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Բացատրել կոդը տող առ տող և կապել սլայդի հիմնական կանոնի հետ։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Նույն բլոկի օբյեկտները ոչնչացվում են ստեղծման հակառակ հերթով։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Տարբերել delete և delete[] գործողությունները։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Բացատրել կոդը տող առ տող և կապել սլայդի հիմնական կանոնի հետ։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Աղյուսակը կիրառել ամփոփ համեմատության համար։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Ամփոփել պատվիրակումը, սովորական մեթոդը, const մեթոդը և դեստրուկտորը։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Հարցերը կիրառել բանավոր ամփոփման համար։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0185a3b534c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018dec83f946f8" /><Relationship Type="http://schemas.openxmlformats.org/officeDocument/2006/relationships/slideLayout" Target="/ppt/slideLayouts/slideLayout1.xml" Id="Re39e640d09c740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9e640d09c740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1996ebe1e41d6" /><Relationship Type="http://schemas.openxmlformats.org/officeDocument/2006/relationships/notesSlide" Target="/ppt/notesSlides/notesSlide1.xml" Id="R621c1d9d92d248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2a26c642746d6" /><Relationship Type="http://schemas.openxmlformats.org/officeDocument/2006/relationships/notesSlide" Target="/ppt/notesSlides/notesSlide2.xml" Id="Readb9bdc165d40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e00b9c80145bd" /><Relationship Type="http://schemas.openxmlformats.org/officeDocument/2006/relationships/notesSlide" Target="/ppt/notesSlides/notesSlide3.xml" Id="R99c766b78e0547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6c580722946ee" /><Relationship Type="http://schemas.openxmlformats.org/officeDocument/2006/relationships/notesSlide" Target="/ppt/notesSlides/notesSlide4.xml" Id="Rce00da62b3bc48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f0f2107f44272" /><Relationship Type="http://schemas.openxmlformats.org/officeDocument/2006/relationships/notesSlide" Target="/ppt/notesSlides/notesSlide5.xml" Id="R1363f8b0143448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dd06635544f10" /><Relationship Type="http://schemas.openxmlformats.org/officeDocument/2006/relationships/notesSlide" Target="/ppt/notesSlides/notesSlide6.xml" Id="R63ac510210e549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5d9f9ca6e40fc" /><Relationship Type="http://schemas.openxmlformats.org/officeDocument/2006/relationships/notesSlide" Target="/ppt/notesSlides/notesSlide7.xml" Id="R144c41b90b3c48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d146fb4cd4c3e" /><Relationship Type="http://schemas.openxmlformats.org/officeDocument/2006/relationships/notesSlide" Target="/ppt/notesSlides/notesSlide8.xml" Id="Rb5ae61d37aff43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bd5b6e7424d3d" /><Relationship Type="http://schemas.openxmlformats.org/officeDocument/2006/relationships/notesSlide" Target="/ppt/notesSlides/notesSlide9.xml" Id="Rcfd41bcad24946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67e84f3164472" /><Relationship Type="http://schemas.openxmlformats.org/officeDocument/2006/relationships/notesSlide" Target="/ppt/notesSlides/notesSlide10.xml" Id="Rbd724e955d6d46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0f1a0b2d64388" /><Relationship Type="http://schemas.openxmlformats.org/officeDocument/2006/relationships/notesSlide" Target="/ppt/notesSlides/notesSlide11.xml" Id="Rc6d8a1360c0c48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8493654084420" /><Relationship Type="http://schemas.openxmlformats.org/officeDocument/2006/relationships/notesSlide" Target="/ppt/notesSlides/notesSlide12.xml" Id="R4c7097bcf2d941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bb65a891b4ee2" /><Relationship Type="http://schemas.openxmlformats.org/officeDocument/2006/relationships/notesSlide" Target="/ppt/notesSlides/notesSlide13.xml" Id="Rbf3c520c52eb45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5604e1f024690" /><Relationship Type="http://schemas.openxmlformats.org/officeDocument/2006/relationships/notesSlide" Target="/ppt/notesSlides/notesSlide14.xml" Id="R6ae77904dbd441c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754ffc96441e2" /><Relationship Type="http://schemas.openxmlformats.org/officeDocument/2006/relationships/notesSlide" Target="/ppt/notesSlides/notesSlide15.xml" Id="Rdeba428248234bc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e8b8810614f78" /><Relationship Type="http://schemas.openxmlformats.org/officeDocument/2006/relationships/notesSlide" Target="/ppt/notesSlides/notesSlide16.xml" Id="R61cecf3035314a2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901e4553649ec" /><Relationship Type="http://schemas.openxmlformats.org/officeDocument/2006/relationships/notesSlide" Target="/ppt/notesSlides/notesSlide17.xml" Id="R31ba0d0ab7bc4b6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85cb790e448ec" /><Relationship Type="http://schemas.openxmlformats.org/officeDocument/2006/relationships/notesSlide" Target="/ppt/notesSlides/notesSlide18.xml" Id="R7cd9484986d244b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4054d4ca34f1a" /><Relationship Type="http://schemas.openxmlformats.org/officeDocument/2006/relationships/notesSlide" Target="/ppt/notesSlides/notesSlide19.xml" Id="Rea89c121522e49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B0498-CD9D-4CC6-9E1A-D98BFBEC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53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Կոնստրուկտոր և դեստրուկտոր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A1588-8339-4C68-9F0B-9F4245DD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90875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8FA3B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8FA3B8"/>
                </a:solidFill>
                <a:latin typeface="DejaVu Sans"/>
                <a:ea typeface="DejaVu Sans"/>
                <a:cs typeface="DejaVu Sans"/>
              </a:rPr>
              <a:t>Դասի անդամներ, մեթոդներ և կոնստրուկտորների գերբեռնում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440D8-B18D-4397-A302-EC0D628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196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560603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191C7-8613-4973-A39B-D5BDA317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02  ՕԲՅԵԿՏԱՅԻՆ ԾՐԱԳՐԱՎՈՐՈՒՄ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7BE37-1920-4AB4-BA4F-8D7DEAAA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Դասի ուսումնառության արդյունքները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C113E-B631-414A-9193-9073BD47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0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68EF1-7021-4D05-8B5E-6BC0E5CB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10287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0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Տարբերել տվյալների անդամը և անդամ մեթոդը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0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Բացատրել կոնստրուկտորի ավտոմատ կանչը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0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Կիրառել սկզբնարժեքավորման ցուցակը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0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Ստեղծել գերբեռնված և պատվիրակող կոնստրուկտորներ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2025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Բացատրել դեստրուկտորի կանչի պահը</a:t>
            </a:r>
          </a:p>
        </p:txBody>
      </p:sp>
    </p:spTree>
    <p:extLst>
      <p:ext uri="{BB962C8B-B14F-4D97-AF65-F5344CB8AC3E}">
        <p14:creationId xmlns:p14="http://schemas.microsoft.com/office/powerpoint/2010/main" val="2881538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8C4B7-240E-4C59-A741-2BA63CE0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03  ՕԲՅԵԿՏԱՅԻՆ ԾՐԱԳՐԱՎՈՐՈՒՄ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2018C-DD32-4B78-BA01-3DAEAE50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Դասի անդամներ և մեթոդներ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6C806-B838-4E8D-8F62-5C6CACB3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0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49DEB-A224-43EA-9AC5-D2464067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476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9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Տվյալների անդամներ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74579-C37F-43FE-A494-3959C758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571625"/>
            <a:ext cx="476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9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6A5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6A5FF"/>
                </a:solidFill>
                <a:latin typeface="DejaVu Sans"/>
                <a:ea typeface="DejaVu Sans"/>
                <a:cs typeface="DejaVu Sans"/>
              </a:rPr>
              <a:t>Անդամ մեթոդներ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8D9A2-4890-4950-8AF1-66F2F5B9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95625"/>
            <a:ext cx="4381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Նկարագրում են օբյեկտի վիճակը։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name</a:t>
            </a:r>
          </a:p>
          <a:p xmlns:a="http://schemas.openxmlformats.org/drawingml/2006/main">
            <a:pPr>
              <a:def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balance</a:t>
            </a:r>
          </a:p>
          <a:p xmlns:a="http://schemas.openxmlformats.org/drawingml/2006/main">
            <a:pPr>
              <a:def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size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97CC7-0594-4C6A-BF5B-1B7F13F4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95625"/>
            <a:ext cx="4381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Կառավարում են օբյեկտի վիճակը։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setName()</a:t>
            </a:r>
          </a:p>
          <a:p xmlns:a="http://schemas.openxmlformats.org/drawingml/2006/main">
            <a:pPr>
              <a:def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deposit()</a:t>
            </a:r>
          </a:p>
          <a:p xmlns:a="http://schemas.openxmlformats.org/drawingml/2006/main">
            <a:pPr>
              <a:def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getSize()</a:t>
            </a:r>
          </a:p>
        </p:txBody>
      </p:sp>
    </p:spTree>
    <p:extLst>
      <p:ext uri="{BB962C8B-B14F-4D97-AF65-F5344CB8AC3E}">
        <p14:creationId xmlns:p14="http://schemas.microsoft.com/office/powerpoint/2010/main" val="4506251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84EB7-062B-4940-81ED-0A842C9F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04  ՕԲՅԵԿՏԱՅԻՆ ԾՐԱԳՐԱՎՈՐՈՒՄ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93CB4-881E-4DA3-83CF-BB0FCD56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Կոնստրուկտորի գաղափարը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F4C3B-0DFB-4641-97F9-BF284805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0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9E9C6-6176-433E-8944-AC72A3AF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572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2D"/>
          </a:solidFill>
          <a:ln xmlns:a="http://schemas.openxmlformats.org/drawingml/2006/main" w="9525">
            <a:solidFill>
              <a:srgbClr val="1B4057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class Student {</a:t>
            </a:r>
          </a:p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private:</a:t>
            </a:r>
          </a:p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string name;</a:t>
            </a:r>
          </a:p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int course;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public:</a:t>
            </a:r>
          </a:p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Student() {</a:t>
            </a:r>
          </a:p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name = "Unknown";</a:t>
            </a:r>
          </a:p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course = 1;</a:t>
            </a:r>
          </a:p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};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B06C5-10FC-450D-9B06-AC231486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3619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Անունը համընկնում է դասի անվան հետ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Վերադարձվող տիպ չի գրվում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Կանչվում է օբյեկտի ստեղծման պահին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Սահմանում է օբյեկտի սկզբնական վիճակը</a:t>
            </a:r>
          </a:p>
        </p:txBody>
      </p:sp>
    </p:spTree>
    <p:extLst>
      <p:ext uri="{BB962C8B-B14F-4D97-AF65-F5344CB8AC3E}">
        <p14:creationId xmlns:p14="http://schemas.microsoft.com/office/powerpoint/2010/main" val="9907323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2B8D6-3DCA-4AA6-AACD-FFDD6039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05  ՕԲՅԵԿՏԱՅԻՆ ԾՐԱԳՐԱՎՈՐՈՒՄ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5EE59-B2B9-4899-AA53-44D41A77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Լռելյայն կոնստրուկտոր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D27C6-8367-454C-AE22-CE813017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0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EF283-17B6-45A9-9B10-8400BC25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572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2D"/>
          </a:solidFill>
          <a:ln xmlns:a="http://schemas.openxmlformats.org/drawingml/2006/main" w="9525">
            <a:solidFill>
              <a:srgbClr val="1B4057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class Rectangle {</a:t>
            </a:r>
          </a:p>
          <a:p xmlns:a="http://schemas.openxmlformats.org/drawingml/2006/main"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private:</a:t>
            </a:r>
          </a:p>
          <a:p xmlns:a="http://schemas.openxmlformats.org/drawingml/2006/main"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double width;</a:t>
            </a:r>
          </a:p>
          <a:p xmlns:a="http://schemas.openxmlformats.org/drawingml/2006/main"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double height;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public:</a:t>
            </a:r>
          </a:p>
          <a:p xmlns:a="http://schemas.openxmlformats.org/drawingml/2006/main"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Rectangle()</a:t>
            </a:r>
          </a:p>
          <a:p xmlns:a="http://schemas.openxmlformats.org/drawingml/2006/main"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: width(1), height(1) {</a:t>
            </a:r>
          </a:p>
          <a:p xmlns:a="http://schemas.openxmlformats.org/drawingml/2006/main"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Rectangle first;</a:t>
            </a:r>
          </a:p>
          <a:p xmlns:a="http://schemas.openxmlformats.org/drawingml/2006/main"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Rectangle second{};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D9E3C-B6CF-496B-9D9D-EE2D59B8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3619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Կարելի է կանչել առանց փաստարկի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Կարող է ունենալ բոլոր լռելյայն պարամետրերը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Այլ կոնստրուկտոր հայտարարելուց հետո անհրաժեշտ տարբերակը գրվում է առանձին</a:t>
            </a:r>
          </a:p>
        </p:txBody>
      </p:sp>
    </p:spTree>
    <p:extLst>
      <p:ext uri="{BB962C8B-B14F-4D97-AF65-F5344CB8AC3E}">
        <p14:creationId xmlns:p14="http://schemas.microsoft.com/office/powerpoint/2010/main" val="10657953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D9EF8-3A48-4998-B990-B7EB28C4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06  ՕԲՅԵԿՏԱՅԻՆ ԾՐԱԳՐԱՎՈՐՈՒՄ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0A617-A70E-4727-BDFD-1A5E1A18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Պարամետրերով կոնստրուկտոր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45A22-0D30-4D16-9508-CAFFC017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0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085AB-AC58-49C2-A8C3-CCFC3BAD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572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2D"/>
          </a:solidFill>
          <a:ln xmlns:a="http://schemas.openxmlformats.org/drawingml/2006/main" w="9525">
            <a:solidFill>
              <a:srgbClr val="1B4057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class Rectangle {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private: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double width;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double height;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public: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Rectangle(double w, double h)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: width(w &gt; 0 ? w : 1),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  height(h &gt; 0 ? h : 1) {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Rectangle room(5.5, 4);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785F5-0F47-42FF-8064-1F547B97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3619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Սկզբնական տվյալները ստացվում են ստեղծման արտահայտությունից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Սխալ արժեքը փոխարինվում է անվտանգ արժեքով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Օբյեկտը ստեղծվում է անմիջապես վավեր վիճակով</a:t>
            </a:r>
          </a:p>
        </p:txBody>
      </p:sp>
    </p:spTree>
    <p:extLst>
      <p:ext uri="{BB962C8B-B14F-4D97-AF65-F5344CB8AC3E}">
        <p14:creationId xmlns:p14="http://schemas.microsoft.com/office/powerpoint/2010/main" val="78162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92115-5FAD-4563-B325-764BFA67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07  ՕԲՅԵԿՏԱՅԻՆ ԾՐԱԳՐԱՎՈՐՈՒՄ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BB3AC-2296-4608-8CA8-9F0CDC24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Անդամների սկզբնարժեքավորման ցուցակ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54C41-CB32-42AE-8399-854F39E4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0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3C342-6FC7-49A8-92DE-9AB01F08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572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2D"/>
          </a:solidFill>
          <a:ln xmlns:a="http://schemas.openxmlformats.org/drawingml/2006/main" w="9525">
            <a:solidFill>
              <a:srgbClr val="1B4057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class Account {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private: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const int number;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string owner;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double balance;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public: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Account(int number, const string&amp; owner)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: number(number),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  owner(owner),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  balance(0) {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};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52E87-7392-4B1D-BAC5-E7205033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3619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Սկսվում է երկու կետով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Գործում է մինչև կոնստրուկտորի մարմինը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Պարտադիր է const և հղումային անդամների համար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Իրական հերթը դաշտերի հայտարարության հերթն է</a:t>
            </a:r>
          </a:p>
        </p:txBody>
      </p:sp>
    </p:spTree>
    <p:extLst>
      <p:ext uri="{BB962C8B-B14F-4D97-AF65-F5344CB8AC3E}">
        <p14:creationId xmlns:p14="http://schemas.microsoft.com/office/powerpoint/2010/main" val="8608786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490A0-A438-45BD-9148-09E3ED3F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08  ՕԲՅԵԿՏԱՅԻՆ ԾՐԱԳՐԱՎՈՐՈՒՄ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DD1E3-242F-4889-A40B-C688B9BE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Կոնստրուկտորների գերբեռնում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FCB07-7B7C-4F41-A9D3-250BE985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0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4694A-6334-459C-AD55-36504E0E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524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2D"/>
          </a:solidFill>
          <a:ln xmlns:a="http://schemas.openxmlformats.org/drawingml/2006/main" w="9525">
            <a:solidFill>
              <a:srgbClr val="1B4057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class Product {</a:t>
            </a:r>
          </a:p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public:</a:t>
            </a:r>
          </a:p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Product();</a:t>
            </a:r>
          </a:p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Product(const string&amp; name,</a:t>
            </a:r>
          </a:p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    double price);</a:t>
            </a:r>
          </a:p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Product(const string&amp; name,</a:t>
            </a:r>
          </a:p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    double price, int quantity);</a:t>
            </a:r>
          </a:p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};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C3833-1911-4FF6-BAF3-6F6C39E7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953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2D"/>
          </a:solidFill>
          <a:ln xmlns:a="http://schemas.openxmlformats.org/drawingml/2006/main" w="9525">
            <a:solidFill>
              <a:srgbClr val="1B4057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Product first;</a:t>
            </a:r>
          </a:p>
          <a:p xmlns:a="http://schemas.openxmlformats.org/drawingml/2006/main"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Product second("Keyboard", 12000);</a:t>
            </a:r>
          </a:p>
          <a:p xmlns:a="http://schemas.openxmlformats.org/drawingml/2006/main">
            <a:pPr>
              <a:def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Product third("Mouse", 6500, 8);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8BF53-4576-426F-8C47-D1D33A9D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Տարբերակն ընտրվում է փաստարկների քանակով և տիպերով</a:t>
            </a:r>
          </a:p>
        </p:txBody>
      </p:sp>
    </p:spTree>
    <p:extLst>
      <p:ext uri="{BB962C8B-B14F-4D97-AF65-F5344CB8AC3E}">
        <p14:creationId xmlns:p14="http://schemas.microsoft.com/office/powerpoint/2010/main" val="17437569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EF200-8015-4D23-92B3-2EE246F0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09  ՕԲՅԵԿՏԱՅԻՆ ԾՐԱԳՐԱՎՈՐՈՒՄ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5FC14-CCBF-4B60-8D66-EEB27BF5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Գերբեռնված կոնստրուկտորների օրինակ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B1F34-4CB9-41E6-AB73-79C7981F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0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453E9-76AE-44BC-A9F8-CC355AC7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572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2D"/>
          </a:solidFill>
          <a:ln xmlns:a="http://schemas.openxmlformats.org/drawingml/2006/main" w="9525">
            <a:solidFill>
              <a:srgbClr val="1B4057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Product()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: name("Unknown"), price(0), quantity(0) {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Product(const string&amp; name, double price)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: name(name), price(price), quantity(0) {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Product(const string&amp; name,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double price, int quantity)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: name(name), price(price), quantity(quantity) {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27A0C-CE57-4AD8-9393-4C932E1C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3619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Առանց փաստարկի ստեղծում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Մասնակի տվյալներով ստեղծում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Բոլոր տվյալներով ստեղծում</a:t>
            </a:r>
          </a:p>
        </p:txBody>
      </p:sp>
    </p:spTree>
    <p:extLst>
      <p:ext uri="{BB962C8B-B14F-4D97-AF65-F5344CB8AC3E}">
        <p14:creationId xmlns:p14="http://schemas.microsoft.com/office/powerpoint/2010/main" val="4870332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EDFD1-BD46-48AD-B97D-DBE5C6DF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10  ՕԲՅԵԿՏԱՅԻՆ ԾՐԱԳՐԱՎՈՐՈՒՄ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BF5BA-163F-41F7-A3D0-EDD1E564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Պատվիրակող կոնստրուկտոր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EB861-70FD-4F17-AD7B-C5D08DF1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0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53B9F-0047-44E9-BD15-D23DEA4C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572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2D"/>
          </a:solidFill>
          <a:ln xmlns:a="http://schemas.openxmlformats.org/drawingml/2006/main" w="9525">
            <a:solidFill>
              <a:srgbClr val="1B4057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Product()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: Product("Unknown", 0, 0) {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Product(const string&amp; name, double price)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: Product(name, price, 0) {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Product(const string&amp; name,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double price, int quantity)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: name(name),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price(price &gt;= 0 ? price : 0),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quantity(quantity &gt;= 0 ? quantity : 0) {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AE23A-D614-402E-9EE8-DB2E31AB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3619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Մեկ կոնստրուկտորը կանչում է նույն դասի մյուս կոնստրուկտորին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Հիմնական ստուգումները գրվում են մեկ տեղում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Կրկնվող կոդը նվազում է</a:t>
            </a:r>
          </a:p>
        </p:txBody>
      </p:sp>
    </p:spTree>
    <p:extLst>
      <p:ext uri="{BB962C8B-B14F-4D97-AF65-F5344CB8AC3E}">
        <p14:creationId xmlns:p14="http://schemas.microsoft.com/office/powerpoint/2010/main" val="13476882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7978C-DEB3-4A3E-BCC1-63170410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11  ՕԲՅԵԿՏԱՅԻՆ ԾՐԱԳՐԱՎՈՐՈՒՄ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34CEE-A67C-48B8-8C5B-E5F3F3F3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Լռելյայն պարամետրերի անորոշ կանչ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E4D44-C6FB-4336-989C-21E84FC9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0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33EE4-15B9-4E01-8544-8E503D98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619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2D"/>
          </a:solidFill>
          <a:ln xmlns:a="http://schemas.openxmlformats.org/drawingml/2006/main" w="9525">
            <a:solidFill>
              <a:srgbClr val="1B4057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class Product {</a:t>
            </a:r>
          </a:p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public:</a:t>
            </a:r>
          </a:p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Product();</a:t>
            </a:r>
          </a:p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Product(string name = "Unknown",</a:t>
            </a:r>
          </a:p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    double price = 0);</a:t>
            </a:r>
          </a:p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// Product item;  // անորոշ կանչ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42684-8845-4D30-8683-F028D1B6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66875"/>
            <a:ext cx="3429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182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99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9999"/>
                </a:solidFill>
                <a:latin typeface="DejaVu Sans"/>
                <a:ea typeface="DejaVu Sans"/>
                <a:cs typeface="DejaVu Sans"/>
              </a:rPr>
              <a:t>Երկու տարբերակն էլ հարմար են առանց փաստարկի կանչին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5EA6A-6FD9-4928-B782-8C0CED1F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76625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Պետք է թողնել մեկ հստակ տարբերակ</a:t>
            </a:r>
          </a:p>
        </p:txBody>
      </p:sp>
    </p:spTree>
    <p:extLst>
      <p:ext uri="{BB962C8B-B14F-4D97-AF65-F5344CB8AC3E}">
        <p14:creationId xmlns:p14="http://schemas.microsoft.com/office/powerpoint/2010/main" val="10971266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9F6DA-D629-41D3-AF9D-88D93698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12  ՕԲՅԵԿՏԱՅԻՆ ԾՐԱԳՐԱՎՈՐՈՒՄ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31A8F-24DD-4335-A84E-3E884277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explicit մեկ պարամետրով կոնստրուկտոր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13D58-E118-4EE9-A4DB-D1E9F5D5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0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01DBF-67B0-43F1-9877-4BE99204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572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2D"/>
          </a:solidFill>
          <a:ln xmlns:a="http://schemas.openxmlformats.org/drawingml/2006/main" w="9525">
            <a:solidFill>
              <a:srgbClr val="1B4057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class Distance {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private: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double meters;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public: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explicit Distance(double meters)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: meters(meters &gt;= 0 ? meters : 0) {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Distance first(15);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Distance second{20};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// Distance third = 25;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2E2D8-203F-4ADB-8B9C-AFB66732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3619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Կանխում է անցանկալի անուղղակի փոխակերպումը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Օբյեկտը ստեղծվում է բացահայտ ձևով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Օգտակար է մեկ պարամետրով կոնստրուկտորների համար</a:t>
            </a:r>
          </a:p>
        </p:txBody>
      </p:sp>
    </p:spTree>
    <p:extLst>
      <p:ext uri="{BB962C8B-B14F-4D97-AF65-F5344CB8AC3E}">
        <p14:creationId xmlns:p14="http://schemas.microsoft.com/office/powerpoint/2010/main" val="14881386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24414-5550-4501-9ECB-44221975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13  ՕԲՅԵԿՏԱՅԻՆ ԾՐԱԳՐԱՎՈՐՈՒՄ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EE22C-5232-44BC-BAFA-5C9DFA3D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Դեստրուկտորի գաղափարը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BEFCA-C5B0-4A93-B799-A6730A08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0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12298-6D4E-43E7-A80C-61B6B30F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572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2D"/>
          </a:solidFill>
          <a:ln xmlns:a="http://schemas.openxmlformats.org/drawingml/2006/main" w="9525">
            <a:solidFill>
              <a:srgbClr val="1B4057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class Logger {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private: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string name;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public: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Logger(const string&amp; name) : name(name) {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cout &lt;&lt; "Created: " &lt;&lt; name &lt;&lt; "\n";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~Logger() {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cout &lt;&lt; "Destroyed: " &lt;&lt; name &lt;&lt; "\n";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def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};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3DA5E-7DE1-4734-ADF9-3AAAF573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3619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Անունը սկսվում է ~ նշանով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Վերադարձվող տիպ և պարամետրեր չունի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Կանչվում է օբյեկտի կյանքի ավարտին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Յուրաքանչյուր դաս ունի միայն մեկ դեստրուկտոր</a:t>
            </a:r>
          </a:p>
        </p:txBody>
      </p:sp>
    </p:spTree>
    <p:extLst>
      <p:ext uri="{BB962C8B-B14F-4D97-AF65-F5344CB8AC3E}">
        <p14:creationId xmlns:p14="http://schemas.microsoft.com/office/powerpoint/2010/main" val="20003235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6A8B0-176F-4AA9-AF63-B2CDA2E7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14  ՕԲՅԵԿՏԱՅԻՆ ԾՐԱԳՐԱՎՈՐՈՒՄ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1E9EF-F4F5-4F52-AB9D-282D0799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Ստեղծման և ոչնչացման հերթականությունը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251DA-9BA0-4562-835A-AC48068D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0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C202F-AFDB-48F5-80C9-7CBBB555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5619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2D"/>
          </a:solidFill>
          <a:ln xmlns:a="http://schemas.openxmlformats.org/drawingml/2006/main" w="9525">
            <a:solidFill>
              <a:srgbClr val="1B4057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int main() {</a:t>
            </a:r>
          </a:p>
          <a:p xmlns:a="http://schemas.openxmlformats.org/drawingml/2006/main"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Logger first("A");</a:t>
            </a:r>
          </a:p>
          <a:p xmlns:a="http://schemas.openxmlformats.org/drawingml/2006/main"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{</a:t>
            </a:r>
          </a:p>
          <a:p xmlns:a="http://schemas.openxmlformats.org/drawingml/2006/main"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Logger second("B");</a:t>
            </a:r>
          </a:p>
          <a:p xmlns:a="http://schemas.openxmlformats.org/drawingml/2006/main"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Logger third("C");</a:t>
            </a:r>
          </a:p>
          <a:p xmlns:a="http://schemas.openxmlformats.org/drawingml/2006/main"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} // նախ C, հետո B</a:t>
            </a:r>
          </a:p>
          <a:p xmlns:a="http://schemas.openxmlformats.org/drawingml/2006/main"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}     // վերջում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F1F39-3033-4D74-BF5F-150FB8F3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145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9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2DD4BF"/>
                </a:solidFill>
                <a:latin typeface="DejaVu Sans Mono"/>
                <a:ea typeface="DejaVu Sans Mono"/>
                <a:cs typeface="DejaVu Sans Mono"/>
              </a:rPr>
              <a:t>Ստեղծում՝ A, B,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DE41D-016F-4C53-93DF-FB6A29FD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43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9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6A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56A5FF"/>
                </a:solidFill>
                <a:latin typeface="DejaVu Sans Mono"/>
                <a:ea typeface="DejaVu Sans Mono"/>
                <a:cs typeface="DejaVu Sans Mono"/>
              </a:rPr>
              <a:t>Ոչնչացում՝ C, B,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0D216-322B-42C7-8094-A0D01AAD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1962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FA3B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8FA3B8"/>
                </a:solidFill>
                <a:latin typeface="DejaVu Sans"/>
                <a:ea typeface="DejaVu Sans"/>
                <a:cs typeface="DejaVu Sans"/>
              </a:rPr>
              <a:t>Բլոկի ավարտը ավարտում է տեղային օբյեկտի կյանքը</a:t>
            </a:r>
          </a:p>
        </p:txBody>
      </p:sp>
    </p:spTree>
    <p:extLst>
      <p:ext uri="{BB962C8B-B14F-4D97-AF65-F5344CB8AC3E}">
        <p14:creationId xmlns:p14="http://schemas.microsoft.com/office/powerpoint/2010/main" val="15979563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98621-E955-4F19-BB3B-57B9999D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15  ՕԲՅԵԿՏԱՅԻՆ ԾՐԱԳՐԱՎՈՐՈՒՄ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23DAC-2BF5-413B-9A65-2E6E9426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Դինամիկ օբյեկտներ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BB6F1-2818-416F-A5D8-28354183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0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9B18C-1AC9-4224-8AC9-F83562DE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61912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2D"/>
          </a:solidFill>
          <a:ln xmlns:a="http://schemas.openxmlformats.org/drawingml/2006/main" w="9525">
            <a:solidFill>
              <a:srgbClr val="1B4057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Logger* one = new Logger("Dynamic");</a:t>
            </a:r>
          </a:p>
          <a:p xmlns:a="http://schemas.openxmlformats.org/drawingml/2006/main"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delete one;</a:t>
            </a:r>
          </a:p>
          <a:p xmlns:a="http://schemas.openxmlformats.org/drawingml/2006/main"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one = nullptr;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Logger* group = new Logger[3];</a:t>
            </a:r>
          </a:p>
          <a:p xmlns:a="http://schemas.openxmlformats.org/drawingml/2006/main"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delete[] group;</a:t>
            </a:r>
          </a:p>
          <a:p xmlns:a="http://schemas.openxmlformats.org/drawingml/2006/main">
            <a:pPr>
              <a:def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group = nullptr;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DF624-575C-4ECF-98CD-430FDC02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14500"/>
            <a:ext cx="3286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9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new-ը կանչում է կոնստրուկտորը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BE0BB-6923-4CEF-9FE4-F74045FC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38500"/>
            <a:ext cx="3286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9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6A5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56A5FF"/>
                </a:solidFill>
                <a:latin typeface="DejaVu Sans"/>
                <a:ea typeface="DejaVu Sans"/>
                <a:cs typeface="DejaVu Sans"/>
              </a:rPr>
              <a:t>delete-ը կանչում է դեստրուկտորը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BA8FA-CD02-490A-BFE1-F56DA8D5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new[]-ով ստեղծված զանգվածը ազատվում է delete[]-ով</a:t>
            </a:r>
          </a:p>
        </p:txBody>
      </p:sp>
    </p:spTree>
    <p:extLst>
      <p:ext uri="{BB962C8B-B14F-4D97-AF65-F5344CB8AC3E}">
        <p14:creationId xmlns:p14="http://schemas.microsoft.com/office/powerpoint/2010/main" val="19523772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3816C-4F94-483C-B8E6-3C7B6645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16  ՕԲՅԵԿՏԱՅԻՆ ԾՐԱԳՐԱՎՈՐՈՒՄ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FA2B5-970E-4A61-A55A-F3705FC6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Ռեսուրսի կառավարումը դեստրուկտորով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6C90E-BA84-4F90-803E-699CFF2E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0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A1934-A5C5-434A-81C6-4FC82C0B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572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2D"/>
          </a:solidFill>
          <a:ln xmlns:a="http://schemas.openxmlformats.org/drawingml/2006/main" w="9525">
            <a:solidFill>
              <a:srgbClr val="1B4057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class DynamicArray {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private: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int* data;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int size;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public: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explicit DynamicArray(int size)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: data(size &gt; 0 ? new int[size]{} : nullptr),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  size(size &gt; 0 ? size : 0) {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~DynamicArray() {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delete[] data;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def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};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606DE-A61B-4252-86D3-EF549274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3619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Կոնստրուկտորը ստանում է ռեսուրսը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Դեստրուկտորը ազատում է ռեսուրսը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Պատճենումը պահանջում է առանձին կանոններ</a:t>
            </a:r>
          </a:p>
        </p:txBody>
      </p:sp>
    </p:spTree>
    <p:extLst>
      <p:ext uri="{BB962C8B-B14F-4D97-AF65-F5344CB8AC3E}">
        <p14:creationId xmlns:p14="http://schemas.microsoft.com/office/powerpoint/2010/main" val="9513535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09884-60F4-4AB0-8F3D-9093D469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17  ՕԲՅԵԿՏԱՅԻՆ ԾՐԱԳՐԱՎՈՐՈՒՄ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E89D2-C5B6-4EF2-BF71-7E3933A5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Կոնստրուկտոր մեթոդ և դեստրուկտոր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ADCFF-E2DE-4A29-A248-46110035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0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905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2809875"/>
                <a:gridCol w="3000375"/>
                <a:gridCol w="2762250"/>
              </a:tblGrid>
              <a:tr h="650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Հատկություն</a:t>
                      </a:r>
                    </a:p>
                  </a:txBody>
                  <a:tcPr marL="91440" marR="91440" marT="45720" marB="45720" anchor="ctr">
                    <a:solidFill>
                      <a:srgbClr val="1129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Կոնստրուկտոր</a:t>
                      </a:r>
                    </a:p>
                  </a:txBody>
                  <a:tcPr marL="91440" marR="91440" marT="45720" marB="45720" anchor="ctr">
                    <a:solidFill>
                      <a:srgbClr val="1129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Սովորական մեթոդ</a:t>
                      </a:r>
                    </a:p>
                  </a:txBody>
                  <a:tcPr marL="91440" marR="91440" marT="45720" marB="45720" anchor="ctr">
                    <a:solidFill>
                      <a:srgbClr val="11294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Դեստրուկտոր</a:t>
                      </a:r>
                    </a:p>
                  </a:txBody>
                  <a:tcPr marL="91440" marR="91440" marT="45720" marB="45720" anchor="ctr">
                    <a:solidFill>
                      <a:srgbClr val="112940"/>
                    </a:solidFill>
                  </a:tcPr>
                </a:tc>
              </a:tr>
              <a:tr h="650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Անուն</a:t>
                      </a:r>
                    </a:p>
                  </a:txBody>
                  <a:tcPr marL="91440" marR="91440" marT="45720" marB="45720" anchor="ctr">
                    <a:solidFill>
                      <a:srgbClr val="0611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դասի անուն</a:t>
                      </a:r>
                    </a:p>
                  </a:txBody>
                  <a:tcPr marL="91440" marR="91440" marT="45720" marB="45720" anchor="ctr">
                    <a:solidFill>
                      <a:srgbClr val="0611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ցանկացած անուն</a:t>
                      </a:r>
                    </a:p>
                  </a:txBody>
                  <a:tcPr marL="91440" marR="91440" marT="45720" marB="45720" anchor="ctr">
                    <a:solidFill>
                      <a:srgbClr val="0611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~ԴասիԱնուն</a:t>
                      </a:r>
                    </a:p>
                  </a:txBody>
                  <a:tcPr marL="91440" marR="91440" marT="45720" marB="45720" anchor="ctr">
                    <a:solidFill>
                      <a:srgbClr val="06111F"/>
                    </a:solidFill>
                  </a:tcPr>
                </a:tc>
              </a:tr>
              <a:tr h="650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Վերադարձվող տիպ</a:t>
                      </a:r>
                    </a:p>
                  </a:txBody>
                  <a:tcPr marL="91440" marR="91440" marT="45720" marB="45720" anchor="ctr">
                    <a:solidFill>
                      <a:srgbClr val="0C1D2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չունի</a:t>
                      </a:r>
                    </a:p>
                  </a:txBody>
                  <a:tcPr marL="91440" marR="91440" marT="45720" marB="45720" anchor="ctr">
                    <a:solidFill>
                      <a:srgbClr val="0C1D2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ունի կամ void</a:t>
                      </a:r>
                    </a:p>
                  </a:txBody>
                  <a:tcPr marL="91440" marR="91440" marT="45720" marB="45720" anchor="ctr">
                    <a:solidFill>
                      <a:srgbClr val="0C1D2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չունի</a:t>
                      </a:r>
                    </a:p>
                  </a:txBody>
                  <a:tcPr marL="91440" marR="91440" marT="45720" marB="45720" anchor="ctr">
                    <a:solidFill>
                      <a:srgbClr val="0C1D2D"/>
                    </a:solidFill>
                  </a:tcPr>
                </a:tc>
              </a:tr>
              <a:tr h="650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Պարամետրեր</a:t>
                      </a:r>
                    </a:p>
                  </a:txBody>
                  <a:tcPr marL="91440" marR="91440" marT="45720" marB="45720" anchor="ctr">
                    <a:solidFill>
                      <a:srgbClr val="0611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կարող է ունենալ</a:t>
                      </a:r>
                    </a:p>
                  </a:txBody>
                  <a:tcPr marL="91440" marR="91440" marT="45720" marB="45720" anchor="ctr">
                    <a:solidFill>
                      <a:srgbClr val="0611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կարող է ունենալ</a:t>
                      </a:r>
                    </a:p>
                  </a:txBody>
                  <a:tcPr marL="91440" marR="91440" marT="45720" marB="45720" anchor="ctr">
                    <a:solidFill>
                      <a:srgbClr val="0611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չունի</a:t>
                      </a:r>
                    </a:p>
                  </a:txBody>
                  <a:tcPr marL="91440" marR="91440" marT="45720" marB="45720" anchor="ctr">
                    <a:solidFill>
                      <a:srgbClr val="06111F"/>
                    </a:solidFill>
                  </a:tcPr>
                </a:tc>
              </a:tr>
              <a:tr h="650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Գերբեռնում</a:t>
                      </a:r>
                    </a:p>
                  </a:txBody>
                  <a:tcPr marL="91440" marR="91440" marT="45720" marB="45720" anchor="ctr">
                    <a:solidFill>
                      <a:srgbClr val="0C1D2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կարելի է</a:t>
                      </a:r>
                    </a:p>
                  </a:txBody>
                  <a:tcPr marL="91440" marR="91440" marT="45720" marB="45720" anchor="ctr">
                    <a:solidFill>
                      <a:srgbClr val="0C1D2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կարելի է</a:t>
                      </a:r>
                    </a:p>
                  </a:txBody>
                  <a:tcPr marL="91440" marR="91440" marT="45720" marB="45720" anchor="ctr">
                    <a:solidFill>
                      <a:srgbClr val="0C1D2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չի կարելի</a:t>
                      </a:r>
                    </a:p>
                  </a:txBody>
                  <a:tcPr marL="91440" marR="91440" marT="45720" marB="45720" anchor="ctr">
                    <a:solidFill>
                      <a:srgbClr val="0C1D2D"/>
                    </a:solidFill>
                  </a:tcPr>
                </a:tc>
              </a:tr>
              <a:tr h="650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Կանչ</a:t>
                      </a:r>
                    </a:p>
                  </a:txBody>
                  <a:tcPr marL="91440" marR="91440" marT="45720" marB="45720" anchor="ctr">
                    <a:solidFill>
                      <a:srgbClr val="0611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ստեղծման պահին</a:t>
                      </a:r>
                    </a:p>
                  </a:txBody>
                  <a:tcPr marL="91440" marR="91440" marT="45720" marB="45720" anchor="ctr">
                    <a:solidFill>
                      <a:srgbClr val="0611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ծրագրի կանչով</a:t>
                      </a:r>
                    </a:p>
                  </a:txBody>
                  <a:tcPr marL="91440" marR="91440" marT="45720" marB="45720" anchor="ctr">
                    <a:solidFill>
                      <a:srgbClr val="0611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 b="0">
                          <a:solidFill>
                            <a:srgbClr val="DCE7F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կյանքի ավարտին</a:t>
                      </a:r>
                    </a:p>
                  </a:txBody>
                  <a:tcPr marL="91440" marR="91440" marT="45720" marB="45720" anchor="ctr">
                    <a:solidFill>
                      <a:srgbClr val="06111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46047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0801E-DC4E-4C52-94EF-81504B2A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18  ՕԲՅԵԿՏԱՅԻՆ ԾՐԱԳՐԱՎՈՐՈՒՄ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60BEC-CFC6-45B4-BD00-43D3B9C3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Ամբողջական Course դասը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99F47-A2B6-4EC9-BFBA-ADA7132A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0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A66F6-5015-4B63-B676-CE40521B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43000"/>
            <a:ext cx="59055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2D"/>
          </a:solidFill>
          <a:ln xmlns:a="http://schemas.openxmlformats.org/drawingml/2006/main" w="9525">
            <a:solidFill>
              <a:srgbClr val="1B4057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class Course {</a:t>
            </a:r>
          </a:p>
          <a:p xmlns:a="http://schemas.openxmlformats.org/drawingml/2006/main">
            <a:pPr>
              <a:def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private:</a:t>
            </a:r>
          </a:p>
          <a:p xmlns:a="http://schemas.openxmlformats.org/drawingml/2006/main">
            <a:pPr>
              <a:def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string title;</a:t>
            </a:r>
          </a:p>
          <a:p xmlns:a="http://schemas.openxmlformats.org/drawingml/2006/main">
            <a:pPr>
              <a:def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int capacity;</a:t>
            </a:r>
          </a:p>
          <a:p xmlns:a="http://schemas.openxmlformats.org/drawingml/2006/main">
            <a:pPr>
              <a:def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int enrolled;</a:t>
            </a:r>
          </a:p>
          <a:p xmlns:a="http://schemas.openxmlformats.org/drawingml/2006/main">
            <a:pPr>
              <a:def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public:</a:t>
            </a:r>
          </a:p>
          <a:p xmlns:a="http://schemas.openxmlformats.org/drawingml/2006/main">
            <a:pPr>
              <a:def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Course() : Course("Untitled", 20) {}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Course(const string&amp; title, int capacity)</a:t>
            </a:r>
          </a:p>
          <a:p xmlns:a="http://schemas.openxmlformats.org/drawingml/2006/main">
            <a:pPr>
              <a:def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: title(title.empty() ? "Untitled" : title),</a:t>
            </a:r>
          </a:p>
          <a:p xmlns:a="http://schemas.openxmlformats.org/drawingml/2006/main">
            <a:pPr>
              <a:def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  capacity(capacity &gt; 0 ? capacity : 20),</a:t>
            </a:r>
          </a:p>
          <a:p xmlns:a="http://schemas.openxmlformats.org/drawingml/2006/main">
            <a:pPr>
              <a:def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  enrolled(0) {</a:t>
            </a:r>
          </a:p>
          <a:p xmlns:a="http://schemas.openxmlformats.org/drawingml/2006/main">
            <a:pPr>
              <a:def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Course(const string&amp; title, int capacity,</a:t>
            </a:r>
          </a:p>
          <a:p xmlns:a="http://schemas.openxmlformats.org/drawingml/2006/main">
            <a:pPr>
              <a:def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   int enrolled)</a:t>
            </a:r>
          </a:p>
          <a:p xmlns:a="http://schemas.openxmlformats.org/drawingml/2006/main">
            <a:pPr>
              <a:def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: Course(title, capacity) {</a:t>
            </a:r>
          </a:p>
          <a:p xmlns:a="http://schemas.openxmlformats.org/drawingml/2006/main">
            <a:pPr>
              <a:def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if (enrolled &gt;= 0 &amp;&amp; enrolled &lt;= this-&gt;capacity)</a:t>
            </a:r>
          </a:p>
          <a:p xmlns:a="http://schemas.openxmlformats.org/drawingml/2006/main">
            <a:pPr>
              <a:def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    this-&gt;enrolled = enrolled;</a:t>
            </a:r>
          </a:p>
          <a:p xmlns:a="http://schemas.openxmlformats.org/drawingml/2006/main">
            <a:pPr>
              <a:def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96D30-8F04-4F21-8DA9-2C33A6F8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43000"/>
            <a:ext cx="5191125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D2D"/>
          </a:solidFill>
          <a:ln xmlns:a="http://schemas.openxmlformats.org/drawingml/2006/main" w="9525">
            <a:solidFill>
              <a:srgbClr val="1B4057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bool enroll() {</a:t>
            </a:r>
          </a:p>
          <a:p xmlns:a="http://schemas.openxmlformats.org/drawingml/2006/main">
            <a:pPr>
              <a:def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if (enrolled &gt;= capacity) return false;</a:t>
            </a:r>
          </a:p>
          <a:p xmlns:a="http://schemas.openxmlformats.org/drawingml/2006/main">
            <a:pPr>
              <a:def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enrolled++;</a:t>
            </a:r>
          </a:p>
          <a:p xmlns:a="http://schemas.openxmlformats.org/drawingml/2006/main">
            <a:pPr>
              <a:def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return true;</a:t>
            </a:r>
          </a:p>
          <a:p xmlns:a="http://schemas.openxmlformats.org/drawingml/2006/main">
            <a:pPr>
              <a:def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int freePlaces() const {</a:t>
            </a:r>
          </a:p>
          <a:p xmlns:a="http://schemas.openxmlformats.org/drawingml/2006/main">
            <a:pPr>
              <a:def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return capacity - enrolled;</a:t>
            </a:r>
          </a:p>
          <a:p xmlns:a="http://schemas.openxmlformats.org/drawingml/2006/main">
            <a:pPr>
              <a:def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~Course() {</a:t>
            </a:r>
          </a:p>
          <a:p xmlns:a="http://schemas.openxmlformats.org/drawingml/2006/main">
            <a:pPr>
              <a:def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cout &lt;&lt; "Destroyed: "</a:t>
            </a:r>
          </a:p>
          <a:p xmlns:a="http://schemas.openxmlformats.org/drawingml/2006/main">
            <a:pPr>
              <a:def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         &lt;&lt; title &lt;&lt; "\n";</a:t>
            </a:r>
          </a:p>
          <a:p xmlns:a="http://schemas.openxmlformats.org/drawingml/2006/main">
            <a:pPr>
              <a:def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def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D5F3EF"/>
                </a:solidFill>
                <a:latin typeface="DejaVu Sans Mono"/>
                <a:ea typeface="DejaVu Sans Mono"/>
                <a:cs typeface="DejaVu Sans Mono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8732562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BDB3B-09F8-4FF4-BD04-536A5566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D4BF"/>
                </a:solidFill>
                <a:latin typeface="DejaVu Sans"/>
                <a:ea typeface="DejaVu Sans"/>
                <a:cs typeface="DejaVu Sans"/>
              </a:rPr>
              <a:t>19  ՕԲՅԵԿՏԱՅԻՆ ԾՐԱԳՐԱՎՈՐՈՒՄ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8F1C7-F8A7-4FD1-AC20-C8D6CC85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E8F1FA"/>
                </a:solidFill>
                <a:latin typeface="DejaVu Sans"/>
                <a:ea typeface="DejaVu Sans"/>
                <a:cs typeface="DejaVu Sans"/>
              </a:rPr>
              <a:t>Ամփոփում և ստուգիչ հարցեր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B0913-BC8B-4474-A0DF-01630B54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0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79921-3D67-49EC-9C77-C44B9806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102870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Ի՞նչ պահին է կանչվում կոնստրուկտորը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Ո՞ր կոնստրուկտորն է համարվում լռելյայն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Ինչո՞ւ է կիրառվում սկզբնարժեքավորման ցուցակը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Ի՞նչ պայմանով են կոնստրուկտորները գերբեռնվում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Ի՞նչ է պատվիրակող կոնստրուկտորը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Ի՞նչ պահին է կանչվում դեստրուկտորը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CE7F2"/>
                </a:solidFill>
                <a:latin typeface="DejaVu Sans"/>
                <a:ea typeface="DejaVu Sans"/>
                <a:cs typeface="DejaVu Sans"/>
              </a:rPr>
              <a:t>Ինչո՞ւ դեստրուկտորը չի գերբեռնվում</a:t>
            </a:r>
          </a:p>
        </p:txBody>
      </p:sp>
    </p:spTree>
    <p:extLst>
      <p:ext uri="{BB962C8B-B14F-4D97-AF65-F5344CB8AC3E}">
        <p14:creationId xmlns:p14="http://schemas.microsoft.com/office/powerpoint/2010/main" val="185352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2026-09-12T10:41:28.8290000Z</dcterms:created>
  <dcterms:modified xsi:type="dcterms:W3CDTF">2026-09-12T10:41:28.8290000Z</dcterms:modified>
</coreProperties>
</file>