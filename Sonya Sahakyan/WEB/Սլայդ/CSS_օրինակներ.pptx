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8822473a0e48a1" /><Relationship Type="http://schemas.openxmlformats.org/officeDocument/2006/relationships/extended-properties" Target="/docProps/app.xml" Id="R7fa694a774c04630" /><Relationship Type="http://schemas.openxmlformats.org/officeDocument/2006/relationships/officeDocument" Target="/ppt/presentation.xml" Id="R29236b1c4a114899" /></Relationships>
</file>

<file path=ppt/presentation.xml><?xml version="1.0" encoding="utf-8"?>
<p:presentation xmlns:p="http://schemas.openxmlformats.org/presentationml/2006/main">
  <p:sldMasterIdLst>
    <p:sldMasterId xmlns:r="http://schemas.openxmlformats.org/officeDocument/2006/relationships" id="2147483648" r:id="Ra627de2634284567"/>
  </p:sldMasterIdLst>
  <p:notesMasterIdLst>
    <p:notesMasterId xmlns:r="http://schemas.openxmlformats.org/officeDocument/2006/relationships" r:id="R02fb892e9d264508"/>
  </p:notesMasterIdLst>
  <p:sldIdLst>
    <p:sldId xmlns:r="http://schemas.openxmlformats.org/officeDocument/2006/relationships" id="256" r:id="Ra7bf8ff3695f4d24"/>
    <p:sldId xmlns:r="http://schemas.openxmlformats.org/officeDocument/2006/relationships" id="257" r:id="R8aa2e8234c9841c3"/>
    <p:sldId xmlns:r="http://schemas.openxmlformats.org/officeDocument/2006/relationships" id="258" r:id="R630ecc5270784660"/>
    <p:sldId xmlns:r="http://schemas.openxmlformats.org/officeDocument/2006/relationships" id="259" r:id="R3200beae054145fe"/>
    <p:sldId xmlns:r="http://schemas.openxmlformats.org/officeDocument/2006/relationships" id="260" r:id="R3375f00e711e4a30"/>
    <p:sldId xmlns:r="http://schemas.openxmlformats.org/officeDocument/2006/relationships" id="261" r:id="Rc1d58e40ac494959"/>
    <p:sldId xmlns:r="http://schemas.openxmlformats.org/officeDocument/2006/relationships" id="262" r:id="R4753e1ad9fc74699"/>
    <p:sldId xmlns:r="http://schemas.openxmlformats.org/officeDocument/2006/relationships" id="263" r:id="R86b27ab4b06b47c3"/>
    <p:sldId xmlns:r="http://schemas.openxmlformats.org/officeDocument/2006/relationships" id="264" r:id="Rf4ca75544b384aae"/>
    <p:sldId xmlns:r="http://schemas.openxmlformats.org/officeDocument/2006/relationships" id="265" r:id="Re106a44b6fb54f3a"/>
    <p:sldId xmlns:r="http://schemas.openxmlformats.org/officeDocument/2006/relationships" id="266" r:id="R1f8d01767f3144ef"/>
    <p:sldId xmlns:r="http://schemas.openxmlformats.org/officeDocument/2006/relationships" id="267" r:id="Rb4b9c01fb0434390"/>
    <p:sldId xmlns:r="http://schemas.openxmlformats.org/officeDocument/2006/relationships" id="268" r:id="R7ef732ef0a91456e"/>
    <p:sldId xmlns:r="http://schemas.openxmlformats.org/officeDocument/2006/relationships" id="269" r:id="R64252f729d894df9"/>
    <p:sldId xmlns:r="http://schemas.openxmlformats.org/officeDocument/2006/relationships" id="270" r:id="R7afd2311c6a44b28"/>
    <p:sldId xmlns:r="http://schemas.openxmlformats.org/officeDocument/2006/relationships" id="271" r:id="Rc66f28329cc04a0d"/>
    <p:sldId xmlns:r="http://schemas.openxmlformats.org/officeDocument/2006/relationships" id="272" r:id="Re2b67b3a032245d1"/>
    <p:sldId xmlns:r="http://schemas.openxmlformats.org/officeDocument/2006/relationships" id="273" r:id="R6e8fea86b3fa4757"/>
    <p:sldId xmlns:r="http://schemas.openxmlformats.org/officeDocument/2006/relationships" id="274" r:id="Reb7bfc10825a4f36"/>
    <p:sldId xmlns:r="http://schemas.openxmlformats.org/officeDocument/2006/relationships" id="275" r:id="Rcd007bbfce3e4392"/>
    <p:sldId xmlns:r="http://schemas.openxmlformats.org/officeDocument/2006/relationships" id="276" r:id="Rdffebe0be2964dae"/>
    <p:sldId xmlns:r="http://schemas.openxmlformats.org/officeDocument/2006/relationships" id="277" r:id="Rd0e7d39a910f41d5"/>
    <p:sldId xmlns:r="http://schemas.openxmlformats.org/officeDocument/2006/relationships" id="278" r:id="R50de3d7959894d82"/>
    <p:sldId xmlns:r="http://schemas.openxmlformats.org/officeDocument/2006/relationships" id="279" r:id="R83bc1714f9584345"/>
    <p:sldId xmlns:r="http://schemas.openxmlformats.org/officeDocument/2006/relationships" id="280" r:id="Rc35d7a8b2d8b40ad"/>
    <p:sldId xmlns:r="http://schemas.openxmlformats.org/officeDocument/2006/relationships" id="281" r:id="R7822ada969504713"/>
    <p:sldId xmlns:r="http://schemas.openxmlformats.org/officeDocument/2006/relationships" id="282" r:id="R5b853b1761e64037"/>
    <p:sldId xmlns:r="http://schemas.openxmlformats.org/officeDocument/2006/relationships" id="283" r:id="Rab8e6ecc66e345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385b9550d84973" /><Relationship Type="http://schemas.openxmlformats.org/officeDocument/2006/relationships/slideMaster" Target="/ppt/slideMasters/slideMaster1.xml" Id="Ra627de2634284567" /><Relationship Type="http://schemas.openxmlformats.org/officeDocument/2006/relationships/notesMaster" Target="/ppt/notesMasters/notesMaster1.xml" Id="R02fb892e9d264508" /><Relationship Type="http://schemas.openxmlformats.org/officeDocument/2006/relationships/presProps" Target="/ppt/presProps.xml" Id="R9282d6a6976f4b7e" /><Relationship Type="http://schemas.openxmlformats.org/officeDocument/2006/relationships/tableStyles" Target="/ppt/tableStyles.xml" Id="R620056d890a746a4" /><Relationship Type="http://schemas.openxmlformats.org/officeDocument/2006/relationships/slide" Target="/ppt/slides/slide1.xml" Id="Ra7bf8ff3695f4d24" /><Relationship Type="http://schemas.openxmlformats.org/officeDocument/2006/relationships/slide" Target="/ppt/slides/slide2.xml" Id="R8aa2e8234c9841c3" /><Relationship Type="http://schemas.openxmlformats.org/officeDocument/2006/relationships/slide" Target="/ppt/slides/slide3.xml" Id="R630ecc5270784660" /><Relationship Type="http://schemas.openxmlformats.org/officeDocument/2006/relationships/slide" Target="/ppt/slides/slide4.xml" Id="R3200beae054145fe" /><Relationship Type="http://schemas.openxmlformats.org/officeDocument/2006/relationships/slide" Target="/ppt/slides/slide5.xml" Id="R3375f00e711e4a30" /><Relationship Type="http://schemas.openxmlformats.org/officeDocument/2006/relationships/slide" Target="/ppt/slides/slide6.xml" Id="Rc1d58e40ac494959" /><Relationship Type="http://schemas.openxmlformats.org/officeDocument/2006/relationships/slide" Target="/ppt/slides/slide7.xml" Id="R4753e1ad9fc74699" /><Relationship Type="http://schemas.openxmlformats.org/officeDocument/2006/relationships/slide" Target="/ppt/slides/slide8.xml" Id="R86b27ab4b06b47c3" /><Relationship Type="http://schemas.openxmlformats.org/officeDocument/2006/relationships/slide" Target="/ppt/slides/slide9.xml" Id="Rf4ca75544b384aae" /><Relationship Type="http://schemas.openxmlformats.org/officeDocument/2006/relationships/slide" Target="/ppt/slides/slide10.xml" Id="Re106a44b6fb54f3a" /><Relationship Type="http://schemas.openxmlformats.org/officeDocument/2006/relationships/slide" Target="/ppt/slides/slide11.xml" Id="R1f8d01767f3144ef" /><Relationship Type="http://schemas.openxmlformats.org/officeDocument/2006/relationships/slide" Target="/ppt/slides/slide12.xml" Id="Rb4b9c01fb0434390" /><Relationship Type="http://schemas.openxmlformats.org/officeDocument/2006/relationships/slide" Target="/ppt/slides/slide13.xml" Id="R7ef732ef0a91456e" /><Relationship Type="http://schemas.openxmlformats.org/officeDocument/2006/relationships/slide" Target="/ppt/slides/slide14.xml" Id="R64252f729d894df9" /><Relationship Type="http://schemas.openxmlformats.org/officeDocument/2006/relationships/slide" Target="/ppt/slides/slide15.xml" Id="R7afd2311c6a44b28" /><Relationship Type="http://schemas.openxmlformats.org/officeDocument/2006/relationships/slide" Target="/ppt/slides/slide16.xml" Id="Rc66f28329cc04a0d" /><Relationship Type="http://schemas.openxmlformats.org/officeDocument/2006/relationships/slide" Target="/ppt/slides/slide17.xml" Id="Re2b67b3a032245d1" /><Relationship Type="http://schemas.openxmlformats.org/officeDocument/2006/relationships/slide" Target="/ppt/slides/slide18.xml" Id="R6e8fea86b3fa4757" /><Relationship Type="http://schemas.openxmlformats.org/officeDocument/2006/relationships/slide" Target="/ppt/slides/slide19.xml" Id="Reb7bfc10825a4f36" /><Relationship Type="http://schemas.openxmlformats.org/officeDocument/2006/relationships/slide" Target="/ppt/slides/slide20.xml" Id="Rcd007bbfce3e4392" /><Relationship Type="http://schemas.openxmlformats.org/officeDocument/2006/relationships/slide" Target="/ppt/slides/slide21.xml" Id="Rdffebe0be2964dae" /><Relationship Type="http://schemas.openxmlformats.org/officeDocument/2006/relationships/slide" Target="/ppt/slides/slide22.xml" Id="Rd0e7d39a910f41d5" /><Relationship Type="http://schemas.openxmlformats.org/officeDocument/2006/relationships/slide" Target="/ppt/slides/slide23.xml" Id="R50de3d7959894d82" /><Relationship Type="http://schemas.openxmlformats.org/officeDocument/2006/relationships/slide" Target="/ppt/slides/slide24.xml" Id="R83bc1714f9584345" /><Relationship Type="http://schemas.openxmlformats.org/officeDocument/2006/relationships/slide" Target="/ppt/slides/slide25.xml" Id="Rc35d7a8b2d8b40ad" /><Relationship Type="http://schemas.openxmlformats.org/officeDocument/2006/relationships/slide" Target="/ppt/slides/slide26.xml" Id="R7822ada969504713" /><Relationship Type="http://schemas.openxmlformats.org/officeDocument/2006/relationships/slide" Target="/ppt/slides/slide27.xml" Id="R5b853b1761e64037" /><Relationship Type="http://schemas.openxmlformats.org/officeDocument/2006/relationships/slide" Target="/ppt/slides/slide28.xml" Id="Rab8e6ecc66e345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09ce5086f343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DejaVu Sans"/>
        <a:cs typeface="DejaVu Sans"/>
      </a:majorFont>
      <a:minorFont>
        <a:latin typeface="DejaVu Sans"/>
        <a:ea typeface="DejaVu Sans"/>
        <a:cs typeface="DejaVu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670f0643c94293" /><Relationship Type="http://schemas.openxmlformats.org/officeDocument/2006/relationships/notesMaster" Target="/ppt/notesMasters/notesMaster1.xml" Id="Rfaed14ff8dae4d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f9b3a437704533" /><Relationship Type="http://schemas.openxmlformats.org/officeDocument/2006/relationships/notesMaster" Target="/ppt/notesMasters/notesMaster1.xml" Id="Rf82d6bbd588946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fdfc1389ed4097" /><Relationship Type="http://schemas.openxmlformats.org/officeDocument/2006/relationships/notesMaster" Target="/ppt/notesMasters/notesMaster1.xml" Id="R06699109309b4a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36059bd3244f1e" /><Relationship Type="http://schemas.openxmlformats.org/officeDocument/2006/relationships/notesMaster" Target="/ppt/notesMasters/notesMaster1.xml" Id="R1d7a9ba661c144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137a32256c4c53" /><Relationship Type="http://schemas.openxmlformats.org/officeDocument/2006/relationships/notesMaster" Target="/ppt/notesMasters/notesMaster1.xml" Id="R5697509158be4b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2f5b5e3e194b79" /><Relationship Type="http://schemas.openxmlformats.org/officeDocument/2006/relationships/notesMaster" Target="/ppt/notesMasters/notesMaster1.xml" Id="R34bc5b5d7d6d4c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206774fd4b4e7f" /><Relationship Type="http://schemas.openxmlformats.org/officeDocument/2006/relationships/notesMaster" Target="/ppt/notesMasters/notesMaster1.xml" Id="Rf5a064fc3b6d4a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9269b4fe524760" /><Relationship Type="http://schemas.openxmlformats.org/officeDocument/2006/relationships/notesMaster" Target="/ppt/notesMasters/notesMaster1.xml" Id="R0919b8f7497742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f0e5957d4b47ba" /><Relationship Type="http://schemas.openxmlformats.org/officeDocument/2006/relationships/notesMaster" Target="/ppt/notesMasters/notesMaster1.xml" Id="R74a8894937ad47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9f3cb49e9242c8" /><Relationship Type="http://schemas.openxmlformats.org/officeDocument/2006/relationships/notesMaster" Target="/ppt/notesMasters/notesMaster1.xml" Id="Rb630c19d079143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219ad88be2408d" /><Relationship Type="http://schemas.openxmlformats.org/officeDocument/2006/relationships/notesMaster" Target="/ppt/notesMasters/notesMaster1.xml" Id="Rbcdfb8934a7f45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d7aa4783014ee4" /><Relationship Type="http://schemas.openxmlformats.org/officeDocument/2006/relationships/notesMaster" Target="/ppt/notesMasters/notesMaster1.xml" Id="Rf5a2e17569474b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7ac6805c35415f" /><Relationship Type="http://schemas.openxmlformats.org/officeDocument/2006/relationships/notesMaster" Target="/ppt/notesMasters/notesMaster1.xml" Id="Re50fc0247a294e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4d5ea29407454c" /><Relationship Type="http://schemas.openxmlformats.org/officeDocument/2006/relationships/notesMaster" Target="/ppt/notesMasters/notesMaster1.xml" Id="Rb3a06a60b5064a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94c81c46534025" /><Relationship Type="http://schemas.openxmlformats.org/officeDocument/2006/relationships/notesMaster" Target="/ppt/notesMasters/notesMaster1.xml" Id="Rda2f5681cdf940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a1904372174b4b" /><Relationship Type="http://schemas.openxmlformats.org/officeDocument/2006/relationships/notesMaster" Target="/ppt/notesMasters/notesMaster1.xml" Id="Rdd1252b5c9a94c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343a57fc354986" /><Relationship Type="http://schemas.openxmlformats.org/officeDocument/2006/relationships/notesMaster" Target="/ppt/notesMasters/notesMaster1.xml" Id="Rf13ad1933cc04b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8bd0a570f54d6e" /><Relationship Type="http://schemas.openxmlformats.org/officeDocument/2006/relationships/notesMaster" Target="/ppt/notesMasters/notesMaster1.xml" Id="R5e8bd34aadc548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18163ab5e34421" /><Relationship Type="http://schemas.openxmlformats.org/officeDocument/2006/relationships/notesMaster" Target="/ppt/notesMasters/notesMaster1.xml" Id="R4781fdf8735a49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c6e0e9f89a40a2" /><Relationship Type="http://schemas.openxmlformats.org/officeDocument/2006/relationships/notesMaster" Target="/ppt/notesMasters/notesMaster1.xml" Id="Rf1b063a6854b40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45b93688d344297" /><Relationship Type="http://schemas.openxmlformats.org/officeDocument/2006/relationships/notesMaster" Target="/ppt/notesMasters/notesMaster1.xml" Id="R89f9245b9dd04f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1cc4ad4e53425b" /><Relationship Type="http://schemas.openxmlformats.org/officeDocument/2006/relationships/notesMaster" Target="/ppt/notesMasters/notesMaster1.xml" Id="R155d90b9e31f405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0653b9e64d48dc" /><Relationship Type="http://schemas.openxmlformats.org/officeDocument/2006/relationships/notesMaster" Target="/ppt/notesMasters/notesMaster1.xml" Id="R8fbf75eac21c46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55f9c62ba44ec9" /><Relationship Type="http://schemas.openxmlformats.org/officeDocument/2006/relationships/notesMaster" Target="/ppt/notesMasters/notesMaster1.xml" Id="Rb7944c7394ec433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e180037abf4537" /><Relationship Type="http://schemas.openxmlformats.org/officeDocument/2006/relationships/notesMaster" Target="/ppt/notesMasters/notesMaster1.xml" Id="R40c30af1ad14438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f71c6196f9b4ad5" /><Relationship Type="http://schemas.openxmlformats.org/officeDocument/2006/relationships/notesMaster" Target="/ppt/notesMasters/notesMaster1.xml" Id="R6c4bc207018f48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398e1a12b954dd9" /><Relationship Type="http://schemas.openxmlformats.org/officeDocument/2006/relationships/notesMaster" Target="/ppt/notesMasters/notesMaster1.xml" Id="Red15fe71a2a346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e1beca51f14e2f" /><Relationship Type="http://schemas.openxmlformats.org/officeDocument/2006/relationships/notesMaster" Target="/ppt/notesMasters/notesMaster1.xml" Id="R3b4151a1a6e34c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CSS նշանակում է Cascading Style Sheets։ HTML-ը նկարագրում է էջի կառուցվածքն ու բովանդակությունը, իսկ CSS-ը սահմանում է գույնը, չափերը և դասավորությունը։ Կանոնը սկսվում է ընտրիչով։ Ձևավոր փակագծերում գրվում են հատկություն և արժեք զույգեր։ Հատկությունից հետո դրվում է երկկետ, հայտարարության վերջում՝ կետ ստորակետ։ Սխալ հայտարարությունը բրաուզերը սովորաբար անտեսում է։</a:t>
            </a:r>
          </a:p>
          <a:p xmlns:a="http://schemas.openxmlformats.org/drawingml/2006/main">
            <a:r>
              <a:t/>
            </a:r>
          </a:p>
          <a:p xmlns:a="http://schemas.openxmlformats.org/drawingml/2006/main">
            <a:r>
              <a:t>HTML օրինակ</a:t>
            </a:r>
          </a:p>
          <a:p xmlns:a="http://schemas.openxmlformats.org/drawingml/2006/main">
            <a:r>
              <a:t>&lt;h2&gt;Իմ ուսումնական էջը&lt;/h2&gt;&lt;p&gt;Վերնագիրը ստացել է գույն և չափ։&lt;/p&gt;</a:t>
            </a:r>
          </a:p>
          <a:p xmlns:a="http://schemas.openxmlformats.org/drawingml/2006/main">
            <a:r>
              <a:t/>
            </a:r>
          </a:p>
          <a:p xmlns:a="http://schemas.openxmlformats.org/drawingml/2006/main">
            <a:r>
              <a:t>Առաջադրանք</a:t>
            </a:r>
          </a:p>
          <a:p xmlns:a="http://schemas.openxmlformats.org/drawingml/2006/main">
            <a:r>
              <a:t>Փոխել վերնագրի գույնն ու չափը։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Արտաքին CSS ֆայլը միացնում ենք head բաժնի link տարրով։ Ներքին CSS-ը գրում ենք style տարրի մեջ, իսկ ներկառուցված ոճը՝ HTML տարրի style հատկանիշում։ Միացման եղանակն ինքնին բոլոր դեպքերում չի որոշում հաղթող ոճը։ Կարևոր են կասկադի պայմանները։ Նախագծում ընդհանուր ոճերը պահում ենք styles.css-ում։ Ֆայլի ուղին հաշվվում է HTML ֆայլի նկատմամբ։</a:t>
            </a:r>
          </a:p>
          <a:p xmlns:a="http://schemas.openxmlformats.org/drawingml/2006/main">
            <a:r>
              <a:t/>
            </a:r>
          </a:p>
          <a:p xmlns:a="http://schemas.openxmlformats.org/drawingml/2006/main">
            <a:r>
              <a:t>HTML օրինակ</a:t>
            </a:r>
          </a:p>
          <a:p xmlns:a="http://schemas.openxmlformats.org/drawingml/2006/main">
            <a:r>
              <a:t>&lt;p style="color:orange"&gt;Բարև&lt;/p&gt;</a:t>
            </a:r>
          </a:p>
          <a:p xmlns:a="http://schemas.openxmlformats.org/drawingml/2006/main">
            <a:r>
              <a:t/>
            </a:r>
          </a:p>
          <a:p xmlns:a="http://schemas.openxmlformats.org/drawingml/2006/main">
            <a:r>
              <a:t>Առաջադրանք</a:t>
            </a:r>
          </a:p>
          <a:p xmlns:a="http://schemas.openxmlformats.org/drawingml/2006/main">
            <a:r>
              <a:t>Ստեղծել styles.css և միացնել այն index.html-ին։</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Տարրի ընտրիչը ընտրում է այդ տեսակի բոլոր տարրերը։ Կետով սկսվող ընտրիչը ընտրում է class-ը, իսկ # նշանովը՝ id-ն։ Նույն class-ը կարող ենք տալ բազմաթիվ տարրերի, իսկ id-ն փաստաթղթում պետք է եզակի լինի։ Քառակուսի փակագծերով ընտրում ենք հատկանիշ ունեցող կամ որոշակի արժեքով տարրերը։ Աստղանիշը համընդհանուր ընտրիչն է։</a:t>
            </a:r>
          </a:p>
          <a:p xmlns:a="http://schemas.openxmlformats.org/drawingml/2006/main">
            <a:r>
              <a:t/>
            </a:r>
          </a:p>
          <a:p xmlns:a="http://schemas.openxmlformats.org/drawingml/2006/main">
            <a:r>
              <a:t>HTML օրինակ</a:t>
            </a:r>
          </a:p>
          <a:p xmlns:a="http://schemas.openxmlformats.org/drawingml/2006/main">
            <a:r>
              <a:t>&lt;h2 id="main-title"&gt;Ուսանող&lt;/h2&gt;&lt;p class="note"&gt;Կարևոր նշում&lt;/p&gt;&lt;input type="email" placeholder="Email"&gt;</a:t>
            </a:r>
          </a:p>
          <a:p xmlns:a="http://schemas.openxmlformats.org/drawingml/2006/main">
            <a:r>
              <a:t/>
            </a:r>
          </a:p>
          <a:p xmlns:a="http://schemas.openxmlformats.org/drawingml/2006/main">
            <a:r>
              <a:t>Առաջադրանք</a:t>
            </a:r>
          </a:p>
          <a:p xmlns:a="http://schemas.openxmlformats.org/drawingml/2006/main">
            <a:r>
              <a:t>Ոճավորել երեք պարբերություն ընդհանուր class-ով։</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Բացատով ընտրիչը ընտրում է բոլոր համապատասխան ժառանգներին, իսկ &gt; նշանը՝ միայն անմիջական զավակներին։ + նշանը ընտրում է հաջորդ հարակից տարրը, իսկ ~ նշանը՝ նույն ծնողի հետագա համապատասխան հարևաններին։ Ստորակետով միավորում ենք անկախ ընտրիչները։ Այս կապերը որոշում են ընտրվող տարրերը, բայց ինքնուրույն առաջնահերթության միավոր չեն ավելացնում։</a:t>
            </a:r>
          </a:p>
          <a:p xmlns:a="http://schemas.openxmlformats.org/drawingml/2006/main">
            <a:r>
              <a:t/>
            </a:r>
          </a:p>
          <a:p xmlns:a="http://schemas.openxmlformats.org/drawingml/2006/main">
            <a:r>
              <a:t>HTML օրինակ</a:t>
            </a:r>
          </a:p>
          <a:p xmlns:a="http://schemas.openxmlformats.org/drawingml/2006/main">
            <a:r>
              <a:t>&lt;nav class="menu"&gt;&lt;a href="#"&gt;Ուղիղ հղում&lt;/a&gt;&lt;div&gt;&lt;a href="#"&gt;Ներդրված հղում&lt;/a&gt;&lt;/div&gt;&lt;/nav&gt;&lt;h2&gt;Թեմա&lt;/h2&gt;&lt;p&gt;Առաջին պարբերություն&lt;/p&gt;</a:t>
            </a:r>
          </a:p>
          <a:p xmlns:a="http://schemas.openxmlformats.org/drawingml/2006/main">
            <a:r>
              <a:t/>
            </a:r>
          </a:p>
          <a:p xmlns:a="http://schemas.openxmlformats.org/drawingml/2006/main">
            <a:r>
              <a:t>Առաջադրանք</a:t>
            </a:r>
          </a:p>
          <a:p xmlns:a="http://schemas.openxmlformats.org/drawingml/2006/main">
            <a:r>
              <a:t>Համեմատել .menu a և .menu &gt; a ընտրիչների արդյունքները։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Կասկադը համեմատում է կիրառելի հայտարարությունները։ Ընդհանուր հերթականությամբ կարևոր են ծագումն ու կարևորությունը, շերտերը, ընտրիչի կշիռը, համապատասխան դեպքերում scope-ի մոտիկությունը և աղբյուրում հերթականությունը։ Մեր սովորական, նույն շերտի հեղինակային օրինակներում համեմատում ենք կշիռը, իսկ հավասարության դեպքում հաղթում է ավելի ուշ գրված կանոնը։ !important-ը փոխում է կարևորության մակարդակը, ուստի այն չպետք է դարձնել սովորական լուծում։</a:t>
            </a:r>
          </a:p>
          <a:p xmlns:a="http://schemas.openxmlformats.org/drawingml/2006/main">
            <a:r>
              <a:t/>
            </a:r>
          </a:p>
          <a:p xmlns:a="http://schemas.openxmlformats.org/drawingml/2006/main">
            <a:r>
              <a:t>HTML օրինակ</a:t>
            </a:r>
          </a:p>
          <a:p xmlns:a="http://schemas.openxmlformats.org/drawingml/2006/main">
            <a:r>
              <a:t>&lt;p class="note"&gt;Հաղթում է ավելի ուշ կանոնը&lt;/p&gt;</a:t>
            </a:r>
          </a:p>
          <a:p xmlns:a="http://schemas.openxmlformats.org/drawingml/2006/main">
            <a:r>
              <a:t/>
            </a:r>
          </a:p>
          <a:p xmlns:a="http://schemas.openxmlformats.org/drawingml/2006/main">
            <a:r>
              <a:t>Առաջադրանք</a:t>
            </a:r>
          </a:p>
          <a:p xmlns:a="http://schemas.openxmlformats.org/drawingml/2006/main">
            <a:r>
              <a:t>Developer Tools-ում գտնել գծված և գործող հայտարարությունները։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Կշիռը հաշվարկում ենք ID-ների, class-երի/հատկանիշների/փսևդոդասերի և տարրերի/փսևդոտարրերի քանակներով։ Համեմատությունը բառարանային է. նախ համեմատվում է առաջին բաղադրիչը։ #title-ը ունի 1-0-0, .note-ը՝ 0-1-0, p-ը՝ 0-0-1։ Սա սովորական նույն ծագման և շերտի հայտարարությունների օրինակ է։ :where()-ի կշիռը զրո է, իսկ :is(), :not(), :has() ստանում են իրենց փաստարկների առավելագույն կշիռը։</a:t>
            </a:r>
          </a:p>
          <a:p xmlns:a="http://schemas.openxmlformats.org/drawingml/2006/main">
            <a:r>
              <a:t/>
            </a:r>
          </a:p>
          <a:p xmlns:a="http://schemas.openxmlformats.org/drawingml/2006/main">
            <a:r>
              <a:t>HTML օրինակ</a:t>
            </a:r>
          </a:p>
          <a:p xmlns:a="http://schemas.openxmlformats.org/drawingml/2006/main">
            <a:r>
              <a:t>&lt;p id="title" class="note"&gt;Ո՞ր գույնը կհաղթի&lt;/p&gt;</a:t>
            </a:r>
          </a:p>
          <a:p xmlns:a="http://schemas.openxmlformats.org/drawingml/2006/main">
            <a:r>
              <a:t/>
            </a:r>
          </a:p>
          <a:p xmlns:a="http://schemas.openxmlformats.org/drawingml/2006/main">
            <a:r>
              <a:t>Առաջադրանք</a:t>
            </a:r>
          </a:p>
          <a:p xmlns:a="http://schemas.openxmlformats.org/drawingml/2006/main">
            <a:r>
              <a:t>Հաշվել .menu a:hover ընտրիչի կշիռը՝ 0-2-1։</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Տեքստի color և font-family հատկությունները սովորաբար ժառանգվում են։ margin, padding և border հատկությունները սովորաբար չեն ժառանգվում։ Եթե զավակը սեփական color ունի, այն գերակայում է ծնողից եկող արժեքին՝ անկախ ծնողի ընտրիչի կշռից։ inherit-ը պահանջում է ծնողի արժեքը, initial-ը՝ հատկության սկզբնական արժեքը, unset-ը ընտրում է ժառանգում կամ սկզբնական արժեք՝ ըստ հատկության բնույթի։</a:t>
            </a:r>
          </a:p>
          <a:p xmlns:a="http://schemas.openxmlformats.org/drawingml/2006/main">
            <a:r>
              <a:t/>
            </a:r>
          </a:p>
          <a:p xmlns:a="http://schemas.openxmlformats.org/drawingml/2006/main">
            <a:r>
              <a:t>HTML օրինակ</a:t>
            </a:r>
          </a:p>
          <a:p xmlns:a="http://schemas.openxmlformats.org/drawingml/2006/main">
            <a:r>
              <a:t>&lt;div class="parent"&gt;&lt;p&gt;Ժառանգված գույն&lt;/p&gt;&lt;span&gt;Ես նույնպես կապույտ եմ&lt;/span&gt;&lt;/div&gt;</a:t>
            </a:r>
          </a:p>
          <a:p xmlns:a="http://schemas.openxmlformats.org/drawingml/2006/main">
            <a:r>
              <a:t/>
            </a:r>
          </a:p>
          <a:p xmlns:a="http://schemas.openxmlformats.org/drawingml/2006/main">
            <a:r>
              <a:t>Առաջադրանք</a:t>
            </a:r>
          </a:p>
          <a:p xmlns:a="http://schemas.openxmlformats.org/drawingml/2006/main">
            <a:r>
              <a:t>Զավակին տալ color: inherit և border: inherit։</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Փսևդոդասերը սկսվում են մեկ երկկետով։ :hover-ը գործում է ցուցիչը տարրի վրա պահելիս, :focus-ը՝ ֆոկուս ստանալիս, :focus-visible-ը՝ երբ բրաուզերը որոշում է ցույց տալ ֆոկուսի նշանը։ :nth-child(2n)-ը ընտրում է զույգ դիրքում գտնվող համապատասխան զավակներին։ Միայն hover-ով կարևոր բովանդակություն բացելը անհարմար է սենսորային և ստեղնաշարային օգտագործման համար։</a:t>
            </a:r>
          </a:p>
          <a:p xmlns:a="http://schemas.openxmlformats.org/drawingml/2006/main">
            <a:r>
              <a:t/>
            </a:r>
          </a:p>
          <a:p xmlns:a="http://schemas.openxmlformats.org/drawingml/2006/main">
            <a:r>
              <a:t>HTML օրինակ</a:t>
            </a:r>
          </a:p>
          <a:p xmlns:a="http://schemas.openxmlformats.org/drawingml/2006/main">
            <a:r>
              <a:t>&lt;button&gt;Պահել&lt;/button&gt;&lt;input placeholder="Սեղմիր այստեղ"&gt;&lt;ul&gt;&lt;li&gt;Առաջին&lt;/li&gt;&lt;li&gt;Երկրորդ&lt;/li&gt;&lt;li&gt;Երրորդ&lt;/li&gt;&lt;li&gt;Չորրորդ&lt;/li&gt;&lt;/ul&gt;</a:t>
            </a:r>
          </a:p>
          <a:p xmlns:a="http://schemas.openxmlformats.org/drawingml/2006/main">
            <a:r>
              <a:t/>
            </a:r>
          </a:p>
          <a:p xmlns:a="http://schemas.openxmlformats.org/drawingml/2006/main">
            <a:r>
              <a:t>Առաջադրանք</a:t>
            </a:r>
          </a:p>
          <a:p xmlns:a="http://schemas.openxmlformats.org/drawingml/2006/main">
            <a:r>
              <a:t>Tab-ով անցնել դաշտերի և կոճակների միջև։</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Փսևդոտարրերը սովորաբար գրում ենք երկու երկկետով։ ::before և ::after-ը ստեղծում են գեներացված բովանդակություն։ content հայտարարությունը անհրաժեշտ է դրանց ցուցադրման սովորական օրինակներում։ ::first-letter-ը ոճավորում է առաջին տառը, ::marker-ը՝ ցուցակի նշանը։ Կարևոր տեղեկատվությունը պետք է պահել HTML-ում, քանի որ դեկորատիվ բովանդակությունը միշտ նույն կերպ չի հասանելի լինում օգնող տեխնոլոգիաներին։</a:t>
            </a:r>
          </a:p>
          <a:p xmlns:a="http://schemas.openxmlformats.org/drawingml/2006/main">
            <a:r>
              <a:t/>
            </a:r>
          </a:p>
          <a:p xmlns:a="http://schemas.openxmlformats.org/drawingml/2006/main">
            <a:r>
              <a:t>HTML օրինակ</a:t>
            </a:r>
          </a:p>
          <a:p xmlns:a="http://schemas.openxmlformats.org/drawingml/2006/main">
            <a:r>
              <a:t>&lt;p class="note"&gt;Կարևոր հիշեցում&lt;/p&gt;</a:t>
            </a:r>
          </a:p>
          <a:p xmlns:a="http://schemas.openxmlformats.org/drawingml/2006/main">
            <a:r>
              <a:t/>
            </a:r>
          </a:p>
          <a:p xmlns:a="http://schemas.openxmlformats.org/drawingml/2006/main">
            <a:r>
              <a:t>Առաջադրանք</a:t>
            </a:r>
          </a:p>
          <a:p xmlns:a="http://schemas.openxmlformats.org/drawingml/2006/main">
            <a:r>
              <a:t>::after-ով ավելացնել դեկորատիվ նշան։</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px-ը CSS պիքսելն է։ %-ի հղման չափը կախված է հատկությունից. width-ի դեպքում հաճախ ծնողի լայնությունն է։ rem-ը հղվում է արմատային տարրի տառաչափին։ em-ը font-size-ում հղվում է ծնողի տառաչափին, իսկ այլ հատկություններում՝ տվյալ տարրի հաշվարկված տառաչափին։ vw և vh-ը viewport-ի չափերի տոկոսներ են։ Բջջային միջավայրում դինամիկ բարձրության համար հաճախ օգտագործվում է dvh։</a:t>
            </a:r>
          </a:p>
          <a:p xmlns:a="http://schemas.openxmlformats.org/drawingml/2006/main">
            <a:r>
              <a:t/>
            </a:r>
          </a:p>
          <a:p xmlns:a="http://schemas.openxmlformats.org/drawingml/2006/main">
            <a:r>
              <a:t>HTML օրինակ</a:t>
            </a:r>
          </a:p>
          <a:p xmlns:a="http://schemas.openxmlformats.org/drawingml/2006/main">
            <a:r>
              <a:t>&lt;div class="box"&gt;80% լայնություն&lt;br&gt;1rem = 16px&lt;br&gt;1.25rem = 20px&lt;/div&gt;</a:t>
            </a:r>
          </a:p>
          <a:p xmlns:a="http://schemas.openxmlformats.org/drawingml/2006/main">
            <a:r>
              <a:t/>
            </a:r>
          </a:p>
          <a:p xmlns:a="http://schemas.openxmlformats.org/drawingml/2006/main">
            <a:r>
              <a:t>Առաջադրանք</a:t>
            </a:r>
          </a:p>
          <a:p xmlns:a="http://schemas.openxmlformats.org/drawingml/2006/main">
            <a:r>
              <a:t>Փոխել html-ի font-size-ը և հետևել rem-ի փոփոխությանը։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clamp(min, preferred, max)-ը թույլ է տալիս չափին աճել սահմանների միջև։ Տառաչափի ցանկալի արժեքում rem-ի և vw-ի համադրությունը կարող է ապահովել սահուն փոփոխություն։ Բացարձակ չափերով բոլոր սարքերի համար նույն լայնությունը սահմանելը հաճախ առաջացնում է հորիզոնական արտահոսք։ Լայնության համար կարող ենք կիրառել min(), max-width և տոկոսներ։</a:t>
            </a:r>
          </a:p>
          <a:p xmlns:a="http://schemas.openxmlformats.org/drawingml/2006/main">
            <a:r>
              <a:t/>
            </a:r>
          </a:p>
          <a:p xmlns:a="http://schemas.openxmlformats.org/drawingml/2006/main">
            <a:r>
              <a:t>HTML օրինակ</a:t>
            </a:r>
          </a:p>
          <a:p xmlns:a="http://schemas.openxmlformats.org/drawingml/2006/main">
            <a:r>
              <a:t>&lt;h2&gt;Հարմարվող վերնագիր&lt;/h2&gt;&lt;div class="box"&gt;Լայնությունը չի անցնի 500px-ը։&lt;/div&gt;</a:t>
            </a:r>
          </a:p>
          <a:p xmlns:a="http://schemas.openxmlformats.org/drawingml/2006/main">
            <a:r>
              <a:t/>
            </a:r>
          </a:p>
          <a:p xmlns:a="http://schemas.openxmlformats.org/drawingml/2006/main">
            <a:r>
              <a:t>Առաջադրանք</a:t>
            </a:r>
          </a:p>
          <a:p xmlns:a="http://schemas.openxmlformats.org/drawingml/2006/main">
            <a:r>
              <a:t>Փոխել բրաուզերի լայնությունը և չափել վերնագիրը։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Գույնը կարող ենք գրել անունով կամ թվային ձևաչափով։ #2563eb-ը HEX արժեք է, rgb(37 99 235)-ը՝ RGB, hsl()-ը՝ երանգ, հագեցվածություն և լուսավորություն։ Ալֆա բաղադրիչը կարգավորում է տվյալ գույնի թափանցիկությունը։ opacity-ը թափանցիկ է դարձնում ամբողջ տարրը՝ զավակներով։ Տեքստի և ֆոնի միջև բավարար հակադրությունը կարևոր է ընթերցելիության համար։</a:t>
            </a:r>
          </a:p>
          <a:p xmlns:a="http://schemas.openxmlformats.org/drawingml/2006/main">
            <a:r>
              <a:t/>
            </a:r>
          </a:p>
          <a:p xmlns:a="http://schemas.openxmlformats.org/drawingml/2006/main">
            <a:r>
              <a:t>HTML օրինակ</a:t>
            </a:r>
          </a:p>
          <a:p xmlns:a="http://schemas.openxmlformats.org/drawingml/2006/main">
            <a:r>
              <a:t>&lt;div class="box"&gt;Սպիտակ տեքստ կապույտ ֆոնի վրա&lt;/div&gt;</a:t>
            </a:r>
          </a:p>
          <a:p xmlns:a="http://schemas.openxmlformats.org/drawingml/2006/main">
            <a:r>
              <a:t/>
            </a:r>
          </a:p>
          <a:p xmlns:a="http://schemas.openxmlformats.org/drawingml/2006/main">
            <a:r>
              <a:t>Առաջադրանք</a:t>
            </a:r>
          </a:p>
          <a:p xmlns:a="http://schemas.openxmlformats.org/drawingml/2006/main">
            <a:r>
              <a:t>Ստեղծել նույն գույնը HEX և RGB գրությամբ։</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CSS custom properties-ը հայտարարում ենք սովորական կանոնների ներսում։ :root-ում սահմանված արժեքները հասանելի են ամբողջ փաստաթղթի համար՝ ժառանգման միջոցով։ Տեղային հայտարարությունը կարող է փոխել արժեքը տվյալ ենթածառում։ var(--name, fallback)-ը ապահովում է պահեստային արժեք, երբ փոփոխականը բացակայում է կամ անվավեր է custom property-ի մակարդակում։ Փոփոխականներով հեշտ է միասնական գույներ և բացատներ պահել։</a:t>
            </a:r>
          </a:p>
          <a:p xmlns:a="http://schemas.openxmlformats.org/drawingml/2006/main">
            <a:r>
              <a:t/>
            </a:r>
          </a:p>
          <a:p xmlns:a="http://schemas.openxmlformats.org/drawingml/2006/main">
            <a:r>
              <a:t>HTML օրինակ</a:t>
            </a:r>
          </a:p>
          <a:p xmlns:a="http://schemas.openxmlformats.org/drawingml/2006/main">
            <a:r>
              <a:t>&lt;div class="box" style="color:white"&gt;Միասնական թեմա&lt;/div&gt;</a:t>
            </a:r>
          </a:p>
          <a:p xmlns:a="http://schemas.openxmlformats.org/drawingml/2006/main">
            <a:r>
              <a:t/>
            </a:r>
          </a:p>
          <a:p xmlns:a="http://schemas.openxmlformats.org/drawingml/2006/main">
            <a:r>
              <a:t>Առաջադրանք</a:t>
            </a:r>
          </a:p>
          <a:p xmlns:a="http://schemas.openxmlformats.org/drawingml/2006/main">
            <a:r>
              <a:t>--brand-ը փոխել նարնջագույնի։</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font-family-ում գրում ենք նախընտրելի և պահեստային տառատեսակներ։ Վերջում կարող է լինել ընդհանուր sans-serif կամ serif ընտանիքը։ font-size-ը կառավարում է չափը, font-weight-ը՝ հաստությունը, line-height-ը՝ տողերի բարձրությունը։ Առանց միավորի line-height-ը հարմար է ժառանգման համար։ text-align, text-decoration և letter-spacing-ը փոխում են տեքստի ներկայացումը։ Հայերեն տեքստի համար պետք է ստուգել տառատեսակի հայերեն նշանները։</a:t>
            </a:r>
          </a:p>
          <a:p xmlns:a="http://schemas.openxmlformats.org/drawingml/2006/main">
            <a:r>
              <a:t/>
            </a:r>
          </a:p>
          <a:p xmlns:a="http://schemas.openxmlformats.org/drawingml/2006/main">
            <a:r>
              <a:t>HTML օրինակ</a:t>
            </a:r>
          </a:p>
          <a:p xmlns:a="http://schemas.openxmlformats.org/drawingml/2006/main">
            <a:r>
              <a:t>&lt;p&gt;Ընթերցելի տեքստը կարևոր է։ Տողերի միջև տարածությունը օգնում է հետևել մտքին։&lt;/p&gt;</a:t>
            </a:r>
          </a:p>
          <a:p xmlns:a="http://schemas.openxmlformats.org/drawingml/2006/main">
            <a:r>
              <a:t/>
            </a:r>
          </a:p>
          <a:p xmlns:a="http://schemas.openxmlformats.org/drawingml/2006/main">
            <a:r>
              <a:t>Առաջադրանք</a:t>
            </a:r>
          </a:p>
          <a:p xmlns:a="http://schemas.openxmlformats.org/drawingml/2006/main">
            <a:r>
              <a:t>Համեմատել line-height: 1 և 1.6։</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list-style-type-ը որոշում է նշանի տեսակը։ list-style-position-ը կառավարում է նշանի ներսում կամ դրսում դիրքը։ ::marker-ը կարող է փոխել նշանի գույնը։ Նավիգացիոն ցուցակում նշանները կարող ենք հեռացնել՝ պահպանելով HTML ցուցակի կառուցվածքը։ Եթե հեռացնում ենք սկզբնական padding-ը, պետք է ավելացնել նախագծին համապատասխան բացատ։</a:t>
            </a:r>
          </a:p>
          <a:p xmlns:a="http://schemas.openxmlformats.org/drawingml/2006/main">
            <a:r>
              <a:t/>
            </a:r>
          </a:p>
          <a:p xmlns:a="http://schemas.openxmlformats.org/drawingml/2006/main">
            <a:r>
              <a:t>HTML օրինակ</a:t>
            </a:r>
          </a:p>
          <a:p xmlns:a="http://schemas.openxmlformats.org/drawingml/2006/main">
            <a:r>
              <a:t>&lt;ul&gt;&lt;li&gt;HTML&lt;/li&gt;&lt;li&gt;CSS&lt;/li&gt;&lt;li&gt;Ուսումնական նախագիծ&lt;/li&gt;&lt;/ul&gt;</a:t>
            </a:r>
          </a:p>
          <a:p xmlns:a="http://schemas.openxmlformats.org/drawingml/2006/main">
            <a:r>
              <a:t/>
            </a:r>
          </a:p>
          <a:p xmlns:a="http://schemas.openxmlformats.org/drawingml/2006/main">
            <a:r>
              <a:t>Առաջադրանք</a:t>
            </a:r>
          </a:p>
          <a:p xmlns:a="http://schemas.openxmlformats.org/drawingml/2006/main">
            <a:r>
              <a:t>Ցուցակում փորձել decimal, circle և none։</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border-collapse: collapse-ը միավորում է հարևան բջիջների եզրագծերը։ th և td բջիջներում padding-ը ստեղծում է տարածություն։ nth-child-ը կարող է ստեղծել հերթափոխվող ֆոն։ Լայն աղյուսակը փոքր էկրանին հարմար է տեղադրել overflow-x: auto ունեցող փաթեթի մեջ։ Վերնագրային th բջիջները և caption-ը պահում ենք HTML-ում։</a:t>
            </a:r>
          </a:p>
          <a:p xmlns:a="http://schemas.openxmlformats.org/drawingml/2006/main">
            <a:r>
              <a:t/>
            </a:r>
          </a:p>
          <a:p xmlns:a="http://schemas.openxmlformats.org/drawingml/2006/main">
            <a:r>
              <a:t>HTML օրինակ</a:t>
            </a:r>
          </a:p>
          <a:p xmlns:a="http://schemas.openxmlformats.org/drawingml/2006/main">
            <a:r>
              <a:t>&lt;table&gt;&lt;caption&gt;Գնահատականներ&lt;/caption&gt;&lt;tr&gt;&lt;th&gt;Անուն&lt;/th&gt;&lt;th&gt;Միավոր&lt;/th&gt;&lt;/tr&gt;&lt;tr&gt;&lt;td&gt;Անի&lt;/td&gt;&lt;td&gt;18&lt;/td&gt;&lt;/tr&gt;&lt;tr&gt;&lt;td&gt;Արամ&lt;/td&gt;&lt;td&gt;16&lt;/td&gt;&lt;/tr&gt;&lt;/table&gt;</a:t>
            </a:r>
          </a:p>
          <a:p xmlns:a="http://schemas.openxmlformats.org/drawingml/2006/main">
            <a:r>
              <a:t/>
            </a:r>
          </a:p>
          <a:p xmlns:a="http://schemas.openxmlformats.org/drawingml/2006/main">
            <a:r>
              <a:t>Առաջադրանք</a:t>
            </a:r>
          </a:p>
          <a:p xmlns:a="http://schemas.openxmlformats.org/drawingml/2006/main">
            <a:r>
              <a:t>Ոճավորել նախորդ լաբորատորիայի դասացուցակը։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Յուրաքանչյուր տարրի բլոկային տուփը պարունակում է բովանդակություն, ներքին բացատ և եզրագիծ։ Արտաքին margin-ը հեռացնում է տուփը հարևաններից։ Padding-ը տարրի ներսում է և ստանում է տարրի ֆոնը, իսկ margin-ը ֆոն չի ներկում։ Որոշ սովորական բլոկների ուղղահայաց margin-ները կարող են միավորվել։ Flexbox և Grid կառուցվածքներում այդ միավորումը չի գործում նույն ձևով։</a:t>
            </a:r>
          </a:p>
          <a:p xmlns:a="http://schemas.openxmlformats.org/drawingml/2006/main">
            <a:r>
              <a:t/>
            </a:r>
          </a:p>
          <a:p xmlns:a="http://schemas.openxmlformats.org/drawingml/2006/main">
            <a:r>
              <a:t>HTML օրինակ</a:t>
            </a:r>
          </a:p>
          <a:p xmlns:a="http://schemas.openxmlformats.org/drawingml/2006/main">
            <a:r>
              <a:t>&lt;div class="box"&gt;Բովանդակություն&lt;br&gt;Padding-ը կապույտ տարածքն է։&lt;/div&gt;</a:t>
            </a:r>
          </a:p>
          <a:p xmlns:a="http://schemas.openxmlformats.org/drawingml/2006/main">
            <a:r>
              <a:t/>
            </a:r>
          </a:p>
          <a:p xmlns:a="http://schemas.openxmlformats.org/drawingml/2006/main">
            <a:r>
              <a:t>Առաջադրանք</a:t>
            </a:r>
          </a:p>
          <a:p xmlns:a="http://schemas.openxmlformats.org/drawingml/2006/main">
            <a:r>
              <a:t>Developer Tools-ի box model-ում գտնել չորս մասերը։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margin-ը կառավարում է տարրի արտաքին բացատը։ Մեկ արժեքը վերաբերում է բոլոր կողմերին, երկու արժեքը՝ վերև/ներքև և աջ/ձախ կողմերին։ Չորս արժեքների հերթն է վերև, աջ, ներքև, ձախ։ Տարբեր բլոկների ուղղահայաց margin-ները որոշ պայմաններում միավորվում են։ margin: 20px auto-ը սահմանված լայնությամբ սովորական բլոկը կարող է հորիզոնական կենտրոնացնել։ Margin-ի տարածքում տարրի ֆոնը չի նկարվում։</a:t>
            </a:r>
          </a:p>
          <a:p xmlns:a="http://schemas.openxmlformats.org/drawingml/2006/main">
            <a:r>
              <a:t/>
            </a:r>
          </a:p>
          <a:p xmlns:a="http://schemas.openxmlformats.org/drawingml/2006/main">
            <a:r>
              <a:t>HTML օրինակ</a:t>
            </a:r>
          </a:p>
          <a:p xmlns:a="http://schemas.openxmlformats.org/drawingml/2006/main">
            <a:r>
              <a:t>&lt;div class="box"&gt;Առաջին բլոկ&lt;/div&gt;&lt;div class="box"&gt;Երկրորդ բլոկ&lt;/div&gt;</a:t>
            </a:r>
          </a:p>
          <a:p xmlns:a="http://schemas.openxmlformats.org/drawingml/2006/main">
            <a:r>
              <a:t/>
            </a:r>
          </a:p>
          <a:p xmlns:a="http://schemas.openxmlformats.org/drawingml/2006/main">
            <a:r>
              <a:t>Առաջադրանք</a:t>
            </a:r>
          </a:p>
          <a:p xmlns:a="http://schemas.openxmlformats.org/drawingml/2006/main">
            <a:r>
              <a:t>Փորձել margin: 10px 30px 20px 0։</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padding-ը տարրի ներսում է։ Այն բարելավում է տեքստի ընթերցումը և կոճակի օգտագործելիությունը։ Տարրի ֆոնը տարածվում է նաև padding-ի վրա։ Մեկ, երկու և չորս արժեքների գրության կանոնը նույնն է, ինչ margin-ի դեպքում։ Content-box-ի դեպքում padding-ը ավելանում է width-ին։ Border-box-ի դեպքում այն ներառված է սահմանված լայնության մեջ։ Padding-ը չի կարող լինել բացասական։</a:t>
            </a:r>
          </a:p>
          <a:p xmlns:a="http://schemas.openxmlformats.org/drawingml/2006/main">
            <a:r>
              <a:t/>
            </a:r>
          </a:p>
          <a:p xmlns:a="http://schemas.openxmlformats.org/drawingml/2006/main">
            <a:r>
              <a:t>HTML օրինակ</a:t>
            </a:r>
          </a:p>
          <a:p xmlns:a="http://schemas.openxmlformats.org/drawingml/2006/main">
            <a:r>
              <a:t>&lt;div class="box"&gt;Տեքստը չի կպչում եզրագծին։&lt;/div&gt;</a:t>
            </a:r>
          </a:p>
          <a:p xmlns:a="http://schemas.openxmlformats.org/drawingml/2006/main">
            <a:r>
              <a:t/>
            </a:r>
          </a:p>
          <a:p xmlns:a="http://schemas.openxmlformats.org/drawingml/2006/main">
            <a:r>
              <a:t>Առաջադրանք</a:t>
            </a:r>
          </a:p>
          <a:p xmlns:a="http://schemas.openxmlformats.org/drawingml/2006/main">
            <a:r>
              <a:t>Նույն քարտում համեմատել padding: 0 և padding: 24px։</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border համառոտ հատկությամբ սահմանում ենք հաստությունը, ոճը և գույնը։ solid-ը հոծ գիծ է, dashed-ը՝ ընդհատվող, dotted-ը՝ կետավոր։ Կարող ենք առանձին կառավարել border-top, border-right, border-bottom և border-left կողմերը։ Border-radius-ը փոխում է անկյունները։ Եզրագիծը մասնակցում է տուփի չափերի հաշվարկին, իսկ outline-ը սովորաբար տեղ չի զբաղեցնում։ Ֆոկուսի outline-ը պետք է պահպանել կամ փոխարինել տեսանելի նշումով։</a:t>
            </a:r>
          </a:p>
          <a:p xmlns:a="http://schemas.openxmlformats.org/drawingml/2006/main">
            <a:r>
              <a:t/>
            </a:r>
          </a:p>
          <a:p xmlns:a="http://schemas.openxmlformats.org/drawingml/2006/main">
            <a:r>
              <a:t>HTML օրինակ</a:t>
            </a:r>
          </a:p>
          <a:p xmlns:a="http://schemas.openxmlformats.org/drawingml/2006/main">
            <a:r>
              <a:t>&lt;div class="box"&gt;Տարբեր եզրագծեր&lt;/div&gt;</a:t>
            </a:r>
          </a:p>
          <a:p xmlns:a="http://schemas.openxmlformats.org/drawingml/2006/main">
            <a:r>
              <a:t/>
            </a:r>
          </a:p>
          <a:p xmlns:a="http://schemas.openxmlformats.org/drawingml/2006/main">
            <a:r>
              <a:t>Առաջադրանք</a:t>
            </a:r>
          </a:p>
          <a:p xmlns:a="http://schemas.openxmlformats.org/drawingml/2006/main">
            <a:r>
              <a:t>Ստեղծել solid, dashed և dotted եզրագծերով երեք քարտ։</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content-box-ի դեպքում width-ը միայն բովանդակության լայնությունն է։ Եթե width-ը 200px է, padding-ը երկու կողմում 20px, border-ը երկու կողմում 2px, արտաքին եզրագծով լայնությունը 244px է։ border-box-ի դեպքում ընդհանուր եզրագծով լայնությունը մնում է 200px, իսկ բովանդակությունը՝ 156px։ Margin-ը երկու դեպքում էլ width-ի մեջ չի մտնում։ Ընդհանուր կանոնը հաճախ տարածում ենք նաև փսևդոտարրերի վրա։</a:t>
            </a:r>
          </a:p>
          <a:p xmlns:a="http://schemas.openxmlformats.org/drawingml/2006/main">
            <a:r>
              <a:t/>
            </a:r>
          </a:p>
          <a:p xmlns:a="http://schemas.openxmlformats.org/drawingml/2006/main">
            <a:r>
              <a:t>HTML օրինակ</a:t>
            </a:r>
          </a:p>
          <a:p xmlns:a="http://schemas.openxmlformats.org/drawingml/2006/main">
            <a:r>
              <a:t>&lt;div class="box"&gt;200px ընդհանուր լայնություն&lt;/div&gt;</a:t>
            </a:r>
          </a:p>
          <a:p xmlns:a="http://schemas.openxmlformats.org/drawingml/2006/main">
            <a:r>
              <a:t/>
            </a:r>
          </a:p>
          <a:p xmlns:a="http://schemas.openxmlformats.org/drawingml/2006/main">
            <a:r>
              <a:t>Առաջադրանք</a:t>
            </a:r>
          </a:p>
          <a:p xmlns:a="http://schemas.openxmlformats.org/drawingml/2006/main">
            <a:r>
              <a:t>Համեմատել նույն տարրը content-box և border-box արժեքներով։</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Քարտի լայնությունը կարող ենք սահմանել տոկոսով և առավելագույն չափով։ height-ը հաճախ ավելի լավ է թողնել auto, որպեսզի բովանդակությունը չկտրվի։ min-height-ը տալիս է նվազագույն բարձրություն։ margin-inline: auto-ը սահմանված լայնությամբ բլոկը կարող է կենտրոնացնել։ Չորս margin կամ padding արժեքները հերթով վերաբերում են վերևին, աջին, ներքևին և ձախին։</a:t>
            </a:r>
          </a:p>
          <a:p xmlns:a="http://schemas.openxmlformats.org/drawingml/2006/main">
            <a:r>
              <a:t/>
            </a:r>
          </a:p>
          <a:p xmlns:a="http://schemas.openxmlformats.org/drawingml/2006/main">
            <a:r>
              <a:t>HTML օրինակ</a:t>
            </a:r>
          </a:p>
          <a:p xmlns:a="http://schemas.openxmlformats.org/drawingml/2006/main">
            <a:r>
              <a:t>&lt;div class="box"&gt;&lt;h3&gt;Դասընթաց&lt;/h3&gt;&lt;p&gt;CSS-ի հիմունքներ&lt;/p&gt;&lt;/div&gt;</a:t>
            </a:r>
          </a:p>
          <a:p xmlns:a="http://schemas.openxmlformats.org/drawingml/2006/main">
            <a:r>
              <a:t/>
            </a:r>
          </a:p>
          <a:p xmlns:a="http://schemas.openxmlformats.org/drawingml/2006/main">
            <a:r>
              <a:t>Առաջադրանք</a:t>
            </a:r>
          </a:p>
          <a:p xmlns:a="http://schemas.openxmlformats.org/drawingml/2006/main">
            <a:r>
              <a:t>Քարտին ավելացնել երկար նկարագրություն և ստուգել բարձրությունը։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background-image-ը կարող է պարունակել url() կամ linear-gradient()։ Պատկերի համար background-size: cover-ը ծածկում է տարածքը՝ երբեմն կտրելով եզրերը։ contain-ը պահում է ամբողջ պատկերը՝ հնարավոր ազատ տարածքով։ background-position-ը կարգավորում է դիրքը, repeat-ը՝ կրկնությունը։ CSS ֆայլի url() ուղին հաշվվում է CSS ֆայլի նկատմամբ։ Ֆոնային պատկերը չունի alt, ուստի կարևոր պատկերը տեղադրում ենք img-ով։</a:t>
            </a:r>
          </a:p>
          <a:p xmlns:a="http://schemas.openxmlformats.org/drawingml/2006/main">
            <a:r>
              <a:t/>
            </a:r>
          </a:p>
          <a:p xmlns:a="http://schemas.openxmlformats.org/drawingml/2006/main">
            <a:r>
              <a:t>HTML օրինակ</a:t>
            </a:r>
          </a:p>
          <a:p xmlns:a="http://schemas.openxmlformats.org/drawingml/2006/main">
            <a:r>
              <a:t>&lt;div class="box"&gt;&lt;h2&gt;Ուսումնական հարթակ&lt;/h2&gt;&lt;p&gt;Գրադիենտային ֆոն&lt;/p&gt;&lt;/div&gt;</a:t>
            </a:r>
          </a:p>
          <a:p xmlns:a="http://schemas.openxmlformats.org/drawingml/2006/main">
            <a:r>
              <a:t/>
            </a:r>
          </a:p>
          <a:p xmlns:a="http://schemas.openxmlformats.org/drawingml/2006/main">
            <a:r>
              <a:t>Առաջադրանք</a:t>
            </a:r>
          </a:p>
          <a:p xmlns:a="http://schemas.openxmlformats.org/drawingml/2006/main">
            <a:r>
              <a:t>Փոխել գրադիենտի ուղղությունը և ավելացնել երրորդ գույն։</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border-radius-ը կարող է ունենալ մեկ կամ մի քանի արժեք։ 50%-ը հավասար լայնություն ու բարձրություն ունեցող տարրը դարձնում է շրջան։ box-shadow-ի առաջին երկու արժեքները հորիզոնական և ուղղահայաց տեղաշարժերն են, երրորդը՝ մշուշման շառավիղը, հետո կարող են լինել տարածման չափը և գույնը։ Ստվերը տեղ չի զբաղեցնում դասավորության հաշվարկում։</a:t>
            </a:r>
          </a:p>
          <a:p xmlns:a="http://schemas.openxmlformats.org/drawingml/2006/main">
            <a:r>
              <a:t/>
            </a:r>
          </a:p>
          <a:p xmlns:a="http://schemas.openxmlformats.org/drawingml/2006/main">
            <a:r>
              <a:t>HTML օրինակ</a:t>
            </a:r>
          </a:p>
          <a:p xmlns:a="http://schemas.openxmlformats.org/drawingml/2006/main">
            <a:r>
              <a:t>&lt;div class="box"&gt;&lt;h3&gt;CSS քարտ&lt;/h3&gt;&lt;p&gt;Կլոր անկյուններ և մեղմ ստվեր&lt;/p&gt;&lt;/div&gt;</a:t>
            </a:r>
          </a:p>
          <a:p xmlns:a="http://schemas.openxmlformats.org/drawingml/2006/main">
            <a:r>
              <a:t/>
            </a:r>
          </a:p>
          <a:p xmlns:a="http://schemas.openxmlformats.org/drawingml/2006/main">
            <a:r>
              <a:t>Առաջադրանք</a:t>
            </a:r>
          </a:p>
          <a:p xmlns:a="http://schemas.openxmlformats.org/drawingml/2006/main">
            <a:r>
              <a:t>Ստեղծել նաև inset ներքին ստվեր։</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Պատկերը HTML-ում ավելացնում ենք img տարրով։ alt-ը նկարագրում է բովանդակային պատկերը։ Դեկորատիվ պատկերի alt-ը դատարկ է։ max-width: 100% և height: auto-ը կանխում են ծնողից ավելի լայն պատկերները և պահպանում համամասնությունը։ Եթե սահմանում ենք և՛ լայնություն, և՛ բարձրություն, object-fit: cover-ը լրացնում է տարածքը՝ կտրելով պատկերի որոշ հատվածներ, իսկ contain-ը ցույց է տալիս ամբողջը։ Ֆոնային պատկերները alt չունեն։</a:t>
            </a:r>
          </a:p>
          <a:p xmlns:a="http://schemas.openxmlformats.org/drawingml/2006/main">
            <a:r>
              <a:t/>
            </a:r>
          </a:p>
          <a:p xmlns:a="http://schemas.openxmlformats.org/drawingml/2006/main">
            <a:r>
              <a:t>HTML օրինակ</a:t>
            </a:r>
          </a:p>
          <a:p xmlns:a="http://schemas.openxmlformats.org/drawingml/2006/main">
            <a:r>
              <a:t>&lt;img src="image.svg" alt="Կապույտ և նարնջագույն ուսումնական պատկեր"&gt;</a:t>
            </a:r>
          </a:p>
          <a:p xmlns:a="http://schemas.openxmlformats.org/drawingml/2006/main">
            <a:r>
              <a:t/>
            </a:r>
          </a:p>
          <a:p xmlns:a="http://schemas.openxmlformats.org/drawingml/2006/main">
            <a:r>
              <a:t>Առաջադրանք</a:t>
            </a:r>
          </a:p>
          <a:p xmlns:a="http://schemas.openxmlformats.org/drawingml/2006/main">
            <a:r>
              <a:t>Պատկերին տալ 240px × 140px չափեր և համեմատել cover/contain։</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none-ը տարրը հանում է դասավորությունից։ visibility: hidden-ը սովորաբար պահում է զբաղեցրած տեղը, բայց թաքցնում տարրը։ opacity: 0-ը պահում է տեղը և կարող է թողնել տարրը սեղմելի ու ֆոկուս ստացող։ display: block-ը բլոկային վարք է տալիս, inline-ը՝ տողային, inline-block-ը թույլ է տալիս տողում ունենալ չափերով տուփ։ Flex և Grid արժեքները ստեղծում են համապատասխան դասավորության միջավայր։</a:t>
            </a:r>
          </a:p>
          <a:p xmlns:a="http://schemas.openxmlformats.org/drawingml/2006/main">
            <a:r>
              <a:t/>
            </a:r>
          </a:p>
          <a:p xmlns:a="http://schemas.openxmlformats.org/drawingml/2006/main">
            <a:r>
              <a:t>HTML օրինակ</a:t>
            </a:r>
          </a:p>
          <a:p xmlns:a="http://schemas.openxmlformats.org/drawingml/2006/main">
            <a:r>
              <a:t>&lt;div class="box"&gt;A&lt;/div&gt;&lt;div class="box hidden"&gt;B&lt;/div&gt;&lt;div class="box"&gt;C&lt;/div&gt;&lt;div class="removed"&gt;D&lt;/div&gt;</a:t>
            </a:r>
          </a:p>
          <a:p xmlns:a="http://schemas.openxmlformats.org/drawingml/2006/main">
            <a:r>
              <a:t/>
            </a:r>
          </a:p>
          <a:p xmlns:a="http://schemas.openxmlformats.org/drawingml/2006/main">
            <a:r>
              <a:t>Առաջադրանք</a:t>
            </a:r>
          </a:p>
          <a:p xmlns:a="http://schemas.openxmlformats.org/drawingml/2006/main">
            <a:r>
              <a:t>Փոխել B-ի visibility-ը display: none-ի և համեմատել։</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visible-ը թողնում է արտահոսքը տեսանելի։ hidden-ը կտրում է այն, auto-ը անհրաժեշտության դեպքում տալիս է ոլորում, scroll-ը նախատեսում է ոլորման մեխանիզմ։ overflow-x և overflow-y-ը կառավարում են առանձին ուղղությունները։ Երկար անբաժանելի տեքստի համար կարող է պետք լինել overflow-wrap: anywhere։ Արտահոսքի պատճառը հայտնաբերելու համար նախ ստուգում ենք չափերը։</a:t>
            </a:r>
          </a:p>
          <a:p xmlns:a="http://schemas.openxmlformats.org/drawingml/2006/main">
            <a:r>
              <a:t/>
            </a:r>
          </a:p>
          <a:p xmlns:a="http://schemas.openxmlformats.org/drawingml/2006/main">
            <a:r>
              <a:t>HTML օրինակ</a:t>
            </a:r>
          </a:p>
          <a:p xmlns:a="http://schemas.openxmlformats.org/drawingml/2006/main">
            <a:r>
              <a:t>&lt;div class="box"&gt;&lt;p&gt;Երկար ուսումնական տեքստ։&lt;/p&gt;&lt;p&gt;Երկար ուսումնական տեքստ։&lt;/p&gt;&lt;p&gt;Երկար ուսումնական տեքստ։&lt;/p&gt;&lt;p&gt;Երկար ուսումնական տեքստ։&lt;/p&gt;&lt;p&gt;Երկար ուսումնական տեքստ։&lt;/p&gt;&lt;p&gt;Երկար ուսումնական տեքստ։&lt;/p&gt;&lt;/div&gt;</a:t>
            </a:r>
          </a:p>
          <a:p xmlns:a="http://schemas.openxmlformats.org/drawingml/2006/main">
            <a:r>
              <a:t/>
            </a:r>
          </a:p>
          <a:p xmlns:a="http://schemas.openxmlformats.org/drawingml/2006/main">
            <a:r>
              <a:t>Առաջադրանք</a:t>
            </a:r>
          </a:p>
          <a:p xmlns:a="http://schemas.openxmlformats.org/drawingml/2006/main">
            <a:r>
              <a:t>Համեմատել auto և hidden արժեքները։</a:t>
            </a:r>
          </a:p>
          <a:p xmlns:a="http://schemas.openxmlformats.org/drawingml/2006/main">
            <a:r>
              <a:t>Աղբյուրներ՝ https://developer.mozilla.org/en-US/docs/Web/CSS և https://sass-lang.com/documentation/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3ecc2f913346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4d3ca5092043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98fc108f964b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eeb9f79ac844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9a68020ddb4a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b44d622a8043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429FEF-2129-471C-A866-744D89908F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DejaVu Sans"/>
                <a:ea typeface="DejaVu Sans"/>
                <a:cs typeface="DejaVu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44C176-0EB1-46AB-A1A8-6B2AE21E38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DejaVu Sans"/>
                <a:ea typeface="DejaVu Sans"/>
                <a:cs typeface="DejaVu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8CFEF9-12C4-4CF8-94ED-8E355CDF4E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DejaVu Sans"/>
                <a:ea typeface="DejaVu Sans"/>
                <a:cs typeface="DejaVu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7FFEAB-0B3F-46F5-9812-817137572E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DejaVu Sans"/>
                <a:ea typeface="DejaVu Sans"/>
                <a:cs typeface="DejaVu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ADB017-DC3A-4017-AA0A-1E6658480F6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DejaVu Sans"/>
                <a:ea typeface="DejaVu Sans"/>
                <a:cs typeface="DejaVu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E885C3-302D-4FC5-9B7A-309316B732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DejaVu Sans"/>
                <a:ea typeface="DejaVu Sans"/>
                <a:cs typeface="DejaVu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33C332-24F7-4574-8173-CD7565AB8A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DejaVu Sans"/>
                <a:ea typeface="DejaVu Sans"/>
                <a:cs typeface="DejaVu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AA5454-721B-4D9D-A095-3578CCE4EA9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DejaVu Sans"/>
                <a:ea typeface="DejaVu Sans"/>
                <a:cs typeface="DejaVu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9BA36B-6052-4916-A7F4-719E05EDDB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DejaVu Sans"/>
                <a:ea typeface="DejaVu Sans"/>
                <a:cs typeface="DejaVu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DA03C6-B806-40E6-9CA5-D106B61223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DejaVu Sans"/>
                <a:ea typeface="DejaVu Sans"/>
                <a:cs typeface="DejaVu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43bc17736e4f60" /><Relationship Type="http://schemas.openxmlformats.org/officeDocument/2006/relationships/slideLayout" Target="/ppt/slideLayouts/slideLayout1.xml" Id="R094d64a7088d48e9" /><Relationship Type="http://schemas.openxmlformats.org/officeDocument/2006/relationships/slideLayout" Target="/ppt/slideLayouts/slideLayout2.xml" Id="Rad4a0bf4913c4ad6" /><Relationship Type="http://schemas.openxmlformats.org/officeDocument/2006/relationships/slideLayout" Target="/ppt/slideLayouts/slideLayout3.xml" Id="R9fe651f5da7540b9" /><Relationship Type="http://schemas.openxmlformats.org/officeDocument/2006/relationships/slideLayout" Target="/ppt/slideLayouts/slideLayout4.xml" Id="R8abad38ab4a84a75" /><Relationship Type="http://schemas.openxmlformats.org/officeDocument/2006/relationships/slideLayout" Target="/ppt/slideLayouts/slideLayout5.xml" Id="R343806982f9a48ed" /><Relationship Type="http://schemas.openxmlformats.org/officeDocument/2006/relationships/slideLayout" Target="/ppt/slideLayouts/slideLayout6.xml" Id="Rd74d6ce46cf047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4d64a7088d48e9"/>
    <p:sldLayoutId xmlns:r="http://schemas.openxmlformats.org/officeDocument/2006/relationships" id="2147483650" r:id="Rad4a0bf4913c4ad6"/>
    <p:sldLayoutId xmlns:r="http://schemas.openxmlformats.org/officeDocument/2006/relationships" id="2147483651" r:id="R9fe651f5da7540b9"/>
    <p:sldLayoutId xmlns:r="http://schemas.openxmlformats.org/officeDocument/2006/relationships" id="2147483652" r:id="R8abad38ab4a84a75"/>
    <p:sldLayoutId xmlns:r="http://schemas.openxmlformats.org/officeDocument/2006/relationships" id="2147483653" r:id="R343806982f9a48ed"/>
    <p:sldLayoutId xmlns:r="http://schemas.openxmlformats.org/officeDocument/2006/relationships" id="2147483654" r:id="Rd74d6ce46cf04724"/>
  </p:sldLayoutIdLst>
  <p:txStyles>
    <p:titleStyle>
      <a:lvl1pPr xmlns:a="http://schemas.openxmlformats.org/drawingml/2006/main" algn="l">
        <a:lnSpc>
          <a:spcPct val="90000"/>
        </a:lnSpc>
        <a:spcBef>
          <a:spcPts val="0"/>
        </a:spcBef>
        <a:buNone/>
        <a:defRPr sz="4400">
          <a:solidFill>
            <a:schemeClr val="tx1"/>
          </a:solidFill>
          <a:latin typeface="DejaVu Sans"/>
          <a:ea typeface="DejaVu Sans"/>
          <a:cs typeface="DejaVu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DejaVu Sans"/>
          <a:ea typeface="DejaVu Sans"/>
          <a:cs typeface="DejaVu Sans"/>
        </a:defRPr>
      </a:lvl1pPr>
      <a:lvl2pPr xmlns:a="http://schemas.openxmlformats.org/drawingml/2006/main" marL="685800" indent="-228600" algn="l">
        <a:lnSpc>
          <a:spcPct val="90000"/>
        </a:lnSpc>
        <a:spcBef>
          <a:spcPts val="500"/>
        </a:spcBef>
        <a:buChar char="•"/>
        <a:defRPr sz="2400">
          <a:solidFill>
            <a:schemeClr val="tx1"/>
          </a:solidFill>
          <a:latin typeface="DejaVu Sans"/>
          <a:ea typeface="DejaVu Sans"/>
          <a:cs typeface="DejaVu Sans"/>
        </a:defRPr>
      </a:lvl2pPr>
      <a:lvl3pPr xmlns:a="http://schemas.openxmlformats.org/drawingml/2006/main" marL="1143000" indent="-228600" algn="l">
        <a:lnSpc>
          <a:spcPct val="90000"/>
        </a:lnSpc>
        <a:spcBef>
          <a:spcPts val="500"/>
        </a:spcBef>
        <a:buChar char="•"/>
        <a:defRPr sz="2000">
          <a:solidFill>
            <a:schemeClr val="tx1"/>
          </a:solidFill>
          <a:latin typeface="DejaVu Sans"/>
          <a:ea typeface="DejaVu Sans"/>
          <a:cs typeface="DejaVu Sans"/>
        </a:defRPr>
      </a:lvl3pPr>
      <a:lvl4pPr xmlns:a="http://schemas.openxmlformats.org/drawingml/2006/main" marL="1600200" indent="-228600" algn="l">
        <a:lnSpc>
          <a:spcPct val="90000"/>
        </a:lnSpc>
        <a:spcBef>
          <a:spcPts val="500"/>
        </a:spcBef>
        <a:buChar char="•"/>
        <a:defRPr sz="1800">
          <a:solidFill>
            <a:schemeClr val="tx1"/>
          </a:solidFill>
          <a:latin typeface="DejaVu Sans"/>
          <a:ea typeface="DejaVu Sans"/>
          <a:cs typeface="DejaVu Sans"/>
        </a:defRPr>
      </a:lvl4pPr>
      <a:lvl5pPr xmlns:a="http://schemas.openxmlformats.org/drawingml/2006/main" marL="2057400" indent="-228600" algn="l">
        <a:lnSpc>
          <a:spcPct val="90000"/>
        </a:lnSpc>
        <a:spcBef>
          <a:spcPts val="500"/>
        </a:spcBef>
        <a:buChar char="•"/>
        <a:defRPr sz="1800">
          <a:solidFill>
            <a:schemeClr val="tx1"/>
          </a:solidFill>
          <a:latin typeface="DejaVu Sans"/>
          <a:ea typeface="DejaVu Sans"/>
          <a:cs typeface="DejaVu Sans"/>
        </a:defRPr>
      </a:lvl5pPr>
      <a:lvl6pPr xmlns:a="http://schemas.openxmlformats.org/drawingml/2006/main" marL="2514600" indent="-228600" algn="l">
        <a:lnSpc>
          <a:spcPct val="90000"/>
        </a:lnSpc>
        <a:spcBef>
          <a:spcPts val="500"/>
        </a:spcBef>
        <a:buChar char="•"/>
        <a:defRPr sz="1800">
          <a:solidFill>
            <a:schemeClr val="tx1"/>
          </a:solidFill>
          <a:latin typeface="DejaVu Sans"/>
          <a:ea typeface="DejaVu Sans"/>
          <a:cs typeface="DejaVu Sans"/>
        </a:defRPr>
      </a:lvl6pPr>
      <a:lvl7pPr xmlns:a="http://schemas.openxmlformats.org/drawingml/2006/main" marL="2971800" indent="-228600" algn="l">
        <a:lnSpc>
          <a:spcPct val="90000"/>
        </a:lnSpc>
        <a:spcBef>
          <a:spcPts val="500"/>
        </a:spcBef>
        <a:buChar char="•"/>
        <a:defRPr sz="1800">
          <a:solidFill>
            <a:schemeClr val="tx1"/>
          </a:solidFill>
          <a:latin typeface="DejaVu Sans"/>
          <a:ea typeface="DejaVu Sans"/>
          <a:cs typeface="DejaVu Sans"/>
        </a:defRPr>
      </a:lvl7pPr>
      <a:lvl8pPr xmlns:a="http://schemas.openxmlformats.org/drawingml/2006/main" marL="3429000" indent="-228600" algn="l">
        <a:lnSpc>
          <a:spcPct val="90000"/>
        </a:lnSpc>
        <a:spcBef>
          <a:spcPts val="500"/>
        </a:spcBef>
        <a:buChar char="•"/>
        <a:defRPr sz="1800">
          <a:solidFill>
            <a:schemeClr val="tx1"/>
          </a:solidFill>
          <a:latin typeface="DejaVu Sans"/>
          <a:ea typeface="DejaVu Sans"/>
          <a:cs typeface="DejaVu Sans"/>
        </a:defRPr>
      </a:lvl8pPr>
      <a:lvl9pPr xmlns:a="http://schemas.openxmlformats.org/drawingml/2006/main" marL="3886200" indent="-228600" algn="l">
        <a:lnSpc>
          <a:spcPct val="90000"/>
        </a:lnSpc>
        <a:spcBef>
          <a:spcPts val="500"/>
        </a:spcBef>
        <a:buChar char="•"/>
        <a:defRPr sz="1800">
          <a:solidFill>
            <a:schemeClr val="tx1"/>
          </a:solidFill>
          <a:latin typeface="DejaVu Sans"/>
          <a:ea typeface="DejaVu Sans"/>
          <a:cs typeface="DejaVu Sans"/>
        </a:defRPr>
      </a:lvl9pPr>
    </p:bodyStyle>
    <p:otherStyle>
      <a:lvl1pPr xmlns:a="http://schemas.openxmlformats.org/drawingml/2006/main" marL="0" algn="l">
        <a:buNone/>
        <a:defRPr sz="1800">
          <a:solidFill>
            <a:schemeClr val="tx1"/>
          </a:solidFill>
          <a:latin typeface="DejaVu Sans"/>
          <a:ea typeface="DejaVu Sans"/>
          <a:cs typeface="DejaVu Sans"/>
        </a:defRPr>
      </a:lvl1pPr>
      <a:lvl2pPr xmlns:a="http://schemas.openxmlformats.org/drawingml/2006/main" marL="457200" algn="l">
        <a:buNone/>
        <a:defRPr sz="1800">
          <a:solidFill>
            <a:schemeClr val="tx1"/>
          </a:solidFill>
          <a:latin typeface="DejaVu Sans"/>
          <a:ea typeface="DejaVu Sans"/>
          <a:cs typeface="DejaVu Sans"/>
        </a:defRPr>
      </a:lvl2pPr>
      <a:lvl3pPr xmlns:a="http://schemas.openxmlformats.org/drawingml/2006/main" marL="914400" algn="l">
        <a:buNone/>
        <a:defRPr sz="1800">
          <a:solidFill>
            <a:schemeClr val="tx1"/>
          </a:solidFill>
          <a:latin typeface="DejaVu Sans"/>
          <a:ea typeface="DejaVu Sans"/>
          <a:cs typeface="DejaVu Sans"/>
        </a:defRPr>
      </a:lvl3pPr>
      <a:lvl4pPr xmlns:a="http://schemas.openxmlformats.org/drawingml/2006/main" marL="1371600" algn="l">
        <a:buNone/>
        <a:defRPr sz="1800">
          <a:solidFill>
            <a:schemeClr val="tx1"/>
          </a:solidFill>
          <a:latin typeface="DejaVu Sans"/>
          <a:ea typeface="DejaVu Sans"/>
          <a:cs typeface="DejaVu Sans"/>
        </a:defRPr>
      </a:lvl4pPr>
      <a:lvl5pPr xmlns:a="http://schemas.openxmlformats.org/drawingml/2006/main" marL="1828800" algn="l">
        <a:buNone/>
        <a:defRPr sz="1800">
          <a:solidFill>
            <a:schemeClr val="tx1"/>
          </a:solidFill>
          <a:latin typeface="DejaVu Sans"/>
          <a:ea typeface="DejaVu Sans"/>
          <a:cs typeface="DejaVu Sans"/>
        </a:defRPr>
      </a:lvl5pPr>
      <a:lvl6pPr xmlns:a="http://schemas.openxmlformats.org/drawingml/2006/main" marL="2286000" algn="l">
        <a:buNone/>
        <a:defRPr sz="1800">
          <a:solidFill>
            <a:schemeClr val="tx1"/>
          </a:solidFill>
          <a:latin typeface="DejaVu Sans"/>
          <a:ea typeface="DejaVu Sans"/>
          <a:cs typeface="DejaVu Sans"/>
        </a:defRPr>
      </a:lvl6pPr>
      <a:lvl7pPr xmlns:a="http://schemas.openxmlformats.org/drawingml/2006/main" marL="2743200" algn="l">
        <a:buNone/>
        <a:defRPr sz="1800">
          <a:solidFill>
            <a:schemeClr val="tx1"/>
          </a:solidFill>
          <a:latin typeface="DejaVu Sans"/>
          <a:ea typeface="DejaVu Sans"/>
          <a:cs typeface="DejaVu Sans"/>
        </a:defRPr>
      </a:lvl7pPr>
      <a:lvl8pPr xmlns:a="http://schemas.openxmlformats.org/drawingml/2006/main" marL="3200400" algn="l">
        <a:buNone/>
        <a:defRPr sz="1800">
          <a:solidFill>
            <a:schemeClr val="tx1"/>
          </a:solidFill>
          <a:latin typeface="DejaVu Sans"/>
          <a:ea typeface="DejaVu Sans"/>
          <a:cs typeface="DejaVu Sans"/>
        </a:defRPr>
      </a:lvl8pPr>
      <a:lvl9pPr xmlns:a="http://schemas.openxmlformats.org/drawingml/2006/main" marL="3657600" algn="l">
        <a:buNone/>
        <a:defRPr sz="1800">
          <a:solidFill>
            <a:schemeClr val="tx1"/>
          </a:solidFill>
          <a:latin typeface="DejaVu Sans"/>
          <a:ea typeface="DejaVu Sans"/>
          <a:cs typeface="DejaVu Sans"/>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DejaVu Sans"/>
        <a:cs typeface="DejaVu Sans"/>
      </a:majorFont>
      <a:minorFont>
        <a:latin typeface="DejaVu Sans"/>
        <a:ea typeface="DejaVu Sans"/>
        <a:cs typeface="DejaVu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b2c0ac3e394408" /><Relationship Type="http://schemas.openxmlformats.org/officeDocument/2006/relationships/notesSlide" Target="/ppt/notesSlides/notesSlide1.xml" Id="R6f7ef790dbf244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0f7ae11dff4cb8" /><Relationship Type="http://schemas.openxmlformats.org/officeDocument/2006/relationships/image" Target="/ppt/media/image.png" Id="R27109a1fe6e74ca6" /><Relationship Type="http://schemas.openxmlformats.org/officeDocument/2006/relationships/notesSlide" Target="/ppt/notesSlides/notesSlide2.xml" Id="R9195734dd82141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b8fb7777494449" /><Relationship Type="http://schemas.openxmlformats.org/officeDocument/2006/relationships/image" Target="/ppt/media/image2.png" Id="R583c15a73c964894" /><Relationship Type="http://schemas.openxmlformats.org/officeDocument/2006/relationships/notesSlide" Target="/ppt/notesSlides/notesSlide3.xml" Id="R26657102717a49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144b828bfe42d0" /><Relationship Type="http://schemas.openxmlformats.org/officeDocument/2006/relationships/image" Target="/ppt/media/image3.png" Id="Rc135b3f437274dbf" /><Relationship Type="http://schemas.openxmlformats.org/officeDocument/2006/relationships/notesSlide" Target="/ppt/notesSlides/notesSlide4.xml" Id="R4bc88e0c3cb345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b28d580b324d85" /><Relationship Type="http://schemas.openxmlformats.org/officeDocument/2006/relationships/image" Target="/ppt/media/image4.png" Id="R52ffeac74fb745cf" /><Relationship Type="http://schemas.openxmlformats.org/officeDocument/2006/relationships/notesSlide" Target="/ppt/notesSlides/notesSlide5.xml" Id="R45d14c063d8e41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743fca83a74d17" /><Relationship Type="http://schemas.openxmlformats.org/officeDocument/2006/relationships/image" Target="/ppt/media/image5.png" Id="Rb59c506be48b44de" /><Relationship Type="http://schemas.openxmlformats.org/officeDocument/2006/relationships/notesSlide" Target="/ppt/notesSlides/notesSlide6.xml" Id="R87d43beea84b4e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d96d8e44a374907" /><Relationship Type="http://schemas.openxmlformats.org/officeDocument/2006/relationships/image" Target="/ppt/media/image6.png" Id="R80483ea754874698" /><Relationship Type="http://schemas.openxmlformats.org/officeDocument/2006/relationships/notesSlide" Target="/ppt/notesSlides/notesSlide7.xml" Id="R3c1235502f554b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95b420113c4290" /><Relationship Type="http://schemas.openxmlformats.org/officeDocument/2006/relationships/image" Target="/ppt/media/image7.png" Id="R267f9195c4674e40" /><Relationship Type="http://schemas.openxmlformats.org/officeDocument/2006/relationships/notesSlide" Target="/ppt/notesSlides/notesSlide8.xml" Id="R40341b033afb43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115eeaa86c442f3" /><Relationship Type="http://schemas.openxmlformats.org/officeDocument/2006/relationships/image" Target="/ppt/media/image8.png" Id="R2de436852b514995" /><Relationship Type="http://schemas.openxmlformats.org/officeDocument/2006/relationships/notesSlide" Target="/ppt/notesSlides/notesSlide9.xml" Id="Rcd3fd3ccdb9644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a7b8bbe8c04697" /><Relationship Type="http://schemas.openxmlformats.org/officeDocument/2006/relationships/image" Target="/ppt/media/image9.png" Id="R26f5122dd69544bb" /><Relationship Type="http://schemas.openxmlformats.org/officeDocument/2006/relationships/notesSlide" Target="/ppt/notesSlides/notesSlide10.xml" Id="R083b5118a32f47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5dc7db8b074737" /><Relationship Type="http://schemas.openxmlformats.org/officeDocument/2006/relationships/image" Target="/ppt/media/image10.png" Id="R3334d722d9d84cf3" /><Relationship Type="http://schemas.openxmlformats.org/officeDocument/2006/relationships/notesSlide" Target="/ppt/notesSlides/notesSlide11.xml" Id="R45705338c23c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4389259bfc847ac" /><Relationship Type="http://schemas.openxmlformats.org/officeDocument/2006/relationships/image" Target="/ppt/media/image11.png" Id="Rbd6ff9a393434689" /><Relationship Type="http://schemas.openxmlformats.org/officeDocument/2006/relationships/notesSlide" Target="/ppt/notesSlides/notesSlide12.xml" Id="Rd9aac7c6c19541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05f0fc0b19a48f9" /><Relationship Type="http://schemas.openxmlformats.org/officeDocument/2006/relationships/image" Target="/ppt/media/image12.png" Id="R7d6fa25211aa4d4c" /><Relationship Type="http://schemas.openxmlformats.org/officeDocument/2006/relationships/notesSlide" Target="/ppt/notesSlides/notesSlide13.xml" Id="R8f786ac9d2b64a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b6d4a09d00240f3" /><Relationship Type="http://schemas.openxmlformats.org/officeDocument/2006/relationships/image" Target="/ppt/media/image13.png" Id="R0da484c1de324168" /><Relationship Type="http://schemas.openxmlformats.org/officeDocument/2006/relationships/notesSlide" Target="/ppt/notesSlides/notesSlide14.xml" Id="R86fe7c9cfa2447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0371260e61645a7" /><Relationship Type="http://schemas.openxmlformats.org/officeDocument/2006/relationships/image" Target="/ppt/media/image14.png" Id="R738f5fdf70e44e5f" /><Relationship Type="http://schemas.openxmlformats.org/officeDocument/2006/relationships/notesSlide" Target="/ppt/notesSlides/notesSlide15.xml" Id="R9ff344e272444f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318046d27f42c1" /><Relationship Type="http://schemas.openxmlformats.org/officeDocument/2006/relationships/image" Target="/ppt/media/image15.png" Id="R0ac8b991ede24436" /><Relationship Type="http://schemas.openxmlformats.org/officeDocument/2006/relationships/notesSlide" Target="/ppt/notesSlides/notesSlide16.xml" Id="R13dda58251aa48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adeb25a7d234bd5" /><Relationship Type="http://schemas.openxmlformats.org/officeDocument/2006/relationships/image" Target="/ppt/media/image16.png" Id="Rd7ebb7f8257d4a3f" /><Relationship Type="http://schemas.openxmlformats.org/officeDocument/2006/relationships/notesSlide" Target="/ppt/notesSlides/notesSlide17.xml" Id="Rf830ccbf1b7649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c000c7aba5f450d" /><Relationship Type="http://schemas.openxmlformats.org/officeDocument/2006/relationships/image" Target="/ppt/media/image17.png" Id="R77f16e1fd9b44a4d" /><Relationship Type="http://schemas.openxmlformats.org/officeDocument/2006/relationships/notesSlide" Target="/ppt/notesSlides/notesSlide18.xml" Id="Rfd725166c9c54c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fc9ff33adea4607" /><Relationship Type="http://schemas.openxmlformats.org/officeDocument/2006/relationships/image" Target="/ppt/media/image18.png" Id="Ra7e7f6f9f8254ef7" /><Relationship Type="http://schemas.openxmlformats.org/officeDocument/2006/relationships/notesSlide" Target="/ppt/notesSlides/notesSlide19.xml" Id="R63ee33332aec40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11034f6dcf4ca2" /><Relationship Type="http://schemas.openxmlformats.org/officeDocument/2006/relationships/image" Target="/ppt/media/image19.png" Id="R03a6d8304a224786" /><Relationship Type="http://schemas.openxmlformats.org/officeDocument/2006/relationships/notesSlide" Target="/ppt/notesSlides/notesSlide20.xml" Id="R22069a7c585d44e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259b800eac14483" /><Relationship Type="http://schemas.openxmlformats.org/officeDocument/2006/relationships/image" Target="/ppt/media/image20.png" Id="Re391cb059635449e" /><Relationship Type="http://schemas.openxmlformats.org/officeDocument/2006/relationships/notesSlide" Target="/ppt/notesSlides/notesSlide21.xml" Id="R84fb1a55ed0a47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47b0e0a2e564d31" /><Relationship Type="http://schemas.openxmlformats.org/officeDocument/2006/relationships/image" Target="/ppt/media/image21.png" Id="R24e8ce179fe347ab" /><Relationship Type="http://schemas.openxmlformats.org/officeDocument/2006/relationships/notesSlide" Target="/ppt/notesSlides/notesSlide22.xml" Id="R71b6ee44999643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da0ea5ac3384fbf" /><Relationship Type="http://schemas.openxmlformats.org/officeDocument/2006/relationships/image" Target="/ppt/media/image22.png" Id="Rd8f2cf2e875d4e63" /><Relationship Type="http://schemas.openxmlformats.org/officeDocument/2006/relationships/notesSlide" Target="/ppt/notesSlides/notesSlide23.xml" Id="R8c3edcb68994496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7004c86370f4082" /><Relationship Type="http://schemas.openxmlformats.org/officeDocument/2006/relationships/image" Target="/ppt/media/image23.png" Id="R2e95a52e1ea0462f" /><Relationship Type="http://schemas.openxmlformats.org/officeDocument/2006/relationships/notesSlide" Target="/ppt/notesSlides/notesSlide24.xml" Id="R7a1cdbf34b7a4b2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580e7594d534155" /><Relationship Type="http://schemas.openxmlformats.org/officeDocument/2006/relationships/image" Target="/ppt/media/image24.png" Id="R621b54a3e6e64b15" /><Relationship Type="http://schemas.openxmlformats.org/officeDocument/2006/relationships/notesSlide" Target="/ppt/notesSlides/notesSlide25.xml" Id="R1eee587aba7648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d59bc2022884d4f" /><Relationship Type="http://schemas.openxmlformats.org/officeDocument/2006/relationships/image" Target="/ppt/media/image25.png" Id="R0dc84c8708ff4cdc" /><Relationship Type="http://schemas.openxmlformats.org/officeDocument/2006/relationships/notesSlide" Target="/ppt/notesSlides/notesSlide26.xml" Id="R5818a171e8394e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7acf4f696af4da9" /><Relationship Type="http://schemas.openxmlformats.org/officeDocument/2006/relationships/image" Target="/ppt/media/image26.png" Id="R67fb1a9c60d04811" /><Relationship Type="http://schemas.openxmlformats.org/officeDocument/2006/relationships/notesSlide" Target="/ppt/notesSlides/notesSlide27.xml" Id="Rca8de524deda4ba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7b471cd7e5e484d" /><Relationship Type="http://schemas.openxmlformats.org/officeDocument/2006/relationships/image" Target="/ppt/media/image27.png" Id="R4dfbd2a377124c09" /><Relationship Type="http://schemas.openxmlformats.org/officeDocument/2006/relationships/notesSlide" Target="/ppt/notesSlides/notesSlide28.xml" Id="R256ffd9a22fd4bf8"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BC1EBA-76BF-4BD4-A357-C8E25BEA896B}"/>
              </a:ext>
            </a:extLst>
          </p:cNvPr>
          <p:cNvSpPr>
            <a:spLocks xmlns:a="http://schemas.openxmlformats.org/drawingml/2006/main" noGrp="1"/>
          </p:cNvSpPr>
          <p:nvPr/>
        </p:nvSpPr>
        <p:spPr>
          <a:xfrm xmlns:a="http://schemas.openxmlformats.org/drawingml/2006/main">
            <a:off x="609600" y="10477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B923C"/>
                </a:solidFill>
              </a:defRPr>
            </a:defPPr>
          </a:lstStyle>
          <a:p xmlns:a="http://schemas.openxmlformats.org/drawingml/2006/main">
            <a:pPr>
              <a:defRPr sz="7050" b="1">
                <a:solidFill>
                  <a:srgbClr val="FB923C"/>
                </a:solidFill>
              </a:defRPr>
            </a:pPr>
            <a:r>
              <a:rPr sz="7050" b="1">
                <a:solidFill>
                  <a:srgbClr val="FB923C"/>
                </a:solidFill>
              </a:rPr>
              <a:t>CSS</a:t>
            </a:r>
          </a:p>
        </p:txBody>
      </p:sp>
      <p:sp>
        <p:nvSpPr>
          <p:cNvPr id="2" name="">
            <a:extLst xmlns:a="http://schemas.openxmlformats.org/drawingml/2006/main">
              <a:ext uri="{FF2B5EF4-FFF2-40B4-BE49-F238E27FC236}">
                <a16:creationId xmlns:a16="http://schemas.microsoft.com/office/drawing/2014/main" id="{BD7708EB-E563-4DAD-A262-3CC1D8B1E976}"/>
              </a:ext>
            </a:extLst>
          </p:cNvPr>
          <p:cNvSpPr>
            <a:spLocks xmlns:a="http://schemas.openxmlformats.org/drawingml/2006/main" noGrp="1"/>
          </p:cNvSpPr>
          <p:nvPr/>
        </p:nvSpPr>
        <p:spPr>
          <a:xfrm xmlns:a="http://schemas.openxmlformats.org/drawingml/2006/main">
            <a:off x="609600" y="2571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stStyle>
          <a:p xmlns:a="http://schemas.openxmlformats.org/drawingml/2006/main">
            <a:pPr>
              <a:defRPr sz="3300" b="1">
                <a:solidFill>
                  <a:srgbClr val="FFFFFF"/>
                </a:solidFill>
              </a:defRPr>
            </a:pPr>
            <a:r>
              <a:rPr sz="3300" b="1">
                <a:solidFill>
                  <a:srgbClr val="FFFFFF"/>
                </a:solidFill>
              </a:rPr>
              <a:t>Դասախոսություն և օրինակներ</a:t>
            </a:r>
          </a:p>
        </p:txBody>
      </p:sp>
      <p:sp>
        <p:nvSpPr>
          <p:cNvPr id="3" name="">
            <a:extLst xmlns:a="http://schemas.openxmlformats.org/drawingml/2006/main">
              <a:ext uri="{FF2B5EF4-FFF2-40B4-BE49-F238E27FC236}">
                <a16:creationId xmlns:a16="http://schemas.microsoft.com/office/drawing/2014/main" id="{D49BFFC1-BF64-425D-8234-1C680F1ED668}"/>
              </a:ext>
            </a:extLst>
          </p:cNvPr>
          <p:cNvSpPr>
            <a:spLocks xmlns:a="http://schemas.openxmlformats.org/drawingml/2006/main" noGrp="1"/>
          </p:cNvSpPr>
          <p:nvPr/>
        </p:nvSpPr>
        <p:spPr>
          <a:xfrm xmlns:a="http://schemas.openxmlformats.org/drawingml/2006/main">
            <a:off x="609600" y="4000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2E8F0"/>
                </a:solidFill>
              </a:defRPr>
            </a:defPPr>
          </a:lstStyle>
          <a:p xmlns:a="http://schemas.openxmlformats.org/drawingml/2006/main">
            <a:pPr>
              <a:defRPr sz="2250" b="0">
                <a:solidFill>
                  <a:srgbClr val="E2E8F0"/>
                </a:solidFill>
              </a:defRPr>
            </a:pPr>
            <a:r>
              <a:rPr sz="2250" b="0">
                <a:solidFill>
                  <a:srgbClr val="E2E8F0"/>
                </a:solidFill>
              </a:rPr>
              <a:t>Սկզբնական թեմաներ և տեսանելի օրինակներ</a:t>
            </a:r>
          </a:p>
        </p:txBody>
      </p:sp>
      <p:sp>
        <p:nvSpPr>
          <p:cNvPr id="4" name="">
            <a:extLst xmlns:a="http://schemas.openxmlformats.org/drawingml/2006/main">
              <a:ext uri="{FF2B5EF4-FFF2-40B4-BE49-F238E27FC236}">
                <a16:creationId xmlns:a16="http://schemas.microsoft.com/office/drawing/2014/main" id="{2664EA58-4D68-48B5-8FFE-5EA9AD5FA576}"/>
              </a:ext>
            </a:extLst>
          </p:cNvPr>
          <p:cNvSpPr>
            <a:spLocks xmlns:a="http://schemas.openxmlformats.org/drawingml/2006/main" noGrp="1"/>
          </p:cNvSpPr>
          <p:nvPr/>
        </p:nvSpPr>
        <p:spPr>
          <a:xfrm xmlns:a="http://schemas.openxmlformats.org/drawingml/2006/main">
            <a:off x="609600" y="5810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Web Technologies • 12.10.2026</a:t>
            </a:r>
          </a:p>
        </p:txBody>
      </p:sp>
    </p:spTree>
    <p:extLst>
      <p:ext uri="{BB962C8B-B14F-4D97-AF65-F5344CB8AC3E}">
        <p14:creationId xmlns:p14="http://schemas.microsoft.com/office/powerpoint/2010/main" val="2064196677"/>
      </p:ext>
    </p:extLst>
  </p:cSld>
</p:sld>
</file>

<file path=ppt/slides/slide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3677E6-11E8-44D8-AB08-7CE6833D64FC}"/>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CSS-ի դերը և շարահյուսությունը</a:t>
            </a:r>
          </a:p>
        </p:txBody>
      </p:sp>
      <p:sp>
        <p:nvSpPr>
          <p:cNvPr id="2" name="">
            <a:extLst xmlns:a="http://schemas.openxmlformats.org/drawingml/2006/main">
              <a:ext uri="{FF2B5EF4-FFF2-40B4-BE49-F238E27FC236}">
                <a16:creationId xmlns:a16="http://schemas.microsoft.com/office/drawing/2014/main" id="{07129E06-2A5E-41E9-8690-6FF0ECD95708}"/>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CSS-ը կառավարում է HTML տարրերի տեսքը։</a:t>
            </a:r>
          </a:p>
        </p:txBody>
      </p:sp>
      <p:sp>
        <p:nvSpPr>
          <p:cNvPr id="3" name="">
            <a:extLst xmlns:a="http://schemas.openxmlformats.org/drawingml/2006/main">
              <a:ext uri="{FF2B5EF4-FFF2-40B4-BE49-F238E27FC236}">
                <a16:creationId xmlns:a16="http://schemas.microsoft.com/office/drawing/2014/main" id="{21F19F22-60C3-48AE-85E6-276ED75C4184}"/>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A6B856C2-4C92-4AD4-B19A-AE4593AD4163}"/>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h2 {</a:t>
            </a:r>
          </a:p>
          <a:p xmlns:a="http://schemas.openxmlformats.org/drawingml/2006/main">
            <a:pPr>
              <a:defRPr sz="1650" b="0">
                <a:solidFill>
                  <a:srgbClr val="E2E8F0"/>
                </a:solidFill>
              </a:defRPr>
            </a:pPr>
            <a:r>
              <a:rPr sz="1650" b="0">
                <a:solidFill>
                  <a:srgbClr val="E2E8F0"/>
                </a:solidFill>
              </a:rPr>
              <a:t>  color: #2563eb;</a:t>
            </a:r>
          </a:p>
          <a:p xmlns:a="http://schemas.openxmlformats.org/drawingml/2006/main">
            <a:pPr>
              <a:defRPr sz="1650" b="0">
                <a:solidFill>
                  <a:srgbClr val="E2E8F0"/>
                </a:solidFill>
              </a:defRPr>
            </a:pPr>
            <a:r>
              <a:rPr sz="1650" b="0">
                <a:solidFill>
                  <a:srgbClr val="E2E8F0"/>
                </a:solidFill>
              </a:rPr>
              <a:t>  font-size: 32px;</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072C4E78-D2A9-4C01-A170-DC0001828AED}"/>
              </a:ext>
            </a:extLst>
          </p:cNvPr>
          <p:cNvPicPr>
            <a:picLocks xmlns:a="http://schemas.openxmlformats.org/drawingml/2006/main" noChangeAspect="1"/>
          </p:cNvPicPr>
          <p:nvPr/>
        </p:nvPicPr>
        <p:blipFill>
          <a:blip xmlns:r="http://schemas.openxmlformats.org/officeDocument/2006/relationships" xmlns:a="http://schemas.openxmlformats.org/drawingml/2006/main" r:embed="R27109a1fe6e74ca6"/>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CFAB5A-087B-441E-BC2F-D5ADA500F198}"/>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Վերնագիրը կապույտ է և ունի 32px չափ։</a:t>
            </a:r>
          </a:p>
        </p:txBody>
      </p:sp>
      <p:sp>
        <p:nvSpPr>
          <p:cNvPr id="7" name="">
            <a:extLst xmlns:a="http://schemas.openxmlformats.org/drawingml/2006/main">
              <a:ext uri="{FF2B5EF4-FFF2-40B4-BE49-F238E27FC236}">
                <a16:creationId xmlns:a16="http://schemas.microsoft.com/office/drawing/2014/main" id="{42D2AD70-B7C2-4E65-ACBE-C2EDF6A642A5}"/>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02</a:t>
            </a:r>
          </a:p>
        </p:txBody>
      </p:sp>
    </p:spTree>
    <p:extLst>
      <p:ext uri="{BB962C8B-B14F-4D97-AF65-F5344CB8AC3E}">
        <p14:creationId xmlns:p14="http://schemas.microsoft.com/office/powerpoint/2010/main" val="1051203877"/>
      </p:ext>
    </p:extLst>
  </p:cSld>
</p:sld>
</file>

<file path=ppt/slides/slide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AEFD76-70C1-4E16-80D4-B19F7E27F8F4}"/>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Ոճերի միացման երեք եղանակ</a:t>
            </a:r>
          </a:p>
        </p:txBody>
      </p:sp>
      <p:sp>
        <p:nvSpPr>
          <p:cNvPr id="2" name="">
            <a:extLst xmlns:a="http://schemas.openxmlformats.org/drawingml/2006/main">
              <a:ext uri="{FF2B5EF4-FFF2-40B4-BE49-F238E27FC236}">
                <a16:creationId xmlns:a16="http://schemas.microsoft.com/office/drawing/2014/main" id="{17198517-46FD-453C-8685-2C3CE8AB85A6}"/>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Արտաքին ֆայլը հարմար է մի քանի էջի համար։</a:t>
            </a:r>
          </a:p>
        </p:txBody>
      </p:sp>
      <p:sp>
        <p:nvSpPr>
          <p:cNvPr id="3" name="">
            <a:extLst xmlns:a="http://schemas.openxmlformats.org/drawingml/2006/main">
              <a:ext uri="{FF2B5EF4-FFF2-40B4-BE49-F238E27FC236}">
                <a16:creationId xmlns:a16="http://schemas.microsoft.com/office/drawing/2014/main" id="{1E365F53-E180-404B-9FD0-FBBD5D3E9DB3}"/>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E4BCDF65-3CED-4F60-B7D0-68D9E8208D89}"/>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&lt;!-- HTML-ի head-ում --&gt;</a:t>
            </a:r>
          </a:p>
          <a:p xmlns:a="http://schemas.openxmlformats.org/drawingml/2006/main">
            <a:pPr>
              <a:defRPr sz="1650" b="0">
                <a:solidFill>
                  <a:srgbClr val="E2E8F0"/>
                </a:solidFill>
              </a:defRPr>
            </a:pPr>
            <a:r>
              <a:rPr sz="1650" b="0">
                <a:solidFill>
                  <a:srgbClr val="E2E8F0"/>
                </a:solidFill>
              </a:rPr>
              <a:t>&lt;link rel="stylesheet" href="styles.css"&gt;</a:t>
            </a:r>
          </a:p>
          <a:p xmlns:a="http://schemas.openxmlformats.org/drawingml/2006/main">
            <a:r>
              <a:t/>
            </a:r>
          </a:p>
          <a:p xmlns:a="http://schemas.openxmlformats.org/drawingml/2006/main">
            <a:pPr>
              <a:defRPr sz="1650" b="0">
                <a:solidFill>
                  <a:srgbClr val="E2E8F0"/>
                </a:solidFill>
              </a:defRPr>
            </a:pPr>
            <a:r>
              <a:rPr sz="1650" b="0">
                <a:solidFill>
                  <a:srgbClr val="E2E8F0"/>
                </a:solidFill>
              </a:rPr>
              <a:t>&lt;style&gt;p { color: navy; }&lt;/style&gt;</a:t>
            </a:r>
          </a:p>
          <a:p xmlns:a="http://schemas.openxmlformats.org/drawingml/2006/main">
            <a:pPr>
              <a:defRPr sz="1650" b="0">
                <a:solidFill>
                  <a:srgbClr val="E2E8F0"/>
                </a:solidFill>
              </a:defRPr>
            </a:pPr>
            <a:r>
              <a:rPr sz="1650" b="0">
                <a:solidFill>
                  <a:srgbClr val="E2E8F0"/>
                </a:solidFill>
              </a:rPr>
              <a:t>&lt;p style="color: orange"&gt;Բարև&lt;/p&gt;</a:t>
            </a:r>
          </a:p>
        </p:txBody>
      </p:sp>
      <p:pic>
        <p:nvPicPr>
          <p:cNvPr id="5" name="">
            <a:extLst xmlns:a="http://schemas.openxmlformats.org/drawingml/2006/main">
              <a:ext uri="{FF2B5EF4-FFF2-40B4-BE49-F238E27FC236}">
                <a16:creationId xmlns:a16="http://schemas.microsoft.com/office/drawing/2014/main" id="{929E0B6D-BA17-40A1-9124-7DF0A3033973}"/>
              </a:ext>
            </a:extLst>
          </p:cNvPr>
          <p:cNvPicPr>
            <a:picLocks xmlns:a="http://schemas.openxmlformats.org/drawingml/2006/main" noChangeAspect="1"/>
          </p:cNvPicPr>
          <p:nvPr/>
        </p:nvPicPr>
        <p:blipFill>
          <a:blip xmlns:r="http://schemas.openxmlformats.org/officeDocument/2006/relationships" xmlns:a="http://schemas.openxmlformats.org/drawingml/2006/main" r:embed="R583c15a73c964894"/>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B5B0A9-9ADE-40AC-AE31-A07AD6189C1D}"/>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Սովորական հայտարարությունների դեպքում այս պարբերությունը նարնջագույն է։</a:t>
            </a:r>
          </a:p>
        </p:txBody>
      </p:sp>
      <p:sp>
        <p:nvSpPr>
          <p:cNvPr id="7" name="">
            <a:extLst xmlns:a="http://schemas.openxmlformats.org/drawingml/2006/main">
              <a:ext uri="{FF2B5EF4-FFF2-40B4-BE49-F238E27FC236}">
                <a16:creationId xmlns:a16="http://schemas.microsoft.com/office/drawing/2014/main" id="{27B243E5-29DA-4D5F-B3DC-BE997D00DB80}"/>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03</a:t>
            </a:r>
          </a:p>
        </p:txBody>
      </p:sp>
    </p:spTree>
    <p:extLst>
      <p:ext uri="{BB962C8B-B14F-4D97-AF65-F5344CB8AC3E}">
        <p14:creationId xmlns:p14="http://schemas.microsoft.com/office/powerpoint/2010/main" val="1135000587"/>
      </p:ext>
    </p:extLst>
  </p:cSld>
</p:sld>
</file>

<file path=ppt/slides/slide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410EE5-A2E0-4697-8A32-5071F49FE7D2}"/>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Հիմնական ընտրիչներ</a:t>
            </a:r>
          </a:p>
        </p:txBody>
      </p:sp>
      <p:sp>
        <p:nvSpPr>
          <p:cNvPr id="2" name="">
            <a:extLst xmlns:a="http://schemas.openxmlformats.org/drawingml/2006/main">
              <a:ext uri="{FF2B5EF4-FFF2-40B4-BE49-F238E27FC236}">
                <a16:creationId xmlns:a16="http://schemas.microsoft.com/office/drawing/2014/main" id="{43E66EB3-45E2-4673-B922-1EB7C6DA1688}"/>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Տարր, class, id և հատկանիշ։</a:t>
            </a:r>
          </a:p>
        </p:txBody>
      </p:sp>
      <p:sp>
        <p:nvSpPr>
          <p:cNvPr id="3" name="">
            <a:extLst xmlns:a="http://schemas.openxmlformats.org/drawingml/2006/main">
              <a:ext uri="{FF2B5EF4-FFF2-40B4-BE49-F238E27FC236}">
                <a16:creationId xmlns:a16="http://schemas.microsoft.com/office/drawing/2014/main" id="{9794ADE0-C074-48CF-B613-D05F15FDF31C}"/>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2B8A41BF-D392-48C6-BBAE-9EC4E9BED4ED}"/>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p { color: #334155; }</a:t>
            </a:r>
          </a:p>
          <a:p xmlns:a="http://schemas.openxmlformats.org/drawingml/2006/main">
            <a:pPr>
              <a:defRPr sz="1650" b="0">
                <a:solidFill>
                  <a:srgbClr val="E2E8F0"/>
                </a:solidFill>
              </a:defRPr>
            </a:pPr>
            <a:r>
              <a:rPr sz="1650" b="0">
                <a:solidFill>
                  <a:srgbClr val="E2E8F0"/>
                </a:solidFill>
              </a:rPr>
              <a:t>.note { background: #fff3cd; }</a:t>
            </a:r>
          </a:p>
          <a:p xmlns:a="http://schemas.openxmlformats.org/drawingml/2006/main">
            <a:pPr>
              <a:defRPr sz="1650" b="0">
                <a:solidFill>
                  <a:srgbClr val="E2E8F0"/>
                </a:solidFill>
              </a:defRPr>
            </a:pPr>
            <a:r>
              <a:rPr sz="1650" b="0">
                <a:solidFill>
                  <a:srgbClr val="E2E8F0"/>
                </a:solidFill>
              </a:rPr>
              <a:t>#main-title { color: #2563eb; }</a:t>
            </a:r>
          </a:p>
          <a:p xmlns:a="http://schemas.openxmlformats.org/drawingml/2006/main">
            <a:pPr>
              <a:defRPr sz="1650" b="0">
                <a:solidFill>
                  <a:srgbClr val="E2E8F0"/>
                </a:solidFill>
              </a:defRPr>
            </a:pPr>
            <a:r>
              <a:rPr sz="1650" b="0">
                <a:solidFill>
                  <a:srgbClr val="E2E8F0"/>
                </a:solidFill>
              </a:rPr>
              <a:t>input[type="email"] { border: 2px solid orange; }</a:t>
            </a:r>
          </a:p>
        </p:txBody>
      </p:sp>
      <p:pic>
        <p:nvPicPr>
          <p:cNvPr id="5" name="">
            <a:extLst xmlns:a="http://schemas.openxmlformats.org/drawingml/2006/main">
              <a:ext uri="{FF2B5EF4-FFF2-40B4-BE49-F238E27FC236}">
                <a16:creationId xmlns:a16="http://schemas.microsoft.com/office/drawing/2014/main" id="{57900E80-7F89-4F17-B226-88E5097351C3}"/>
              </a:ext>
            </a:extLst>
          </p:cNvPr>
          <p:cNvPicPr>
            <a:picLocks xmlns:a="http://schemas.openxmlformats.org/drawingml/2006/main" noChangeAspect="1"/>
          </p:cNvPicPr>
          <p:nvPr/>
        </p:nvPicPr>
        <p:blipFill>
          <a:blip xmlns:r="http://schemas.openxmlformats.org/officeDocument/2006/relationships" xmlns:a="http://schemas.openxmlformats.org/drawingml/2006/main" r:embed="Rc135b3f437274dbf"/>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3EEF51-3638-4231-9BD0-6E8178CC918D}"/>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Մի քանի ընտրիչ տարբեր կերպ ոճավորում են նույն էջը։</a:t>
            </a:r>
          </a:p>
        </p:txBody>
      </p:sp>
      <p:sp>
        <p:nvSpPr>
          <p:cNvPr id="7" name="">
            <a:extLst xmlns:a="http://schemas.openxmlformats.org/drawingml/2006/main">
              <a:ext uri="{FF2B5EF4-FFF2-40B4-BE49-F238E27FC236}">
                <a16:creationId xmlns:a16="http://schemas.microsoft.com/office/drawing/2014/main" id="{5454B054-327E-4459-A65D-4BC64ACFCF9C}"/>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04</a:t>
            </a:r>
          </a:p>
        </p:txBody>
      </p:sp>
    </p:spTree>
    <p:extLst>
      <p:ext uri="{BB962C8B-B14F-4D97-AF65-F5344CB8AC3E}">
        <p14:creationId xmlns:p14="http://schemas.microsoft.com/office/powerpoint/2010/main" val="823129495"/>
      </p:ext>
    </p:extLst>
  </p:cSld>
</p:sld>
</file>

<file path=ppt/slides/slide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54D9CE-2EC8-4327-86BA-776BC4C78E1C}"/>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Համակցված ընտրիչներ</a:t>
            </a:r>
          </a:p>
        </p:txBody>
      </p:sp>
      <p:sp>
        <p:nvSpPr>
          <p:cNvPr id="2" name="">
            <a:extLst xmlns:a="http://schemas.openxmlformats.org/drawingml/2006/main">
              <a:ext uri="{FF2B5EF4-FFF2-40B4-BE49-F238E27FC236}">
                <a16:creationId xmlns:a16="http://schemas.microsoft.com/office/drawing/2014/main" id="{01C5533C-B3FA-4AF6-90CE-44737D88ADD0}"/>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Բացատը և &gt; նշանը տարբեր կապեր են ընտրում։</a:t>
            </a:r>
          </a:p>
        </p:txBody>
      </p:sp>
      <p:sp>
        <p:nvSpPr>
          <p:cNvPr id="3" name="">
            <a:extLst xmlns:a="http://schemas.openxmlformats.org/drawingml/2006/main">
              <a:ext uri="{FF2B5EF4-FFF2-40B4-BE49-F238E27FC236}">
                <a16:creationId xmlns:a16="http://schemas.microsoft.com/office/drawing/2014/main" id="{D05E949C-B38D-4A84-8376-4C17EF492680}"/>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7ED69DD2-F9BB-4C57-A610-C6AEC6BF7EDD}"/>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.menu a { color: #2563eb; }</a:t>
            </a:r>
          </a:p>
          <a:p xmlns:a="http://schemas.openxmlformats.org/drawingml/2006/main">
            <a:pPr>
              <a:defRPr sz="1650" b="0">
                <a:solidFill>
                  <a:srgbClr val="E2E8F0"/>
                </a:solidFill>
              </a:defRPr>
            </a:pPr>
            <a:r>
              <a:rPr sz="1650" b="0">
                <a:solidFill>
                  <a:srgbClr val="E2E8F0"/>
                </a:solidFill>
              </a:rPr>
              <a:t>.menu &gt; a { font-weight: bold; }</a:t>
            </a:r>
          </a:p>
          <a:p xmlns:a="http://schemas.openxmlformats.org/drawingml/2006/main">
            <a:pPr>
              <a:defRPr sz="1650" b="0">
                <a:solidFill>
                  <a:srgbClr val="E2E8F0"/>
                </a:solidFill>
              </a:defRPr>
            </a:pPr>
            <a:r>
              <a:rPr sz="1650" b="0">
                <a:solidFill>
                  <a:srgbClr val="E2E8F0"/>
                </a:solidFill>
              </a:rPr>
              <a:t>h2 + p { background: #fff3cd; }</a:t>
            </a:r>
          </a:p>
        </p:txBody>
      </p:sp>
      <p:pic>
        <p:nvPicPr>
          <p:cNvPr id="5" name="">
            <a:extLst xmlns:a="http://schemas.openxmlformats.org/drawingml/2006/main">
              <a:ext uri="{FF2B5EF4-FFF2-40B4-BE49-F238E27FC236}">
                <a16:creationId xmlns:a16="http://schemas.microsoft.com/office/drawing/2014/main" id="{2300F03D-8577-4287-85E9-950FA5C40FDE}"/>
              </a:ext>
            </a:extLst>
          </p:cNvPr>
          <p:cNvPicPr>
            <a:picLocks xmlns:a="http://schemas.openxmlformats.org/drawingml/2006/main" noChangeAspect="1"/>
          </p:cNvPicPr>
          <p:nvPr/>
        </p:nvPicPr>
        <p:blipFill>
          <a:blip xmlns:r="http://schemas.openxmlformats.org/officeDocument/2006/relationships" xmlns:a="http://schemas.openxmlformats.org/drawingml/2006/main" r:embed="R52ffeac74fb745cf"/>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EF406D-F06F-4DDA-96BC-FDF922C55786}"/>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Երկու հղումներն էլ կապույտ են, միայն ուղիղ հղումը՝ թավ։</a:t>
            </a:r>
          </a:p>
        </p:txBody>
      </p:sp>
      <p:sp>
        <p:nvSpPr>
          <p:cNvPr id="7" name="">
            <a:extLst xmlns:a="http://schemas.openxmlformats.org/drawingml/2006/main">
              <a:ext uri="{FF2B5EF4-FFF2-40B4-BE49-F238E27FC236}">
                <a16:creationId xmlns:a16="http://schemas.microsoft.com/office/drawing/2014/main" id="{3B11BA5D-AAA3-4B36-903F-640391BF58B8}"/>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05</a:t>
            </a:r>
          </a:p>
        </p:txBody>
      </p:sp>
    </p:spTree>
    <p:extLst>
      <p:ext uri="{BB962C8B-B14F-4D97-AF65-F5344CB8AC3E}">
        <p14:creationId xmlns:p14="http://schemas.microsoft.com/office/powerpoint/2010/main" val="411824340"/>
      </p:ext>
    </p:extLst>
  </p:cSld>
</p:sld>
</file>

<file path=ppt/slides/slide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59DD31-A6E3-41CC-8816-943138EE16ED}"/>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Կասկադավորում</a:t>
            </a:r>
          </a:p>
        </p:txBody>
      </p:sp>
      <p:sp>
        <p:nvSpPr>
          <p:cNvPr id="2" name="">
            <a:extLst xmlns:a="http://schemas.openxmlformats.org/drawingml/2006/main">
              <a:ext uri="{FF2B5EF4-FFF2-40B4-BE49-F238E27FC236}">
                <a16:creationId xmlns:a16="http://schemas.microsoft.com/office/drawing/2014/main" id="{3266F726-E451-409A-B4FA-B8C812D21F19}"/>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Բրաուզերը որոշում է յուրաքանչյուր հատկության հաղթող արժեքը։</a:t>
            </a:r>
          </a:p>
        </p:txBody>
      </p:sp>
      <p:sp>
        <p:nvSpPr>
          <p:cNvPr id="3" name="">
            <a:extLst xmlns:a="http://schemas.openxmlformats.org/drawingml/2006/main">
              <a:ext uri="{FF2B5EF4-FFF2-40B4-BE49-F238E27FC236}">
                <a16:creationId xmlns:a16="http://schemas.microsoft.com/office/drawing/2014/main" id="{6D77297F-6A72-4BA7-8830-793022D5199C}"/>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DD403D58-0081-45F9-B9F0-747BE915CBEF}"/>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.note { color: blue; }</a:t>
            </a:r>
          </a:p>
          <a:p xmlns:a="http://schemas.openxmlformats.org/drawingml/2006/main">
            <a:pPr>
              <a:defRPr sz="1650" b="0">
                <a:solidFill>
                  <a:srgbClr val="E2E8F0"/>
                </a:solidFill>
              </a:defRPr>
            </a:pPr>
            <a:r>
              <a:rPr sz="1650" b="0">
                <a:solidFill>
                  <a:srgbClr val="E2E8F0"/>
                </a:solidFill>
              </a:rPr>
              <a:t>.note { color: #ea580c; }</a:t>
            </a:r>
          </a:p>
        </p:txBody>
      </p:sp>
      <p:pic>
        <p:nvPicPr>
          <p:cNvPr id="5" name="">
            <a:extLst xmlns:a="http://schemas.openxmlformats.org/drawingml/2006/main">
              <a:ext uri="{FF2B5EF4-FFF2-40B4-BE49-F238E27FC236}">
                <a16:creationId xmlns:a16="http://schemas.microsoft.com/office/drawing/2014/main" id="{55EB55E4-A59F-4087-A80C-99FA713014F6}"/>
              </a:ext>
            </a:extLst>
          </p:cNvPr>
          <p:cNvPicPr>
            <a:picLocks xmlns:a="http://schemas.openxmlformats.org/drawingml/2006/main" noChangeAspect="1"/>
          </p:cNvPicPr>
          <p:nvPr/>
        </p:nvPicPr>
        <p:blipFill>
          <a:blip xmlns:r="http://schemas.openxmlformats.org/officeDocument/2006/relationships" xmlns:a="http://schemas.openxmlformats.org/drawingml/2006/main" r:embed="Rb59c506be48b44de"/>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763119C-022F-4D68-ABC7-FB64B34CDBA1}"/>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Նույն կշռով երկու կանոններից հաղթում է վերջինը։</a:t>
            </a:r>
          </a:p>
        </p:txBody>
      </p:sp>
      <p:sp>
        <p:nvSpPr>
          <p:cNvPr id="7" name="">
            <a:extLst xmlns:a="http://schemas.openxmlformats.org/drawingml/2006/main">
              <a:ext uri="{FF2B5EF4-FFF2-40B4-BE49-F238E27FC236}">
                <a16:creationId xmlns:a16="http://schemas.microsoft.com/office/drawing/2014/main" id="{EAAE80A0-5462-4FC8-A650-1E5B54E49415}"/>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06</a:t>
            </a:r>
          </a:p>
        </p:txBody>
      </p:sp>
    </p:spTree>
    <p:extLst>
      <p:ext uri="{BB962C8B-B14F-4D97-AF65-F5344CB8AC3E}">
        <p14:creationId xmlns:p14="http://schemas.microsoft.com/office/powerpoint/2010/main" val="1942791091"/>
      </p:ext>
    </p:extLst>
  </p:cSld>
</p:sld>
</file>

<file path=ppt/slides/slide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A9E51-1ECE-42E7-963E-2C7E8B4EB611}"/>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Ընտրիչների առաջնահերթություն</a:t>
            </a:r>
          </a:p>
        </p:txBody>
      </p:sp>
      <p:sp>
        <p:nvSpPr>
          <p:cNvPr id="2" name="">
            <a:extLst xmlns:a="http://schemas.openxmlformats.org/drawingml/2006/main">
              <a:ext uri="{FF2B5EF4-FFF2-40B4-BE49-F238E27FC236}">
                <a16:creationId xmlns:a16="http://schemas.microsoft.com/office/drawing/2014/main" id="{56AC3417-606C-4941-9A56-EC512FA11807}"/>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Կշիռը համեմատվում է երեք բաղադրիչով։</a:t>
            </a:r>
          </a:p>
        </p:txBody>
      </p:sp>
      <p:sp>
        <p:nvSpPr>
          <p:cNvPr id="3" name="">
            <a:extLst xmlns:a="http://schemas.openxmlformats.org/drawingml/2006/main">
              <a:ext uri="{FF2B5EF4-FFF2-40B4-BE49-F238E27FC236}">
                <a16:creationId xmlns:a16="http://schemas.microsoft.com/office/drawing/2014/main" id="{3A8F6B54-B4AD-4C8F-AE61-0617126D8A34}"/>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0B3C44B4-4177-4D66-92FA-15E134BE9659}"/>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p { color: blue; }        /* 0-0-1 */</a:t>
            </a:r>
          </a:p>
          <a:p xmlns:a="http://schemas.openxmlformats.org/drawingml/2006/main">
            <a:pPr>
              <a:defRPr sz="1650" b="0">
                <a:solidFill>
                  <a:srgbClr val="E2E8F0"/>
                </a:solidFill>
              </a:defRPr>
            </a:pPr>
            <a:r>
              <a:rPr sz="1650" b="0">
                <a:solidFill>
                  <a:srgbClr val="E2E8F0"/>
                </a:solidFill>
              </a:rPr>
              <a:t>.note { color: orange; }  /* 0-1-0 */</a:t>
            </a:r>
          </a:p>
          <a:p xmlns:a="http://schemas.openxmlformats.org/drawingml/2006/main">
            <a:pPr>
              <a:defRPr sz="1650" b="0">
                <a:solidFill>
                  <a:srgbClr val="E2E8F0"/>
                </a:solidFill>
              </a:defRPr>
            </a:pPr>
            <a:r>
              <a:rPr sz="1650" b="0">
                <a:solidFill>
                  <a:srgbClr val="E2E8F0"/>
                </a:solidFill>
              </a:rPr>
              <a:t>#title { color: #16a34a; } /* 1-0-0 */</a:t>
            </a:r>
          </a:p>
        </p:txBody>
      </p:sp>
      <p:pic>
        <p:nvPicPr>
          <p:cNvPr id="5" name="">
            <a:extLst xmlns:a="http://schemas.openxmlformats.org/drawingml/2006/main">
              <a:ext uri="{FF2B5EF4-FFF2-40B4-BE49-F238E27FC236}">
                <a16:creationId xmlns:a16="http://schemas.microsoft.com/office/drawing/2014/main" id="{59C6AAC8-4A0C-4C79-8C13-F34A90D97AF8}"/>
              </a:ext>
            </a:extLst>
          </p:cNvPr>
          <p:cNvPicPr>
            <a:picLocks xmlns:a="http://schemas.openxmlformats.org/drawingml/2006/main" noChangeAspect="1"/>
          </p:cNvPicPr>
          <p:nvPr/>
        </p:nvPicPr>
        <p:blipFill>
          <a:blip xmlns:r="http://schemas.openxmlformats.org/officeDocument/2006/relationships" xmlns:a="http://schemas.openxmlformats.org/drawingml/2006/main" r:embed="R80483ea754874698"/>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8EE1CA-768E-44B7-81F6-665098997970}"/>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Կանաչը հաղթում է, քանի որ ID ընտրիչն ունի ավելի մեծ կշիռ։</a:t>
            </a:r>
          </a:p>
        </p:txBody>
      </p:sp>
      <p:sp>
        <p:nvSpPr>
          <p:cNvPr id="7" name="">
            <a:extLst xmlns:a="http://schemas.openxmlformats.org/drawingml/2006/main">
              <a:ext uri="{FF2B5EF4-FFF2-40B4-BE49-F238E27FC236}">
                <a16:creationId xmlns:a16="http://schemas.microsoft.com/office/drawing/2014/main" id="{4F8CDFCB-6874-4000-B886-8AEC69B67F5C}"/>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07</a:t>
            </a:r>
          </a:p>
        </p:txBody>
      </p:sp>
    </p:spTree>
    <p:extLst>
      <p:ext uri="{BB962C8B-B14F-4D97-AF65-F5344CB8AC3E}">
        <p14:creationId xmlns:p14="http://schemas.microsoft.com/office/powerpoint/2010/main" val="1600640871"/>
      </p:ext>
    </p:extLst>
  </p:cSld>
</p:sld>
</file>

<file path=ppt/slides/slide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B69722-13F7-4A0B-9B56-8B5F17B07B1F}"/>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Ժառանգում</a:t>
            </a:r>
          </a:p>
        </p:txBody>
      </p:sp>
      <p:sp>
        <p:nvSpPr>
          <p:cNvPr id="2" name="">
            <a:extLst xmlns:a="http://schemas.openxmlformats.org/drawingml/2006/main">
              <a:ext uri="{FF2B5EF4-FFF2-40B4-BE49-F238E27FC236}">
                <a16:creationId xmlns:a16="http://schemas.microsoft.com/office/drawing/2014/main" id="{23612DE1-7BCD-4396-B0D3-11A6ACA1C707}"/>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Որոշ հատկություններ փոխանցվում են ծնողից զավակին։</a:t>
            </a:r>
          </a:p>
        </p:txBody>
      </p:sp>
      <p:sp>
        <p:nvSpPr>
          <p:cNvPr id="3" name="">
            <a:extLst xmlns:a="http://schemas.openxmlformats.org/drawingml/2006/main">
              <a:ext uri="{FF2B5EF4-FFF2-40B4-BE49-F238E27FC236}">
                <a16:creationId xmlns:a16="http://schemas.microsoft.com/office/drawing/2014/main" id="{EBD787F2-E1BF-4D45-A9F1-C194D2AB5C0C}"/>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DE2F0A61-E78C-4457-980C-86971BFAFA7F}"/>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.parent {</a:t>
            </a:r>
          </a:p>
          <a:p xmlns:a="http://schemas.openxmlformats.org/drawingml/2006/main">
            <a:pPr>
              <a:defRPr sz="1650" b="0">
                <a:solidFill>
                  <a:srgbClr val="E2E8F0"/>
                </a:solidFill>
              </a:defRPr>
            </a:pPr>
            <a:r>
              <a:rPr sz="1650" b="0">
                <a:solidFill>
                  <a:srgbClr val="E2E8F0"/>
                </a:solidFill>
              </a:rPr>
              <a:t>  color: #2563eb;</a:t>
            </a:r>
          </a:p>
          <a:p xmlns:a="http://schemas.openxmlformats.org/drawingml/2006/main">
            <a:pPr>
              <a:defRPr sz="1650" b="0">
                <a:solidFill>
                  <a:srgbClr val="E2E8F0"/>
                </a:solidFill>
              </a:defRPr>
            </a:pPr>
            <a:r>
              <a:rPr sz="1650" b="0">
                <a:solidFill>
                  <a:srgbClr val="E2E8F0"/>
                </a:solidFill>
              </a:rPr>
              <a:t>  font-family: sans-serif;</a:t>
            </a:r>
          </a:p>
          <a:p xmlns:a="http://schemas.openxmlformats.org/drawingml/2006/main">
            <a:pPr>
              <a:defRPr sz="1650" b="0">
                <a:solidFill>
                  <a:srgbClr val="E2E8F0"/>
                </a:solidFill>
              </a:defRPr>
            </a:pPr>
            <a:r>
              <a:rPr sz="1650" b="0">
                <a:solidFill>
                  <a:srgbClr val="E2E8F0"/>
                </a:solidFill>
              </a:rPr>
              <a:t>  border: 2px solid orange;</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210A32F0-9081-4273-B1BF-9B0512574442}"/>
              </a:ext>
            </a:extLst>
          </p:cNvPr>
          <p:cNvPicPr>
            <a:picLocks xmlns:a="http://schemas.openxmlformats.org/drawingml/2006/main" noChangeAspect="1"/>
          </p:cNvPicPr>
          <p:nvPr/>
        </p:nvPicPr>
        <p:blipFill>
          <a:blip xmlns:r="http://schemas.openxmlformats.org/officeDocument/2006/relationships" xmlns:a="http://schemas.openxmlformats.org/drawingml/2006/main" r:embed="R267f9195c4674e40"/>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9D1306-CE24-4AED-8087-23489F08B1F3}"/>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Տեքստերը կապույտ են, բայց զավակները առանձին եզրագիծ չեն ստացել։</a:t>
            </a:r>
          </a:p>
        </p:txBody>
      </p:sp>
      <p:sp>
        <p:nvSpPr>
          <p:cNvPr id="7" name="">
            <a:extLst xmlns:a="http://schemas.openxmlformats.org/drawingml/2006/main">
              <a:ext uri="{FF2B5EF4-FFF2-40B4-BE49-F238E27FC236}">
                <a16:creationId xmlns:a16="http://schemas.microsoft.com/office/drawing/2014/main" id="{F47D3BEC-4B05-412C-9AEF-44CEE49B49A6}"/>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08</a:t>
            </a:r>
          </a:p>
        </p:txBody>
      </p:sp>
    </p:spTree>
    <p:extLst>
      <p:ext uri="{BB962C8B-B14F-4D97-AF65-F5344CB8AC3E}">
        <p14:creationId xmlns:p14="http://schemas.microsoft.com/office/powerpoint/2010/main" val="133200982"/>
      </p:ext>
    </p:extLst>
  </p:cSld>
</p:sld>
</file>

<file path=ppt/slides/slide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8AB9E4-CA93-4338-B285-8A412DB88A8E}"/>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Փսևդոդասեր</a:t>
            </a:r>
          </a:p>
        </p:txBody>
      </p:sp>
      <p:sp>
        <p:nvSpPr>
          <p:cNvPr id="2" name="">
            <a:extLst xmlns:a="http://schemas.openxmlformats.org/drawingml/2006/main">
              <a:ext uri="{FF2B5EF4-FFF2-40B4-BE49-F238E27FC236}">
                <a16:creationId xmlns:a16="http://schemas.microsoft.com/office/drawing/2014/main" id="{3EC2BB3B-7122-43E4-9E4D-78282D9630D8}"/>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Փսևդոդասը ընտրում է վիճակ կամ կառուցվածքային դիրք։</a:t>
            </a:r>
          </a:p>
        </p:txBody>
      </p:sp>
      <p:sp>
        <p:nvSpPr>
          <p:cNvPr id="3" name="">
            <a:extLst xmlns:a="http://schemas.openxmlformats.org/drawingml/2006/main">
              <a:ext uri="{FF2B5EF4-FFF2-40B4-BE49-F238E27FC236}">
                <a16:creationId xmlns:a16="http://schemas.microsoft.com/office/drawing/2014/main" id="{AF1EB39C-D6FB-4A0C-8184-8404BB123FDE}"/>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10532149-F935-4913-AF9D-465C0956459C}"/>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button:hover { background: #ea580c; }</a:t>
            </a:r>
          </a:p>
          <a:p xmlns:a="http://schemas.openxmlformats.org/drawingml/2006/main">
            <a:pPr>
              <a:defRPr sz="1650" b="0">
                <a:solidFill>
                  <a:srgbClr val="E2E8F0"/>
                </a:solidFill>
              </a:defRPr>
            </a:pPr>
            <a:r>
              <a:rPr sz="1650" b="0">
                <a:solidFill>
                  <a:srgbClr val="E2E8F0"/>
                </a:solidFill>
              </a:rPr>
              <a:t>input:focus { outline: 3px solid #60a5fa; }</a:t>
            </a:r>
          </a:p>
          <a:p xmlns:a="http://schemas.openxmlformats.org/drawingml/2006/main">
            <a:pPr>
              <a:defRPr sz="1650" b="0">
                <a:solidFill>
                  <a:srgbClr val="E2E8F0"/>
                </a:solidFill>
              </a:defRPr>
            </a:pPr>
            <a:r>
              <a:rPr sz="1650" b="0">
                <a:solidFill>
                  <a:srgbClr val="E2E8F0"/>
                </a:solidFill>
              </a:rPr>
              <a:t>li:nth-child(2n) { background: #dbeafe; }</a:t>
            </a:r>
          </a:p>
        </p:txBody>
      </p:sp>
      <p:pic>
        <p:nvPicPr>
          <p:cNvPr id="5" name="">
            <a:extLst xmlns:a="http://schemas.openxmlformats.org/drawingml/2006/main">
              <a:ext uri="{FF2B5EF4-FFF2-40B4-BE49-F238E27FC236}">
                <a16:creationId xmlns:a16="http://schemas.microsoft.com/office/drawing/2014/main" id="{D383110A-66FA-42F0-A98B-C5C3F1A941DE}"/>
              </a:ext>
            </a:extLst>
          </p:cNvPr>
          <p:cNvPicPr>
            <a:picLocks xmlns:a="http://schemas.openxmlformats.org/drawingml/2006/main" noChangeAspect="1"/>
          </p:cNvPicPr>
          <p:nvPr/>
        </p:nvPicPr>
        <p:blipFill>
          <a:blip xmlns:r="http://schemas.openxmlformats.org/officeDocument/2006/relationships" xmlns:a="http://schemas.openxmlformats.org/drawingml/2006/main" r:embed="R2de436852b514995"/>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6262701-A507-4BDF-B216-087D91E35D5D}"/>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Զույգ տողերը կապույտ ֆոն ունեն։ Դասի ընթացքում փորձել hover և focus։</a:t>
            </a:r>
          </a:p>
        </p:txBody>
      </p:sp>
      <p:sp>
        <p:nvSpPr>
          <p:cNvPr id="7" name="">
            <a:extLst xmlns:a="http://schemas.openxmlformats.org/drawingml/2006/main">
              <a:ext uri="{FF2B5EF4-FFF2-40B4-BE49-F238E27FC236}">
                <a16:creationId xmlns:a16="http://schemas.microsoft.com/office/drawing/2014/main" id="{0B57F7B1-133F-465C-B652-979139EE2E98}"/>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09</a:t>
            </a:r>
          </a:p>
        </p:txBody>
      </p:sp>
    </p:spTree>
    <p:extLst>
      <p:ext uri="{BB962C8B-B14F-4D97-AF65-F5344CB8AC3E}">
        <p14:creationId xmlns:p14="http://schemas.microsoft.com/office/powerpoint/2010/main" val="23730867"/>
      </p:ext>
    </p:extLst>
  </p:cSld>
</p:sld>
</file>

<file path=ppt/slides/slide1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0D58D0-DB76-4BF0-8EEB-D64BFBA19847}"/>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Փսևդոտարրեր</a:t>
            </a:r>
          </a:p>
        </p:txBody>
      </p:sp>
      <p:sp>
        <p:nvSpPr>
          <p:cNvPr id="2" name="">
            <a:extLst xmlns:a="http://schemas.openxmlformats.org/drawingml/2006/main">
              <a:ext uri="{FF2B5EF4-FFF2-40B4-BE49-F238E27FC236}">
                <a16:creationId xmlns:a16="http://schemas.microsoft.com/office/drawing/2014/main" id="{E5ACE295-D90A-490A-86AA-103AD21A7470}"/>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Փսևդոտարրը ոճավորում է տարրի որոշ հատվածը։</a:t>
            </a:r>
          </a:p>
        </p:txBody>
      </p:sp>
      <p:sp>
        <p:nvSpPr>
          <p:cNvPr id="3" name="">
            <a:extLst xmlns:a="http://schemas.openxmlformats.org/drawingml/2006/main">
              <a:ext uri="{FF2B5EF4-FFF2-40B4-BE49-F238E27FC236}">
                <a16:creationId xmlns:a16="http://schemas.microsoft.com/office/drawing/2014/main" id="{8DD46B5A-37F6-48D7-944C-1EC10D478C37}"/>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1756BC38-7DAC-43D1-83A9-83E67A58E0FC}"/>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.note::before {</a:t>
            </a:r>
          </a:p>
          <a:p xmlns:a="http://schemas.openxmlformats.org/drawingml/2006/main">
            <a:pPr>
              <a:defRPr sz="1650" b="0">
                <a:solidFill>
                  <a:srgbClr val="E2E8F0"/>
                </a:solidFill>
              </a:defRPr>
            </a:pPr>
            <a:r>
              <a:rPr sz="1650" b="0">
                <a:solidFill>
                  <a:srgbClr val="E2E8F0"/>
                </a:solidFill>
              </a:rPr>
              <a:t>  content: "★ ";</a:t>
            </a:r>
          </a:p>
          <a:p xmlns:a="http://schemas.openxmlformats.org/drawingml/2006/main">
            <a:pPr>
              <a:defRPr sz="1650" b="0">
                <a:solidFill>
                  <a:srgbClr val="E2E8F0"/>
                </a:solidFill>
              </a:defRPr>
            </a:pPr>
            <a:r>
              <a:rPr sz="1650" b="0">
                <a:solidFill>
                  <a:srgbClr val="E2E8F0"/>
                </a:solidFill>
              </a:rPr>
              <a:t>  color: #ea580c;</a:t>
            </a:r>
          </a:p>
          <a:p xmlns:a="http://schemas.openxmlformats.org/drawingml/2006/main">
            <a:pPr>
              <a:defRPr sz="1650" b="0">
                <a:solidFill>
                  <a:srgbClr val="E2E8F0"/>
                </a:solidFill>
              </a:defRPr>
            </a:pPr>
            <a:r>
              <a:rPr sz="1650" b="0">
                <a:solidFill>
                  <a:srgbClr val="E2E8F0"/>
                </a:solidFill>
              </a:rPr>
              <a:t>}</a:t>
            </a:r>
          </a:p>
          <a:p xmlns:a="http://schemas.openxmlformats.org/drawingml/2006/main">
            <a:pPr>
              <a:defRPr sz="1650" b="0">
                <a:solidFill>
                  <a:srgbClr val="E2E8F0"/>
                </a:solidFill>
              </a:defRPr>
            </a:pPr>
            <a:r>
              <a:rPr sz="1650" b="0">
                <a:solidFill>
                  <a:srgbClr val="E2E8F0"/>
                </a:solidFill>
              </a:rPr>
              <a:t>p::first-letter { font-size: 32px; }</a:t>
            </a:r>
          </a:p>
        </p:txBody>
      </p:sp>
      <p:pic>
        <p:nvPicPr>
          <p:cNvPr id="5" name="">
            <a:extLst xmlns:a="http://schemas.openxmlformats.org/drawingml/2006/main">
              <a:ext uri="{FF2B5EF4-FFF2-40B4-BE49-F238E27FC236}">
                <a16:creationId xmlns:a16="http://schemas.microsoft.com/office/drawing/2014/main" id="{71793F12-82C7-4F82-93CB-F9F97A841F87}"/>
              </a:ext>
            </a:extLst>
          </p:cNvPr>
          <p:cNvPicPr>
            <a:picLocks xmlns:a="http://schemas.openxmlformats.org/drawingml/2006/main" noChangeAspect="1"/>
          </p:cNvPicPr>
          <p:nvPr/>
        </p:nvPicPr>
        <p:blipFill>
          <a:blip xmlns:r="http://schemas.openxmlformats.org/officeDocument/2006/relationships" xmlns:a="http://schemas.openxmlformats.org/drawingml/2006/main" r:embed="R26f5122dd69544bb"/>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D434B5B-D3BC-40C5-A301-E3A56B8D4CCA}"/>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Պարբերությունից առաջ հայտնվում է աստղ։</a:t>
            </a:r>
          </a:p>
        </p:txBody>
      </p:sp>
      <p:sp>
        <p:nvSpPr>
          <p:cNvPr id="7" name="">
            <a:extLst xmlns:a="http://schemas.openxmlformats.org/drawingml/2006/main">
              <a:ext uri="{FF2B5EF4-FFF2-40B4-BE49-F238E27FC236}">
                <a16:creationId xmlns:a16="http://schemas.microsoft.com/office/drawing/2014/main" id="{784780C0-68D7-42C4-A9B5-CC20AA2AE052}"/>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10</a:t>
            </a:r>
          </a:p>
        </p:txBody>
      </p:sp>
    </p:spTree>
    <p:extLst>
      <p:ext uri="{BB962C8B-B14F-4D97-AF65-F5344CB8AC3E}">
        <p14:creationId xmlns:p14="http://schemas.microsoft.com/office/powerpoint/2010/main" val="2055426039"/>
      </p:ext>
    </p:extLst>
  </p:cSld>
</p:sld>
</file>

<file path=ppt/slides/slide1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CBB090-322A-4A58-80B3-83FFE2D116D5}"/>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Չափման միավորներ</a:t>
            </a:r>
          </a:p>
        </p:txBody>
      </p:sp>
      <p:sp>
        <p:nvSpPr>
          <p:cNvPr id="2" name="">
            <a:extLst xmlns:a="http://schemas.openxmlformats.org/drawingml/2006/main">
              <a:ext uri="{FF2B5EF4-FFF2-40B4-BE49-F238E27FC236}">
                <a16:creationId xmlns:a16="http://schemas.microsoft.com/office/drawing/2014/main" id="{2A0D1B7E-0F51-4621-8F6A-59E04D26F0B1}"/>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px, %, em, rem, vw և vh։</a:t>
            </a:r>
          </a:p>
        </p:txBody>
      </p:sp>
      <p:sp>
        <p:nvSpPr>
          <p:cNvPr id="3" name="">
            <a:extLst xmlns:a="http://schemas.openxmlformats.org/drawingml/2006/main">
              <a:ext uri="{FF2B5EF4-FFF2-40B4-BE49-F238E27FC236}">
                <a16:creationId xmlns:a16="http://schemas.microsoft.com/office/drawing/2014/main" id="{2DF8AAAF-6A86-4D42-A318-2BAE036A8CA0}"/>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FE725BEE-4951-49CA-AA1D-40A9226ECF9D}"/>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html { font-size: 16px; }</a:t>
            </a:r>
          </a:p>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width: 80%;</a:t>
            </a:r>
          </a:p>
          <a:p xmlns:a="http://schemas.openxmlformats.org/drawingml/2006/main">
            <a:pPr>
              <a:defRPr sz="1650" b="0">
                <a:solidFill>
                  <a:srgbClr val="E2E8F0"/>
                </a:solidFill>
              </a:defRPr>
            </a:pPr>
            <a:r>
              <a:rPr sz="1650" b="0">
                <a:solidFill>
                  <a:srgbClr val="E2E8F0"/>
                </a:solidFill>
              </a:rPr>
              <a:t>  padding: 1rem;</a:t>
            </a:r>
          </a:p>
          <a:p xmlns:a="http://schemas.openxmlformats.org/drawingml/2006/main">
            <a:pPr>
              <a:defRPr sz="1650" b="0">
                <a:solidFill>
                  <a:srgbClr val="E2E8F0"/>
                </a:solidFill>
              </a:defRPr>
            </a:pPr>
            <a:r>
              <a:rPr sz="1650" b="0">
                <a:solidFill>
                  <a:srgbClr val="E2E8F0"/>
                </a:solidFill>
              </a:rPr>
              <a:t>  font-size: 1.25rem;</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111F6FA0-246E-4DE9-8800-56D85159D4D4}"/>
              </a:ext>
            </a:extLst>
          </p:cNvPr>
          <p:cNvPicPr>
            <a:picLocks xmlns:a="http://schemas.openxmlformats.org/drawingml/2006/main" noChangeAspect="1"/>
          </p:cNvPicPr>
          <p:nvPr/>
        </p:nvPicPr>
        <p:blipFill>
          <a:blip xmlns:r="http://schemas.openxmlformats.org/officeDocument/2006/relationships" xmlns:a="http://schemas.openxmlformats.org/drawingml/2006/main" r:embed="R3334d722d9d84cf3"/>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EBAD688-11D7-44F1-B071-48188557F857}"/>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Եթե արմատային տառաչափը 16px է, padding-ը 16px է։</a:t>
            </a:r>
          </a:p>
        </p:txBody>
      </p:sp>
      <p:sp>
        <p:nvSpPr>
          <p:cNvPr id="7" name="">
            <a:extLst xmlns:a="http://schemas.openxmlformats.org/drawingml/2006/main">
              <a:ext uri="{FF2B5EF4-FFF2-40B4-BE49-F238E27FC236}">
                <a16:creationId xmlns:a16="http://schemas.microsoft.com/office/drawing/2014/main" id="{32145B76-DC50-4D87-8208-311AD625F60B}"/>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11</a:t>
            </a:r>
          </a:p>
        </p:txBody>
      </p:sp>
    </p:spTree>
    <p:extLst>
      <p:ext uri="{BB962C8B-B14F-4D97-AF65-F5344CB8AC3E}">
        <p14:creationId xmlns:p14="http://schemas.microsoft.com/office/powerpoint/2010/main" val="615210686"/>
      </p:ext>
    </p:extLst>
  </p:cSld>
</p:sld>
</file>

<file path=ppt/slides/slide1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36A65A-3B13-4883-9DF1-6CEDF2CCBB08}"/>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clamp և հարմարվող չափեր</a:t>
            </a:r>
          </a:p>
        </p:txBody>
      </p:sp>
      <p:sp>
        <p:nvSpPr>
          <p:cNvPr id="2" name="">
            <a:extLst xmlns:a="http://schemas.openxmlformats.org/drawingml/2006/main">
              <a:ext uri="{FF2B5EF4-FFF2-40B4-BE49-F238E27FC236}">
                <a16:creationId xmlns:a16="http://schemas.microsoft.com/office/drawing/2014/main" id="{D6C48E02-F97A-4B99-9F73-44EEC3B0E87B}"/>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clamp-ը սահմանում է նվազագույն, ցանկալի և առավելագույն չափ։</a:t>
            </a:r>
          </a:p>
        </p:txBody>
      </p:sp>
      <p:sp>
        <p:nvSpPr>
          <p:cNvPr id="3" name="">
            <a:extLst xmlns:a="http://schemas.openxmlformats.org/drawingml/2006/main">
              <a:ext uri="{FF2B5EF4-FFF2-40B4-BE49-F238E27FC236}">
                <a16:creationId xmlns:a16="http://schemas.microsoft.com/office/drawing/2014/main" id="{7F3695E7-1AA8-408F-9140-AA71BAA29754}"/>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C5805D0D-DDEF-4899-A8E8-D1D32E45EE30}"/>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h2 {</a:t>
            </a:r>
          </a:p>
          <a:p xmlns:a="http://schemas.openxmlformats.org/drawingml/2006/main">
            <a:pPr>
              <a:defRPr sz="1650" b="0">
                <a:solidFill>
                  <a:srgbClr val="E2E8F0"/>
                </a:solidFill>
              </a:defRPr>
            </a:pPr>
            <a:r>
              <a:rPr sz="1650" b="0">
                <a:solidFill>
                  <a:srgbClr val="E2E8F0"/>
                </a:solidFill>
              </a:rPr>
              <a:t>  font-size: clamp(24px, 4vw, 48px);</a:t>
            </a:r>
          </a:p>
          <a:p xmlns:a="http://schemas.openxmlformats.org/drawingml/2006/main">
            <a:pPr>
              <a:defRPr sz="1650" b="0">
                <a:solidFill>
                  <a:srgbClr val="E2E8F0"/>
                </a:solidFill>
              </a:defRPr>
            </a:pPr>
            <a:r>
              <a:rPr sz="1650" b="0">
                <a:solidFill>
                  <a:srgbClr val="E2E8F0"/>
                </a:solidFill>
              </a:rPr>
              <a:t>}</a:t>
            </a:r>
          </a:p>
          <a:p xmlns:a="http://schemas.openxmlformats.org/drawingml/2006/main">
            <a:pPr>
              <a:defRPr sz="1650" b="0">
                <a:solidFill>
                  <a:srgbClr val="E2E8F0"/>
                </a:solidFill>
              </a:defRPr>
            </a:pPr>
            <a:r>
              <a:rPr sz="1650" b="0">
                <a:solidFill>
                  <a:srgbClr val="E2E8F0"/>
                </a:solidFill>
              </a:rPr>
              <a:t>.box { width: min(100%, 500px); }</a:t>
            </a:r>
          </a:p>
        </p:txBody>
      </p:sp>
      <p:pic>
        <p:nvPicPr>
          <p:cNvPr id="5" name="">
            <a:extLst xmlns:a="http://schemas.openxmlformats.org/drawingml/2006/main">
              <a:ext uri="{FF2B5EF4-FFF2-40B4-BE49-F238E27FC236}">
                <a16:creationId xmlns:a16="http://schemas.microsoft.com/office/drawing/2014/main" id="{EC38A563-FA81-4D5E-B2A7-8F6AC10E5E0D}"/>
              </a:ext>
            </a:extLst>
          </p:cNvPr>
          <p:cNvPicPr>
            <a:picLocks xmlns:a="http://schemas.openxmlformats.org/drawingml/2006/main" noChangeAspect="1"/>
          </p:cNvPicPr>
          <p:nvPr/>
        </p:nvPicPr>
        <p:blipFill>
          <a:blip xmlns:r="http://schemas.openxmlformats.org/officeDocument/2006/relationships" xmlns:a="http://schemas.openxmlformats.org/drawingml/2006/main" r:embed="Rbd6ff9a393434689"/>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F5DDEC6-7FEA-47B0-A5E5-20714E2277E7}"/>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Վերնագրի չափը մնում է 24–48px սահմաններում։</a:t>
            </a:r>
          </a:p>
        </p:txBody>
      </p:sp>
      <p:sp>
        <p:nvSpPr>
          <p:cNvPr id="7" name="">
            <a:extLst xmlns:a="http://schemas.openxmlformats.org/drawingml/2006/main">
              <a:ext uri="{FF2B5EF4-FFF2-40B4-BE49-F238E27FC236}">
                <a16:creationId xmlns:a16="http://schemas.microsoft.com/office/drawing/2014/main" id="{F97250E3-CEFE-44D1-9F86-17DE9EBEC14B}"/>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12</a:t>
            </a:r>
          </a:p>
        </p:txBody>
      </p:sp>
    </p:spTree>
    <p:extLst>
      <p:ext uri="{BB962C8B-B14F-4D97-AF65-F5344CB8AC3E}">
        <p14:creationId xmlns:p14="http://schemas.microsoft.com/office/powerpoint/2010/main" val="1339989795"/>
      </p:ext>
    </p:extLst>
  </p:cSld>
</p:sld>
</file>

<file path=ppt/slides/slide1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5D736-1EFF-4694-A601-30A9B8A097C7}"/>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Գույներ և թափանցիկություն</a:t>
            </a:r>
          </a:p>
        </p:txBody>
      </p:sp>
      <p:sp>
        <p:nvSpPr>
          <p:cNvPr id="2" name="">
            <a:extLst xmlns:a="http://schemas.openxmlformats.org/drawingml/2006/main">
              <a:ext uri="{FF2B5EF4-FFF2-40B4-BE49-F238E27FC236}">
                <a16:creationId xmlns:a16="http://schemas.microsoft.com/office/drawing/2014/main" id="{BD28F0E6-90F0-4840-A4C2-46ABA299380C}"/>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Անուն, HEX, RGB և HSL։</a:t>
            </a:r>
          </a:p>
        </p:txBody>
      </p:sp>
      <p:sp>
        <p:nvSpPr>
          <p:cNvPr id="3" name="">
            <a:extLst xmlns:a="http://schemas.openxmlformats.org/drawingml/2006/main">
              <a:ext uri="{FF2B5EF4-FFF2-40B4-BE49-F238E27FC236}">
                <a16:creationId xmlns:a16="http://schemas.microsoft.com/office/drawing/2014/main" id="{3C1322A2-012F-4CFD-9F83-5D5026DF710A}"/>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7E7E1F3A-5177-4C6B-96AA-0AD9AF362EC3}"/>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color: #ffffff;</a:t>
            </a:r>
          </a:p>
          <a:p xmlns:a="http://schemas.openxmlformats.org/drawingml/2006/main">
            <a:pPr>
              <a:defRPr sz="1650" b="0">
                <a:solidFill>
                  <a:srgbClr val="E2E8F0"/>
                </a:solidFill>
              </a:defRPr>
            </a:pPr>
            <a:r>
              <a:rPr sz="1650" b="0">
                <a:solidFill>
                  <a:srgbClr val="E2E8F0"/>
                </a:solidFill>
              </a:rPr>
              <a:t>  background: rgb(37 99 235 / 85%);</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64366A69-969A-41DC-91CD-BBEA627E9920}"/>
              </a:ext>
            </a:extLst>
          </p:cNvPr>
          <p:cNvPicPr>
            <a:picLocks xmlns:a="http://schemas.openxmlformats.org/drawingml/2006/main" noChangeAspect="1"/>
          </p:cNvPicPr>
          <p:nvPr/>
        </p:nvPicPr>
        <p:blipFill>
          <a:blip xmlns:r="http://schemas.openxmlformats.org/officeDocument/2006/relationships" xmlns:a="http://schemas.openxmlformats.org/drawingml/2006/main" r:embed="R7d6fa25211aa4d4c"/>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296C8E-88F2-4EF1-9B5A-5742FFDC5F2D}"/>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85% ալֆան ազդում է ֆոնի գույնի վրա։</a:t>
            </a:r>
          </a:p>
        </p:txBody>
      </p:sp>
      <p:sp>
        <p:nvSpPr>
          <p:cNvPr id="7" name="">
            <a:extLst xmlns:a="http://schemas.openxmlformats.org/drawingml/2006/main">
              <a:ext uri="{FF2B5EF4-FFF2-40B4-BE49-F238E27FC236}">
                <a16:creationId xmlns:a16="http://schemas.microsoft.com/office/drawing/2014/main" id="{9709E556-5066-42D0-87D0-3B3168E72067}"/>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13</a:t>
            </a:r>
          </a:p>
        </p:txBody>
      </p:sp>
    </p:spTree>
    <p:extLst>
      <p:ext uri="{BB962C8B-B14F-4D97-AF65-F5344CB8AC3E}">
        <p14:creationId xmlns:p14="http://schemas.microsoft.com/office/powerpoint/2010/main" val="1014013357"/>
      </p:ext>
    </p:extLst>
  </p:cSld>
</p:sld>
</file>

<file path=ppt/slides/slide1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C5CC72-A61A-491E-B6BC-1058985B2E24}"/>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CSS փոփոխականներ</a:t>
            </a:r>
          </a:p>
        </p:txBody>
      </p:sp>
      <p:sp>
        <p:nvSpPr>
          <p:cNvPr id="2" name="">
            <a:extLst xmlns:a="http://schemas.openxmlformats.org/drawingml/2006/main">
              <a:ext uri="{FF2B5EF4-FFF2-40B4-BE49-F238E27FC236}">
                <a16:creationId xmlns:a16="http://schemas.microsoft.com/office/drawing/2014/main" id="{E7624085-911C-455E-8B70-A912A52147B6}"/>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Անունը սկսվում է -- նշանով, արժեքը կարդում ենք var()-ով։</a:t>
            </a:r>
          </a:p>
        </p:txBody>
      </p:sp>
      <p:sp>
        <p:nvSpPr>
          <p:cNvPr id="3" name="">
            <a:extLst xmlns:a="http://schemas.openxmlformats.org/drawingml/2006/main">
              <a:ext uri="{FF2B5EF4-FFF2-40B4-BE49-F238E27FC236}">
                <a16:creationId xmlns:a16="http://schemas.microsoft.com/office/drawing/2014/main" id="{C4CAE857-110A-4AD4-8BAB-61F610AA5E29}"/>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B2011C08-AD44-4446-B0D7-F6867AF06279}"/>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:root {</a:t>
            </a:r>
          </a:p>
          <a:p xmlns:a="http://schemas.openxmlformats.org/drawingml/2006/main">
            <a:pPr>
              <a:defRPr sz="1650" b="0">
                <a:solidFill>
                  <a:srgbClr val="E2E8F0"/>
                </a:solidFill>
              </a:defRPr>
            </a:pPr>
            <a:r>
              <a:rPr sz="1650" b="0">
                <a:solidFill>
                  <a:srgbClr val="E2E8F0"/>
                </a:solidFill>
              </a:rPr>
              <a:t>  --brand: #2563eb;</a:t>
            </a:r>
          </a:p>
          <a:p xmlns:a="http://schemas.openxmlformats.org/drawingml/2006/main">
            <a:pPr>
              <a:defRPr sz="1650" b="0">
                <a:solidFill>
                  <a:srgbClr val="E2E8F0"/>
                </a:solidFill>
              </a:defRPr>
            </a:pPr>
            <a:r>
              <a:rPr sz="1650" b="0">
                <a:solidFill>
                  <a:srgbClr val="E2E8F0"/>
                </a:solidFill>
              </a:rPr>
              <a:t>  --space: 16px;</a:t>
            </a:r>
          </a:p>
          <a:p xmlns:a="http://schemas.openxmlformats.org/drawingml/2006/main">
            <a:pPr>
              <a:defRPr sz="1650" b="0">
                <a:solidFill>
                  <a:srgbClr val="E2E8F0"/>
                </a:solidFill>
              </a:defRPr>
            </a:pPr>
            <a:r>
              <a:rPr sz="1650" b="0">
                <a:solidFill>
                  <a:srgbClr val="E2E8F0"/>
                </a:solidFill>
              </a:rPr>
              <a:t>}</a:t>
            </a:r>
          </a:p>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background: var(--brand, navy);</a:t>
            </a:r>
          </a:p>
          <a:p xmlns:a="http://schemas.openxmlformats.org/drawingml/2006/main">
            <a:pPr>
              <a:defRPr sz="1650" b="0">
                <a:solidFill>
                  <a:srgbClr val="E2E8F0"/>
                </a:solidFill>
              </a:defRPr>
            </a:pPr>
            <a:r>
              <a:rPr sz="1650" b="0">
                <a:solidFill>
                  <a:srgbClr val="E2E8F0"/>
                </a:solidFill>
              </a:rPr>
              <a:t>  padding: var(--space);</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EBD99A22-420B-43A3-8C1E-73EBFEA7F0B2}"/>
              </a:ext>
            </a:extLst>
          </p:cNvPr>
          <p:cNvPicPr>
            <a:picLocks xmlns:a="http://schemas.openxmlformats.org/drawingml/2006/main" noChangeAspect="1"/>
          </p:cNvPicPr>
          <p:nvPr/>
        </p:nvPicPr>
        <p:blipFill>
          <a:blip xmlns:r="http://schemas.openxmlformats.org/officeDocument/2006/relationships" xmlns:a="http://schemas.openxmlformats.org/drawingml/2006/main" r:embed="R0da484c1de324168"/>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5EC3478-9068-4B77-B9D6-61338A002833}"/>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Մեկ փոփոխականով կարելի է փոխել բազմաթիվ տարրերի գույնը։</a:t>
            </a:r>
          </a:p>
        </p:txBody>
      </p:sp>
      <p:sp>
        <p:nvSpPr>
          <p:cNvPr id="7" name="">
            <a:extLst xmlns:a="http://schemas.openxmlformats.org/drawingml/2006/main">
              <a:ext uri="{FF2B5EF4-FFF2-40B4-BE49-F238E27FC236}">
                <a16:creationId xmlns:a16="http://schemas.microsoft.com/office/drawing/2014/main" id="{9E42FB0B-4719-4AB6-A86F-1C643D69C198}"/>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14</a:t>
            </a:r>
          </a:p>
        </p:txBody>
      </p:sp>
    </p:spTree>
    <p:extLst>
      <p:ext uri="{BB962C8B-B14F-4D97-AF65-F5344CB8AC3E}">
        <p14:creationId xmlns:p14="http://schemas.microsoft.com/office/powerpoint/2010/main" val="1316910459"/>
      </p:ext>
    </p:extLst>
  </p:cSld>
</p:sld>
</file>

<file path=ppt/slides/slide1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EEF88D-CE43-45BC-BC05-061DE1DBC74E}"/>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Տեքստ և տառատեսակ</a:t>
            </a:r>
          </a:p>
        </p:txBody>
      </p:sp>
      <p:sp>
        <p:nvSpPr>
          <p:cNvPr id="2" name="">
            <a:extLst xmlns:a="http://schemas.openxmlformats.org/drawingml/2006/main">
              <a:ext uri="{FF2B5EF4-FFF2-40B4-BE49-F238E27FC236}">
                <a16:creationId xmlns:a16="http://schemas.microsoft.com/office/drawing/2014/main" id="{96A7EE0E-A5A7-415E-AE2E-713BFB840A3C}"/>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Տառատեսակների ցանկը պահեստային տարբերակներ է տալիս։</a:t>
            </a:r>
          </a:p>
        </p:txBody>
      </p:sp>
      <p:sp>
        <p:nvSpPr>
          <p:cNvPr id="3" name="">
            <a:extLst xmlns:a="http://schemas.openxmlformats.org/drawingml/2006/main">
              <a:ext uri="{FF2B5EF4-FFF2-40B4-BE49-F238E27FC236}">
                <a16:creationId xmlns:a16="http://schemas.microsoft.com/office/drawing/2014/main" id="{7198529D-6644-43BC-AC7A-2241AF0C58C1}"/>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24F60D96-8A71-42FB-A878-A3134A9814CA}"/>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p {</a:t>
            </a:r>
          </a:p>
          <a:p xmlns:a="http://schemas.openxmlformats.org/drawingml/2006/main">
            <a:pPr>
              <a:defRPr sz="1650" b="0">
                <a:solidFill>
                  <a:srgbClr val="E2E8F0"/>
                </a:solidFill>
              </a:defRPr>
            </a:pPr>
            <a:r>
              <a:rPr sz="1650" b="0">
                <a:solidFill>
                  <a:srgbClr val="E2E8F0"/>
                </a:solidFill>
              </a:rPr>
              <a:t>  font-family: "DejaVu Sans", sans-serif;</a:t>
            </a:r>
          </a:p>
          <a:p xmlns:a="http://schemas.openxmlformats.org/drawingml/2006/main">
            <a:pPr>
              <a:defRPr sz="1650" b="0">
                <a:solidFill>
                  <a:srgbClr val="E2E8F0"/>
                </a:solidFill>
              </a:defRPr>
            </a:pPr>
            <a:r>
              <a:rPr sz="1650" b="0">
                <a:solidFill>
                  <a:srgbClr val="E2E8F0"/>
                </a:solidFill>
              </a:rPr>
              <a:t>  font-size: 20px;</a:t>
            </a:r>
          </a:p>
          <a:p xmlns:a="http://schemas.openxmlformats.org/drawingml/2006/main">
            <a:pPr>
              <a:defRPr sz="1650" b="0">
                <a:solidFill>
                  <a:srgbClr val="E2E8F0"/>
                </a:solidFill>
              </a:defRPr>
            </a:pPr>
            <a:r>
              <a:rPr sz="1650" b="0">
                <a:solidFill>
                  <a:srgbClr val="E2E8F0"/>
                </a:solidFill>
              </a:rPr>
              <a:t>  line-height: 1.6;</a:t>
            </a:r>
          </a:p>
          <a:p xmlns:a="http://schemas.openxmlformats.org/drawingml/2006/main">
            <a:pPr>
              <a:defRPr sz="1650" b="0">
                <a:solidFill>
                  <a:srgbClr val="E2E8F0"/>
                </a:solidFill>
              </a:defRPr>
            </a:pPr>
            <a:r>
              <a:rPr sz="1650" b="0">
                <a:solidFill>
                  <a:srgbClr val="E2E8F0"/>
                </a:solidFill>
              </a:rPr>
              <a:t>  text-align: left;</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B4F933E7-FAFF-4EB8-9205-47C58B932234}"/>
              </a:ext>
            </a:extLst>
          </p:cNvPr>
          <p:cNvPicPr>
            <a:picLocks xmlns:a="http://schemas.openxmlformats.org/drawingml/2006/main" noChangeAspect="1"/>
          </p:cNvPicPr>
          <p:nvPr/>
        </p:nvPicPr>
        <p:blipFill>
          <a:blip xmlns:r="http://schemas.openxmlformats.org/officeDocument/2006/relationships" xmlns:a="http://schemas.openxmlformats.org/drawingml/2006/main" r:embed="R738f5fdf70e44e5f"/>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3B90BD6-DCA9-4D97-96B6-8F15EAE915E0}"/>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20px տառաչափի դեպքում տողի բարձրությունը 32px է։</a:t>
            </a:r>
          </a:p>
        </p:txBody>
      </p:sp>
      <p:sp>
        <p:nvSpPr>
          <p:cNvPr id="7" name="">
            <a:extLst xmlns:a="http://schemas.openxmlformats.org/drawingml/2006/main">
              <a:ext uri="{FF2B5EF4-FFF2-40B4-BE49-F238E27FC236}">
                <a16:creationId xmlns:a16="http://schemas.microsoft.com/office/drawing/2014/main" id="{EAA3534A-2776-4B7E-A0E6-6D6064D8E7FA}"/>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15</a:t>
            </a:r>
          </a:p>
        </p:txBody>
      </p:sp>
    </p:spTree>
    <p:extLst>
      <p:ext uri="{BB962C8B-B14F-4D97-AF65-F5344CB8AC3E}">
        <p14:creationId xmlns:p14="http://schemas.microsoft.com/office/powerpoint/2010/main" val="883452044"/>
      </p:ext>
    </p:extLst>
  </p:cSld>
</p:sld>
</file>

<file path=ppt/slides/slide1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BFE28E-05BA-4137-8720-E8FB56E0BAD2}"/>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Ցուցակների ոճավորում</a:t>
            </a:r>
          </a:p>
        </p:txBody>
      </p:sp>
      <p:sp>
        <p:nvSpPr>
          <p:cNvPr id="2" name="">
            <a:extLst xmlns:a="http://schemas.openxmlformats.org/drawingml/2006/main">
              <a:ext uri="{FF2B5EF4-FFF2-40B4-BE49-F238E27FC236}">
                <a16:creationId xmlns:a16="http://schemas.microsoft.com/office/drawing/2014/main" id="{87AE656C-8AAE-4F64-9F17-FC1C6FC9368F}"/>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Նշանի տեսքը և դիրքը փոխում են ցուցակի ներկայացումը։</a:t>
            </a:r>
          </a:p>
        </p:txBody>
      </p:sp>
      <p:sp>
        <p:nvSpPr>
          <p:cNvPr id="3" name="">
            <a:extLst xmlns:a="http://schemas.openxmlformats.org/drawingml/2006/main">
              <a:ext uri="{FF2B5EF4-FFF2-40B4-BE49-F238E27FC236}">
                <a16:creationId xmlns:a16="http://schemas.microsoft.com/office/drawing/2014/main" id="{CA873601-36A9-47ED-A8D2-476DCAEEB4FD}"/>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520FA005-E999-46C4-A6FA-3D5CBEE9096A}"/>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ul { list-style-type: square; }</a:t>
            </a:r>
          </a:p>
          <a:p xmlns:a="http://schemas.openxmlformats.org/drawingml/2006/main">
            <a:pPr>
              <a:defRPr sz="1650" b="0">
                <a:solidFill>
                  <a:srgbClr val="E2E8F0"/>
                </a:solidFill>
              </a:defRPr>
            </a:pPr>
            <a:r>
              <a:rPr sz="1650" b="0">
                <a:solidFill>
                  <a:srgbClr val="E2E8F0"/>
                </a:solidFill>
              </a:rPr>
              <a:t>li { margin-bottom: 12px; }</a:t>
            </a:r>
          </a:p>
          <a:p xmlns:a="http://schemas.openxmlformats.org/drawingml/2006/main">
            <a:pPr>
              <a:defRPr sz="1650" b="0">
                <a:solidFill>
                  <a:srgbClr val="E2E8F0"/>
                </a:solidFill>
              </a:defRPr>
            </a:pPr>
            <a:r>
              <a:rPr sz="1650" b="0">
                <a:solidFill>
                  <a:srgbClr val="E2E8F0"/>
                </a:solidFill>
              </a:rPr>
              <a:t>li::marker { color: #ea580c; }</a:t>
            </a:r>
          </a:p>
        </p:txBody>
      </p:sp>
      <p:pic>
        <p:nvPicPr>
          <p:cNvPr id="5" name="">
            <a:extLst xmlns:a="http://schemas.openxmlformats.org/drawingml/2006/main">
              <a:ext uri="{FF2B5EF4-FFF2-40B4-BE49-F238E27FC236}">
                <a16:creationId xmlns:a16="http://schemas.microsoft.com/office/drawing/2014/main" id="{221003E2-A966-4980-BC93-597D2C283A78}"/>
              </a:ext>
            </a:extLst>
          </p:cNvPr>
          <p:cNvPicPr>
            <a:picLocks xmlns:a="http://schemas.openxmlformats.org/drawingml/2006/main" noChangeAspect="1"/>
          </p:cNvPicPr>
          <p:nvPr/>
        </p:nvPicPr>
        <p:blipFill>
          <a:blip xmlns:r="http://schemas.openxmlformats.org/officeDocument/2006/relationships" xmlns:a="http://schemas.openxmlformats.org/drawingml/2006/main" r:embed="R0ac8b991ede24436"/>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18E792-E2AD-4C2C-9370-6528FDE61090}"/>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Քառակուսի նարնջագույն նշաններ և տողերի բացատներ։</a:t>
            </a:r>
          </a:p>
        </p:txBody>
      </p:sp>
      <p:sp>
        <p:nvSpPr>
          <p:cNvPr id="7" name="">
            <a:extLst xmlns:a="http://schemas.openxmlformats.org/drawingml/2006/main">
              <a:ext uri="{FF2B5EF4-FFF2-40B4-BE49-F238E27FC236}">
                <a16:creationId xmlns:a16="http://schemas.microsoft.com/office/drawing/2014/main" id="{D3FA676E-24B7-4E84-AF3A-A921A5AFCB7B}"/>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16</a:t>
            </a:r>
          </a:p>
        </p:txBody>
      </p:sp>
    </p:spTree>
    <p:extLst>
      <p:ext uri="{BB962C8B-B14F-4D97-AF65-F5344CB8AC3E}">
        <p14:creationId xmlns:p14="http://schemas.microsoft.com/office/powerpoint/2010/main" val="1330659427"/>
      </p:ext>
    </p:extLst>
  </p:cSld>
</p:sld>
</file>

<file path=ppt/slides/slide1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4E3760-B76E-4787-B764-E5EB72944756}"/>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Աղյուսակների ոճավորում</a:t>
            </a:r>
          </a:p>
        </p:txBody>
      </p:sp>
      <p:sp>
        <p:nvSpPr>
          <p:cNvPr id="2" name="">
            <a:extLst xmlns:a="http://schemas.openxmlformats.org/drawingml/2006/main">
              <a:ext uri="{FF2B5EF4-FFF2-40B4-BE49-F238E27FC236}">
                <a16:creationId xmlns:a16="http://schemas.microsoft.com/office/drawing/2014/main" id="{3A3997DE-18A1-4857-873F-BA33616874C2}"/>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Եզրագծերը, padding-ը և տողերի ֆոնը բարելավում են ընթերցումը։</a:t>
            </a:r>
          </a:p>
        </p:txBody>
      </p:sp>
      <p:sp>
        <p:nvSpPr>
          <p:cNvPr id="3" name="">
            <a:extLst xmlns:a="http://schemas.openxmlformats.org/drawingml/2006/main">
              <a:ext uri="{FF2B5EF4-FFF2-40B4-BE49-F238E27FC236}">
                <a16:creationId xmlns:a16="http://schemas.microsoft.com/office/drawing/2014/main" id="{51F3FFBB-D630-45DD-BC0E-74BD61B1E607}"/>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8450B583-CFA1-4B7E-B787-CF14E8EEBC7E}"/>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table { border-collapse: collapse; width: 100%; }</a:t>
            </a:r>
          </a:p>
          <a:p xmlns:a="http://schemas.openxmlformats.org/drawingml/2006/main">
            <a:pPr>
              <a:defRPr sz="1650" b="0">
                <a:solidFill>
                  <a:srgbClr val="E2E8F0"/>
                </a:solidFill>
              </a:defRPr>
            </a:pPr>
            <a:r>
              <a:rPr sz="1650" b="0">
                <a:solidFill>
                  <a:srgbClr val="E2E8F0"/>
                </a:solidFill>
              </a:rPr>
              <a:t>th, td { border: 1px solid #94a3b8; padding: 12px; }</a:t>
            </a:r>
          </a:p>
          <a:p xmlns:a="http://schemas.openxmlformats.org/drawingml/2006/main">
            <a:pPr>
              <a:defRPr sz="1650" b="0">
                <a:solidFill>
                  <a:srgbClr val="E2E8F0"/>
                </a:solidFill>
              </a:defRPr>
            </a:pPr>
            <a:r>
              <a:rPr sz="1650" b="0">
                <a:solidFill>
                  <a:srgbClr val="E2E8F0"/>
                </a:solidFill>
              </a:rPr>
              <a:t>th { background: #dbeafe; }</a:t>
            </a:r>
          </a:p>
          <a:p xmlns:a="http://schemas.openxmlformats.org/drawingml/2006/main">
            <a:pPr>
              <a:defRPr sz="1650" b="0">
                <a:solidFill>
                  <a:srgbClr val="E2E8F0"/>
                </a:solidFill>
              </a:defRPr>
            </a:pPr>
            <a:r>
              <a:rPr sz="1650" b="0">
                <a:solidFill>
                  <a:srgbClr val="E2E8F0"/>
                </a:solidFill>
              </a:rPr>
              <a:t>tr:nth-child(even) { background: #f1f5f9; }</a:t>
            </a:r>
          </a:p>
        </p:txBody>
      </p:sp>
      <p:pic>
        <p:nvPicPr>
          <p:cNvPr id="5" name="">
            <a:extLst xmlns:a="http://schemas.openxmlformats.org/drawingml/2006/main">
              <a:ext uri="{FF2B5EF4-FFF2-40B4-BE49-F238E27FC236}">
                <a16:creationId xmlns:a16="http://schemas.microsoft.com/office/drawing/2014/main" id="{0BFE1038-68B8-4FBF-A563-8B813275D9DD}"/>
              </a:ext>
            </a:extLst>
          </p:cNvPr>
          <p:cNvPicPr>
            <a:picLocks xmlns:a="http://schemas.openxmlformats.org/drawingml/2006/main" noChangeAspect="1"/>
          </p:cNvPicPr>
          <p:nvPr/>
        </p:nvPicPr>
        <p:blipFill>
          <a:blip xmlns:r="http://schemas.openxmlformats.org/officeDocument/2006/relationships" xmlns:a="http://schemas.openxmlformats.org/drawingml/2006/main" r:embed="Rd7ebb7f8257d4a3f"/>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A1B3EA-849C-4D63-8C38-97668F1F7A66}"/>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Ընդհանուր եզրագծով ընթեռնելի աղյուսակ։</a:t>
            </a:r>
          </a:p>
        </p:txBody>
      </p:sp>
      <p:sp>
        <p:nvSpPr>
          <p:cNvPr id="7" name="">
            <a:extLst xmlns:a="http://schemas.openxmlformats.org/drawingml/2006/main">
              <a:ext uri="{FF2B5EF4-FFF2-40B4-BE49-F238E27FC236}">
                <a16:creationId xmlns:a16="http://schemas.microsoft.com/office/drawing/2014/main" id="{D74474AE-AB3A-4C2F-BCFD-46E8EC5BA103}"/>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17</a:t>
            </a:r>
          </a:p>
        </p:txBody>
      </p:sp>
    </p:spTree>
    <p:extLst>
      <p:ext uri="{BB962C8B-B14F-4D97-AF65-F5344CB8AC3E}">
        <p14:creationId xmlns:p14="http://schemas.microsoft.com/office/powerpoint/2010/main" val="866537220"/>
      </p:ext>
    </p:extLst>
  </p:cSld>
</p:sld>
</file>

<file path=ppt/slides/slide1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481275-8414-4C91-8886-6DA76B5F921D}"/>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CSS բլոկային մոդել</a:t>
            </a:r>
          </a:p>
        </p:txBody>
      </p:sp>
      <p:sp>
        <p:nvSpPr>
          <p:cNvPr id="2" name="">
            <a:extLst xmlns:a="http://schemas.openxmlformats.org/drawingml/2006/main">
              <a:ext uri="{FF2B5EF4-FFF2-40B4-BE49-F238E27FC236}">
                <a16:creationId xmlns:a16="http://schemas.microsoft.com/office/drawing/2014/main" id="{BE1E13B9-E36E-4963-9406-6312F9FE6E75}"/>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Content, padding, border և margin։</a:t>
            </a:r>
          </a:p>
        </p:txBody>
      </p:sp>
      <p:sp>
        <p:nvSpPr>
          <p:cNvPr id="3" name="">
            <a:extLst xmlns:a="http://schemas.openxmlformats.org/drawingml/2006/main">
              <a:ext uri="{FF2B5EF4-FFF2-40B4-BE49-F238E27FC236}">
                <a16:creationId xmlns:a16="http://schemas.microsoft.com/office/drawing/2014/main" id="{E10507FC-D990-4070-9D4C-1F4275D9722E}"/>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5FE7BB50-5D61-4092-B1E7-1BE8F296739A}"/>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width: 260px;</a:t>
            </a:r>
          </a:p>
          <a:p xmlns:a="http://schemas.openxmlformats.org/drawingml/2006/main">
            <a:pPr>
              <a:defRPr sz="1650" b="0">
                <a:solidFill>
                  <a:srgbClr val="E2E8F0"/>
                </a:solidFill>
              </a:defRPr>
            </a:pPr>
            <a:r>
              <a:rPr sz="1650" b="0">
                <a:solidFill>
                  <a:srgbClr val="E2E8F0"/>
                </a:solidFill>
              </a:rPr>
              <a:t>  padding: 24px;</a:t>
            </a:r>
          </a:p>
          <a:p xmlns:a="http://schemas.openxmlformats.org/drawingml/2006/main">
            <a:pPr>
              <a:defRPr sz="1650" b="0">
                <a:solidFill>
                  <a:srgbClr val="E2E8F0"/>
                </a:solidFill>
              </a:defRPr>
            </a:pPr>
            <a:r>
              <a:rPr sz="1650" b="0">
                <a:solidFill>
                  <a:srgbClr val="E2E8F0"/>
                </a:solidFill>
              </a:rPr>
              <a:t>  border: 4px solid #ea580c;</a:t>
            </a:r>
          </a:p>
          <a:p xmlns:a="http://schemas.openxmlformats.org/drawingml/2006/main">
            <a:pPr>
              <a:defRPr sz="1650" b="0">
                <a:solidFill>
                  <a:srgbClr val="E2E8F0"/>
                </a:solidFill>
              </a:defRPr>
            </a:pPr>
            <a:r>
              <a:rPr sz="1650" b="0">
                <a:solidFill>
                  <a:srgbClr val="E2E8F0"/>
                </a:solidFill>
              </a:rPr>
              <a:t>  margin: 24px;</a:t>
            </a:r>
          </a:p>
          <a:p xmlns:a="http://schemas.openxmlformats.org/drawingml/2006/main">
            <a:pPr>
              <a:defRPr sz="1650" b="0">
                <a:solidFill>
                  <a:srgbClr val="E2E8F0"/>
                </a:solidFill>
              </a:defRPr>
            </a:pPr>
            <a:r>
              <a:rPr sz="1650" b="0">
                <a:solidFill>
                  <a:srgbClr val="E2E8F0"/>
                </a:solidFill>
              </a:rPr>
              <a:t>  background: #dbeafe;</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E0B4274B-DD38-4D5C-BE6B-A68795369F2D}"/>
              </a:ext>
            </a:extLst>
          </p:cNvPr>
          <p:cNvPicPr>
            <a:picLocks xmlns:a="http://schemas.openxmlformats.org/drawingml/2006/main" noChangeAspect="1"/>
          </p:cNvPicPr>
          <p:nvPr/>
        </p:nvPicPr>
        <p:blipFill>
          <a:blip xmlns:r="http://schemas.openxmlformats.org/officeDocument/2006/relationships" xmlns:a="http://schemas.openxmlformats.org/drawingml/2006/main" r:embed="R77f16e1fd9b44a4d"/>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D52490-2D85-445F-810C-6CD268F714AE}"/>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content-box-ի դեպքում եզրագծով լայնությունը 316px է։</a:t>
            </a:r>
          </a:p>
        </p:txBody>
      </p:sp>
      <p:sp>
        <p:nvSpPr>
          <p:cNvPr id="7" name="">
            <a:extLst xmlns:a="http://schemas.openxmlformats.org/drawingml/2006/main">
              <a:ext uri="{FF2B5EF4-FFF2-40B4-BE49-F238E27FC236}">
                <a16:creationId xmlns:a16="http://schemas.microsoft.com/office/drawing/2014/main" id="{1DAAEE2E-9F1B-4FB0-BB5F-803798EDB9FC}"/>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18</a:t>
            </a:r>
          </a:p>
        </p:txBody>
      </p:sp>
    </p:spTree>
    <p:extLst>
      <p:ext uri="{BB962C8B-B14F-4D97-AF65-F5344CB8AC3E}">
        <p14:creationId xmlns:p14="http://schemas.microsoft.com/office/powerpoint/2010/main" val="1180866676"/>
      </p:ext>
    </p:extLst>
  </p:cSld>
</p:sld>
</file>

<file path=ppt/slides/slide1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01F019-F6F0-4122-81AC-D3BCFBEACA02}"/>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Margin արտաքին բացատ</a:t>
            </a:r>
          </a:p>
        </p:txBody>
      </p:sp>
      <p:sp>
        <p:nvSpPr>
          <p:cNvPr id="2" name="">
            <a:extLst xmlns:a="http://schemas.openxmlformats.org/drawingml/2006/main">
              <a:ext uri="{FF2B5EF4-FFF2-40B4-BE49-F238E27FC236}">
                <a16:creationId xmlns:a16="http://schemas.microsoft.com/office/drawing/2014/main" id="{4008A970-AE06-4F6B-B2D4-E817A54716A1}"/>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Margin-ը տարածություն է ստեղծում տարրի շուրջ։</a:t>
            </a:r>
          </a:p>
        </p:txBody>
      </p:sp>
      <p:sp>
        <p:nvSpPr>
          <p:cNvPr id="3" name="">
            <a:extLst xmlns:a="http://schemas.openxmlformats.org/drawingml/2006/main">
              <a:ext uri="{FF2B5EF4-FFF2-40B4-BE49-F238E27FC236}">
                <a16:creationId xmlns:a16="http://schemas.microsoft.com/office/drawing/2014/main" id="{F4FB4542-770A-4FB3-A96E-EAA08BBC5F7C}"/>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4F5D737A-749C-44E0-BF14-39766992531D}"/>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width: 260px;</a:t>
            </a:r>
          </a:p>
          <a:p xmlns:a="http://schemas.openxmlformats.org/drawingml/2006/main">
            <a:pPr>
              <a:defRPr sz="1650" b="0">
                <a:solidFill>
                  <a:srgbClr val="E2E8F0"/>
                </a:solidFill>
              </a:defRPr>
            </a:pPr>
            <a:r>
              <a:rPr sz="1650" b="0">
                <a:solidFill>
                  <a:srgbClr val="E2E8F0"/>
                </a:solidFill>
              </a:rPr>
              <a:t>  margin: 20px auto;</a:t>
            </a:r>
          </a:p>
          <a:p xmlns:a="http://schemas.openxmlformats.org/drawingml/2006/main">
            <a:pPr>
              <a:defRPr sz="1650" b="0">
                <a:solidFill>
                  <a:srgbClr val="E2E8F0"/>
                </a:solidFill>
              </a:defRPr>
            </a:pPr>
            <a:r>
              <a:rPr sz="1650" b="0">
                <a:solidFill>
                  <a:srgbClr val="E2E8F0"/>
                </a:solidFill>
              </a:rPr>
              <a:t>  background: #dbeafe;</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C280EDCE-2D34-4DF4-A58F-7122EF7A5EDE}"/>
              </a:ext>
            </a:extLst>
          </p:cNvPr>
          <p:cNvPicPr>
            <a:picLocks xmlns:a="http://schemas.openxmlformats.org/drawingml/2006/main" noChangeAspect="1"/>
          </p:cNvPicPr>
          <p:nvPr/>
        </p:nvPicPr>
        <p:blipFill>
          <a:blip xmlns:r="http://schemas.openxmlformats.org/officeDocument/2006/relationships" xmlns:a="http://schemas.openxmlformats.org/drawingml/2006/main" r:embed="Ra7e7f6f9f8254ef7"/>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9785322-90CB-40C2-B2E3-053CD99C93D2}"/>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Բլոկները կենտրոնացված են և ունեն արտաքին բացատ։</a:t>
            </a:r>
          </a:p>
        </p:txBody>
      </p:sp>
      <p:sp>
        <p:nvSpPr>
          <p:cNvPr id="7" name="">
            <a:extLst xmlns:a="http://schemas.openxmlformats.org/drawingml/2006/main">
              <a:ext uri="{FF2B5EF4-FFF2-40B4-BE49-F238E27FC236}">
                <a16:creationId xmlns:a16="http://schemas.microsoft.com/office/drawing/2014/main" id="{FAD0246F-3052-4044-A36B-D533F661B36B}"/>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19</a:t>
            </a:r>
          </a:p>
        </p:txBody>
      </p:sp>
    </p:spTree>
    <p:extLst>
      <p:ext uri="{BB962C8B-B14F-4D97-AF65-F5344CB8AC3E}">
        <p14:creationId xmlns:p14="http://schemas.microsoft.com/office/powerpoint/2010/main" val="1741878307"/>
      </p:ext>
    </p:extLst>
  </p:cSld>
</p:sld>
</file>

<file path=ppt/slides/slide2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90ADC5-61B1-490B-9E94-EC04C4EE8B41}"/>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Padding ներքին բացատ</a:t>
            </a:r>
          </a:p>
        </p:txBody>
      </p:sp>
      <p:sp>
        <p:nvSpPr>
          <p:cNvPr id="2" name="">
            <a:extLst xmlns:a="http://schemas.openxmlformats.org/drawingml/2006/main">
              <a:ext uri="{FF2B5EF4-FFF2-40B4-BE49-F238E27FC236}">
                <a16:creationId xmlns:a16="http://schemas.microsoft.com/office/drawing/2014/main" id="{D07D8CB1-FC00-425C-B696-6A08686DDC36}"/>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Padding-ը տարածություն է ստեղծում բովանդակության ու եզրագծի միջև։</a:t>
            </a:r>
          </a:p>
        </p:txBody>
      </p:sp>
      <p:sp>
        <p:nvSpPr>
          <p:cNvPr id="3" name="">
            <a:extLst xmlns:a="http://schemas.openxmlformats.org/drawingml/2006/main">
              <a:ext uri="{FF2B5EF4-FFF2-40B4-BE49-F238E27FC236}">
                <a16:creationId xmlns:a16="http://schemas.microsoft.com/office/drawing/2014/main" id="{D6E390CF-C2C3-4984-A786-3C8B2D33C6A5}"/>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63A2B346-19C4-4530-9327-DEEFD85C9A4F}"/>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padding: 24px 36px;</a:t>
            </a:r>
          </a:p>
          <a:p xmlns:a="http://schemas.openxmlformats.org/drawingml/2006/main">
            <a:pPr>
              <a:defRPr sz="1650" b="0">
                <a:solidFill>
                  <a:srgbClr val="E2E8F0"/>
                </a:solidFill>
              </a:defRPr>
            </a:pPr>
            <a:r>
              <a:rPr sz="1650" b="0">
                <a:solidFill>
                  <a:srgbClr val="E2E8F0"/>
                </a:solidFill>
              </a:rPr>
              <a:t>  border: 2px solid #2563eb;</a:t>
            </a:r>
          </a:p>
          <a:p xmlns:a="http://schemas.openxmlformats.org/drawingml/2006/main">
            <a:pPr>
              <a:defRPr sz="1650" b="0">
                <a:solidFill>
                  <a:srgbClr val="E2E8F0"/>
                </a:solidFill>
              </a:defRPr>
            </a:pPr>
            <a:r>
              <a:rPr sz="1650" b="0">
                <a:solidFill>
                  <a:srgbClr val="E2E8F0"/>
                </a:solidFill>
              </a:rPr>
              <a:t>  background: #dbeafe;</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4FE9B908-CC53-48F5-8006-23388AFD5BFB}"/>
              </a:ext>
            </a:extLst>
          </p:cNvPr>
          <p:cNvPicPr>
            <a:picLocks xmlns:a="http://schemas.openxmlformats.org/drawingml/2006/main" noChangeAspect="1"/>
          </p:cNvPicPr>
          <p:nvPr/>
        </p:nvPicPr>
        <p:blipFill>
          <a:blip xmlns:r="http://schemas.openxmlformats.org/officeDocument/2006/relationships" xmlns:a="http://schemas.openxmlformats.org/drawingml/2006/main" r:embed="R03a6d8304a224786"/>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7EC2EF-1F39-410E-A3EB-255A5EFC5C75}"/>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Վերևից ու ներքևից 24px, աջից ու ձախից 36px ներքին բացատ։</a:t>
            </a:r>
          </a:p>
        </p:txBody>
      </p:sp>
      <p:sp>
        <p:nvSpPr>
          <p:cNvPr id="7" name="">
            <a:extLst xmlns:a="http://schemas.openxmlformats.org/drawingml/2006/main">
              <a:ext uri="{FF2B5EF4-FFF2-40B4-BE49-F238E27FC236}">
                <a16:creationId xmlns:a16="http://schemas.microsoft.com/office/drawing/2014/main" id="{811C996E-AD73-4AC5-A30C-2E4EAE6A18BB}"/>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20</a:t>
            </a:r>
          </a:p>
        </p:txBody>
      </p:sp>
    </p:spTree>
    <p:extLst>
      <p:ext uri="{BB962C8B-B14F-4D97-AF65-F5344CB8AC3E}">
        <p14:creationId xmlns:p14="http://schemas.microsoft.com/office/powerpoint/2010/main" val="1350055650"/>
      </p:ext>
    </p:extLst>
  </p:cSld>
</p:sld>
</file>

<file path=ppt/slides/slide2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BA5416-4793-42D4-9F68-695936B64DB4}"/>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Border եզրագիծ</a:t>
            </a:r>
          </a:p>
        </p:txBody>
      </p:sp>
      <p:sp>
        <p:nvSpPr>
          <p:cNvPr id="2" name="">
            <a:extLst xmlns:a="http://schemas.openxmlformats.org/drawingml/2006/main">
              <a:ext uri="{FF2B5EF4-FFF2-40B4-BE49-F238E27FC236}">
                <a16:creationId xmlns:a16="http://schemas.microsoft.com/office/drawing/2014/main" id="{E7BC5820-CB8E-4F77-AC76-2A228C48E64E}"/>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Եզրագիծը ունի հաստություն, ոճ և գույն։</a:t>
            </a:r>
          </a:p>
        </p:txBody>
      </p:sp>
      <p:sp>
        <p:nvSpPr>
          <p:cNvPr id="3" name="">
            <a:extLst xmlns:a="http://schemas.openxmlformats.org/drawingml/2006/main">
              <a:ext uri="{FF2B5EF4-FFF2-40B4-BE49-F238E27FC236}">
                <a16:creationId xmlns:a16="http://schemas.microsoft.com/office/drawing/2014/main" id="{3F0FBA7A-61B2-40BF-A171-3D633D8303D1}"/>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27E4BEEF-5540-4566-AAA8-BCB0E59837EB}"/>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border: 3px dashed #2563eb;</a:t>
            </a:r>
          </a:p>
          <a:p xmlns:a="http://schemas.openxmlformats.org/drawingml/2006/main">
            <a:pPr>
              <a:defRPr sz="1650" b="0">
                <a:solidFill>
                  <a:srgbClr val="E2E8F0"/>
                </a:solidFill>
              </a:defRPr>
            </a:pPr>
            <a:r>
              <a:rPr sz="1650" b="0">
                <a:solidFill>
                  <a:srgbClr val="E2E8F0"/>
                </a:solidFill>
              </a:rPr>
              <a:t>  border-left: 8px solid #ea580c;</a:t>
            </a:r>
          </a:p>
          <a:p xmlns:a="http://schemas.openxmlformats.org/drawingml/2006/main">
            <a:pPr>
              <a:defRPr sz="1650" b="0">
                <a:solidFill>
                  <a:srgbClr val="E2E8F0"/>
                </a:solidFill>
              </a:defRPr>
            </a:pPr>
            <a:r>
              <a:rPr sz="1650" b="0">
                <a:solidFill>
                  <a:srgbClr val="E2E8F0"/>
                </a:solidFill>
              </a:rPr>
              <a:t>  padding: 20px;</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CB42514D-CDB4-4594-BC3A-C963978875EC}"/>
              </a:ext>
            </a:extLst>
          </p:cNvPr>
          <p:cNvPicPr>
            <a:picLocks xmlns:a="http://schemas.openxmlformats.org/drawingml/2006/main" noChangeAspect="1"/>
          </p:cNvPicPr>
          <p:nvPr/>
        </p:nvPicPr>
        <p:blipFill>
          <a:blip xmlns:r="http://schemas.openxmlformats.org/officeDocument/2006/relationships" xmlns:a="http://schemas.openxmlformats.org/drawingml/2006/main" r:embed="Re391cb059635449e"/>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464EA6-0673-4C97-9C66-015CF362E221}"/>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Ձախ եզրը նարնջագույն է, մյուսները՝ կապույտ ընդհատվող։</a:t>
            </a:r>
          </a:p>
        </p:txBody>
      </p:sp>
      <p:sp>
        <p:nvSpPr>
          <p:cNvPr id="7" name="">
            <a:extLst xmlns:a="http://schemas.openxmlformats.org/drawingml/2006/main">
              <a:ext uri="{FF2B5EF4-FFF2-40B4-BE49-F238E27FC236}">
                <a16:creationId xmlns:a16="http://schemas.microsoft.com/office/drawing/2014/main" id="{3B5D259E-9585-448E-B1F3-9239F3E770F7}"/>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21</a:t>
            </a:r>
          </a:p>
        </p:txBody>
      </p:sp>
    </p:spTree>
    <p:extLst>
      <p:ext uri="{BB962C8B-B14F-4D97-AF65-F5344CB8AC3E}">
        <p14:creationId xmlns:p14="http://schemas.microsoft.com/office/powerpoint/2010/main" val="1774112187"/>
      </p:ext>
    </p:extLst>
  </p:cSld>
</p:sld>
</file>

<file path=ppt/slides/slide2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04CF8B-F31E-40B1-BDBA-B5E6002D4B09}"/>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box-sizing և լայնության հաշվարկ</a:t>
            </a:r>
          </a:p>
        </p:txBody>
      </p:sp>
      <p:sp>
        <p:nvSpPr>
          <p:cNvPr id="2" name="">
            <a:extLst xmlns:a="http://schemas.openxmlformats.org/drawingml/2006/main">
              <a:ext uri="{FF2B5EF4-FFF2-40B4-BE49-F238E27FC236}">
                <a16:creationId xmlns:a16="http://schemas.microsoft.com/office/drawing/2014/main" id="{8A310B8F-4792-4BF9-8CC5-CAF096E67075}"/>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border-box-ը width-ի մեջ ներառում է padding-ն ու border-ը։</a:t>
            </a:r>
          </a:p>
        </p:txBody>
      </p:sp>
      <p:sp>
        <p:nvSpPr>
          <p:cNvPr id="3" name="">
            <a:extLst xmlns:a="http://schemas.openxmlformats.org/drawingml/2006/main">
              <a:ext uri="{FF2B5EF4-FFF2-40B4-BE49-F238E27FC236}">
                <a16:creationId xmlns:a16="http://schemas.microsoft.com/office/drawing/2014/main" id="{E842F736-1181-4252-A9B0-5912FEF52313}"/>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70EBB917-334C-4851-B289-FFC13916034B}"/>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 *::before, *::after {</a:t>
            </a:r>
          </a:p>
          <a:p xmlns:a="http://schemas.openxmlformats.org/drawingml/2006/main">
            <a:pPr>
              <a:defRPr sz="1650" b="0">
                <a:solidFill>
                  <a:srgbClr val="E2E8F0"/>
                </a:solidFill>
              </a:defRPr>
            </a:pPr>
            <a:r>
              <a:rPr sz="1650" b="0">
                <a:solidFill>
                  <a:srgbClr val="E2E8F0"/>
                </a:solidFill>
              </a:rPr>
              <a:t>  box-sizing: border-box;</a:t>
            </a:r>
          </a:p>
          <a:p xmlns:a="http://schemas.openxmlformats.org/drawingml/2006/main">
            <a:pPr>
              <a:defRPr sz="1650" b="0">
                <a:solidFill>
                  <a:srgbClr val="E2E8F0"/>
                </a:solidFill>
              </a:defRPr>
            </a:pPr>
            <a:r>
              <a:rPr sz="1650" b="0">
                <a:solidFill>
                  <a:srgbClr val="E2E8F0"/>
                </a:solidFill>
              </a:rPr>
              <a:t>}</a:t>
            </a:r>
          </a:p>
          <a:p xmlns:a="http://schemas.openxmlformats.org/drawingml/2006/main">
            <a:pPr>
              <a:defRPr sz="1650" b="0">
                <a:solidFill>
                  <a:srgbClr val="E2E8F0"/>
                </a:solidFill>
              </a:defRPr>
            </a:pPr>
            <a:r>
              <a:rPr sz="1650" b="0">
                <a:solidFill>
                  <a:srgbClr val="E2E8F0"/>
                </a:solidFill>
              </a:rPr>
              <a:t>.box { width: 200px; padding: 20px;</a:t>
            </a:r>
          </a:p>
          <a:p xmlns:a="http://schemas.openxmlformats.org/drawingml/2006/main">
            <a:pPr>
              <a:defRPr sz="1650" b="0">
                <a:solidFill>
                  <a:srgbClr val="E2E8F0"/>
                </a:solidFill>
              </a:defRPr>
            </a:pPr>
            <a:r>
              <a:rPr sz="1650" b="0">
                <a:solidFill>
                  <a:srgbClr val="E2E8F0"/>
                </a:solidFill>
              </a:rPr>
              <a:t>  border: 2px solid #ea580c; }</a:t>
            </a:r>
          </a:p>
        </p:txBody>
      </p:sp>
      <p:pic>
        <p:nvPicPr>
          <p:cNvPr id="5" name="">
            <a:extLst xmlns:a="http://schemas.openxmlformats.org/drawingml/2006/main">
              <a:ext uri="{FF2B5EF4-FFF2-40B4-BE49-F238E27FC236}">
                <a16:creationId xmlns:a16="http://schemas.microsoft.com/office/drawing/2014/main" id="{5C575FCC-72D6-4D17-858F-ECD62F8461AA}"/>
              </a:ext>
            </a:extLst>
          </p:cNvPr>
          <p:cNvPicPr>
            <a:picLocks xmlns:a="http://schemas.openxmlformats.org/drawingml/2006/main" noChangeAspect="1"/>
          </p:cNvPicPr>
          <p:nvPr/>
        </p:nvPicPr>
        <p:blipFill>
          <a:blip xmlns:r="http://schemas.openxmlformats.org/officeDocument/2006/relationships" xmlns:a="http://schemas.openxmlformats.org/drawingml/2006/main" r:embed="R24e8ce179fe347ab"/>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3566F3-75C8-4D1A-BD9B-F5E8C9B96862}"/>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200 = 156 + 40 + 4։ Margin-ը առանձին է։</a:t>
            </a:r>
          </a:p>
        </p:txBody>
      </p:sp>
      <p:sp>
        <p:nvSpPr>
          <p:cNvPr id="7" name="">
            <a:extLst xmlns:a="http://schemas.openxmlformats.org/drawingml/2006/main">
              <a:ext uri="{FF2B5EF4-FFF2-40B4-BE49-F238E27FC236}">
                <a16:creationId xmlns:a16="http://schemas.microsoft.com/office/drawing/2014/main" id="{53EB9829-1718-41D2-B516-9AB9ECDDB01C}"/>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22</a:t>
            </a:r>
          </a:p>
        </p:txBody>
      </p:sp>
    </p:spTree>
    <p:extLst>
      <p:ext uri="{BB962C8B-B14F-4D97-AF65-F5344CB8AC3E}">
        <p14:creationId xmlns:p14="http://schemas.microsoft.com/office/powerpoint/2010/main" val="17901937"/>
      </p:ext>
    </p:extLst>
  </p:cSld>
</p:sld>
</file>

<file path=ppt/slides/slide2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A851CD-2A8B-4245-8FCA-6FA57E452094}"/>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Չափերի սահմանափակում և քարտ</a:t>
            </a:r>
          </a:p>
        </p:txBody>
      </p:sp>
      <p:sp>
        <p:nvSpPr>
          <p:cNvPr id="2" name="">
            <a:extLst xmlns:a="http://schemas.openxmlformats.org/drawingml/2006/main">
              <a:ext uri="{FF2B5EF4-FFF2-40B4-BE49-F238E27FC236}">
                <a16:creationId xmlns:a16="http://schemas.microsoft.com/office/drawing/2014/main" id="{FAD5E231-1075-4EF7-837F-1A460AFA7429}"/>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max-width-ը պահում է լայնությունը սահմաններում։</a:t>
            </a:r>
          </a:p>
        </p:txBody>
      </p:sp>
      <p:sp>
        <p:nvSpPr>
          <p:cNvPr id="3" name="">
            <a:extLst xmlns:a="http://schemas.openxmlformats.org/drawingml/2006/main">
              <a:ext uri="{FF2B5EF4-FFF2-40B4-BE49-F238E27FC236}">
                <a16:creationId xmlns:a16="http://schemas.microsoft.com/office/drawing/2014/main" id="{7B8AEC6B-35C0-4510-967C-2EE01C83C6E8}"/>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9F513FDE-2DB2-4559-8116-8A4B5E0A8C40}"/>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width: 100%; max-width: 360px;</a:t>
            </a:r>
          </a:p>
          <a:p xmlns:a="http://schemas.openxmlformats.org/drawingml/2006/main">
            <a:pPr>
              <a:defRPr sz="1650" b="0">
                <a:solidFill>
                  <a:srgbClr val="E2E8F0"/>
                </a:solidFill>
              </a:defRPr>
            </a:pPr>
            <a:r>
              <a:rPr sz="1650" b="0">
                <a:solidFill>
                  <a:srgbClr val="E2E8F0"/>
                </a:solidFill>
              </a:rPr>
              <a:t>  min-height: 120px;</a:t>
            </a:r>
          </a:p>
          <a:p xmlns:a="http://schemas.openxmlformats.org/drawingml/2006/main">
            <a:pPr>
              <a:defRPr sz="1650" b="0">
                <a:solidFill>
                  <a:srgbClr val="E2E8F0"/>
                </a:solidFill>
              </a:defRPr>
            </a:pPr>
            <a:r>
              <a:rPr sz="1650" b="0">
                <a:solidFill>
                  <a:srgbClr val="E2E8F0"/>
                </a:solidFill>
              </a:rPr>
              <a:t>  padding: 24px; margin-inline: auto;</a:t>
            </a:r>
          </a:p>
          <a:p xmlns:a="http://schemas.openxmlformats.org/drawingml/2006/main">
            <a:pPr>
              <a:defRPr sz="1650" b="0">
                <a:solidFill>
                  <a:srgbClr val="E2E8F0"/>
                </a:solidFill>
              </a:defRPr>
            </a:pPr>
            <a:r>
              <a:rPr sz="1650" b="0">
                <a:solidFill>
                  <a:srgbClr val="E2E8F0"/>
                </a:solidFill>
              </a:rPr>
              <a:t>  border: 1px solid #94a3b8;</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EF4E6100-37F0-4009-A492-E8D53A368C94}"/>
              </a:ext>
            </a:extLst>
          </p:cNvPr>
          <p:cNvPicPr>
            <a:picLocks xmlns:a="http://schemas.openxmlformats.org/drawingml/2006/main" noChangeAspect="1"/>
          </p:cNvPicPr>
          <p:nvPr/>
        </p:nvPicPr>
        <p:blipFill>
          <a:blip xmlns:r="http://schemas.openxmlformats.org/officeDocument/2006/relationships" xmlns:a="http://schemas.openxmlformats.org/drawingml/2006/main" r:embed="Rd8f2cf2e875d4e63"/>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84D3424-0B52-4D95-B957-C98E2B7510A0}"/>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Քարտը առավելագույնը 360px է և կենտրոնացված։</a:t>
            </a:r>
          </a:p>
        </p:txBody>
      </p:sp>
      <p:sp>
        <p:nvSpPr>
          <p:cNvPr id="7" name="">
            <a:extLst xmlns:a="http://schemas.openxmlformats.org/drawingml/2006/main">
              <a:ext uri="{FF2B5EF4-FFF2-40B4-BE49-F238E27FC236}">
                <a16:creationId xmlns:a16="http://schemas.microsoft.com/office/drawing/2014/main" id="{A9AF846D-03ED-420A-942A-69814017B1A2}"/>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23</a:t>
            </a:r>
          </a:p>
        </p:txBody>
      </p:sp>
    </p:spTree>
    <p:extLst>
      <p:ext uri="{BB962C8B-B14F-4D97-AF65-F5344CB8AC3E}">
        <p14:creationId xmlns:p14="http://schemas.microsoft.com/office/powerpoint/2010/main" val="1092626770"/>
      </p:ext>
    </p:extLst>
  </p:cSld>
</p:sld>
</file>

<file path=ppt/slides/slide2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3C87FA-C0E3-47CF-B922-AFB58A8B05E7}"/>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Ֆոն և գրադիենտ</a:t>
            </a:r>
          </a:p>
        </p:txBody>
      </p:sp>
      <p:sp>
        <p:nvSpPr>
          <p:cNvPr id="2" name="">
            <a:extLst xmlns:a="http://schemas.openxmlformats.org/drawingml/2006/main">
              <a:ext uri="{FF2B5EF4-FFF2-40B4-BE49-F238E27FC236}">
                <a16:creationId xmlns:a16="http://schemas.microsoft.com/office/drawing/2014/main" id="{CB0CB2E6-E288-473E-AD32-1BD2CF8BFF4E}"/>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Ֆոնը կարող է լինել գույն, պատկեր կամ գրադիենտ։</a:t>
            </a:r>
          </a:p>
        </p:txBody>
      </p:sp>
      <p:sp>
        <p:nvSpPr>
          <p:cNvPr id="3" name="">
            <a:extLst xmlns:a="http://schemas.openxmlformats.org/drawingml/2006/main">
              <a:ext uri="{FF2B5EF4-FFF2-40B4-BE49-F238E27FC236}">
                <a16:creationId xmlns:a16="http://schemas.microsoft.com/office/drawing/2014/main" id="{E024F8B9-2742-42B7-9F59-ABE12EAF5365}"/>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772BEE3C-CD31-4FF2-A0F7-6D7CFD2908C3}"/>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background: linear-gradient(120deg,</a:t>
            </a:r>
          </a:p>
          <a:p xmlns:a="http://schemas.openxmlformats.org/drawingml/2006/main">
            <a:pPr>
              <a:defRPr sz="1650" b="0">
                <a:solidFill>
                  <a:srgbClr val="E2E8F0"/>
                </a:solidFill>
              </a:defRPr>
            </a:pPr>
            <a:r>
              <a:rPr sz="1650" b="0">
                <a:solidFill>
                  <a:srgbClr val="E2E8F0"/>
                </a:solidFill>
              </a:rPr>
              <a:t>    #2563eb, #9333ea);</a:t>
            </a:r>
          </a:p>
          <a:p xmlns:a="http://schemas.openxmlformats.org/drawingml/2006/main">
            <a:pPr>
              <a:defRPr sz="1650" b="0">
                <a:solidFill>
                  <a:srgbClr val="E2E8F0"/>
                </a:solidFill>
              </a:defRPr>
            </a:pPr>
            <a:r>
              <a:rPr sz="1650" b="0">
                <a:solidFill>
                  <a:srgbClr val="E2E8F0"/>
                </a:solidFill>
              </a:rPr>
              <a:t>  color: white; padding: 32px;</a:t>
            </a:r>
          </a:p>
          <a:p xmlns:a="http://schemas.openxmlformats.org/drawingml/2006/main">
            <a:pPr>
              <a:defRPr sz="1650" b="0">
                <a:solidFill>
                  <a:srgbClr val="E2E8F0"/>
                </a:solidFill>
              </a:defRPr>
            </a:pPr>
            <a:r>
              <a:rPr sz="1650" b="0">
                <a:solidFill>
                  <a:srgbClr val="E2E8F0"/>
                </a:solidFill>
              </a:rPr>
              <a:t>}</a:t>
            </a:r>
          </a:p>
          <a:p xmlns:a="http://schemas.openxmlformats.org/drawingml/2006/main">
            <a:pPr>
              <a:defRPr sz="1650" b="0">
                <a:solidFill>
                  <a:srgbClr val="E2E8F0"/>
                </a:solidFill>
              </a:defRPr>
            </a:pPr>
            <a:r>
              <a:rPr sz="1650" b="0">
                <a:solidFill>
                  <a:srgbClr val="E2E8F0"/>
                </a:solidFill>
              </a:rPr>
              <a:t>/* background-image: url("images/bg.jpg"); */</a:t>
            </a:r>
          </a:p>
        </p:txBody>
      </p:sp>
      <p:pic>
        <p:nvPicPr>
          <p:cNvPr id="5" name="">
            <a:extLst xmlns:a="http://schemas.openxmlformats.org/drawingml/2006/main">
              <a:ext uri="{FF2B5EF4-FFF2-40B4-BE49-F238E27FC236}">
                <a16:creationId xmlns:a16="http://schemas.microsoft.com/office/drawing/2014/main" id="{FB184B16-48DB-4F9F-8AE1-4DF1DA78F4EC}"/>
              </a:ext>
            </a:extLst>
          </p:cNvPr>
          <p:cNvPicPr>
            <a:picLocks xmlns:a="http://schemas.openxmlformats.org/drawingml/2006/main" noChangeAspect="1"/>
          </p:cNvPicPr>
          <p:nvPr/>
        </p:nvPicPr>
        <p:blipFill>
          <a:blip xmlns:r="http://schemas.openxmlformats.org/officeDocument/2006/relationships" xmlns:a="http://schemas.openxmlformats.org/drawingml/2006/main" r:embed="R2e95a52e1ea0462f"/>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6B3FAB-1F78-48E2-8B3D-EB869A34B69E}"/>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120 աստիճան ուղղությամբ գույների սահուն անցում։</a:t>
            </a:r>
          </a:p>
        </p:txBody>
      </p:sp>
      <p:sp>
        <p:nvSpPr>
          <p:cNvPr id="7" name="">
            <a:extLst xmlns:a="http://schemas.openxmlformats.org/drawingml/2006/main">
              <a:ext uri="{FF2B5EF4-FFF2-40B4-BE49-F238E27FC236}">
                <a16:creationId xmlns:a16="http://schemas.microsoft.com/office/drawing/2014/main" id="{9A5D532E-41C4-4EB6-9B71-B68643DA10D2}"/>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24</a:t>
            </a:r>
          </a:p>
        </p:txBody>
      </p:sp>
    </p:spTree>
    <p:extLst>
      <p:ext uri="{BB962C8B-B14F-4D97-AF65-F5344CB8AC3E}">
        <p14:creationId xmlns:p14="http://schemas.microsoft.com/office/powerpoint/2010/main" val="36001924"/>
      </p:ext>
    </p:extLst>
  </p:cSld>
</p:sld>
</file>

<file path=ppt/slides/slide2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08936A-F3CD-43B5-83E4-00CD0B0AA382}"/>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Կլորացում և ստվեր</a:t>
            </a:r>
          </a:p>
        </p:txBody>
      </p:sp>
      <p:sp>
        <p:nvSpPr>
          <p:cNvPr id="2" name="">
            <a:extLst xmlns:a="http://schemas.openxmlformats.org/drawingml/2006/main">
              <a:ext uri="{FF2B5EF4-FFF2-40B4-BE49-F238E27FC236}">
                <a16:creationId xmlns:a16="http://schemas.microsoft.com/office/drawing/2014/main" id="{68BC1DCB-E84B-436F-872D-ACFF3380CF31}"/>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border-radius-ը կլորացնում է, box-shadow-ը տալիս է ստվեր։</a:t>
            </a:r>
          </a:p>
        </p:txBody>
      </p:sp>
      <p:sp>
        <p:nvSpPr>
          <p:cNvPr id="3" name="">
            <a:extLst xmlns:a="http://schemas.openxmlformats.org/drawingml/2006/main">
              <a:ext uri="{FF2B5EF4-FFF2-40B4-BE49-F238E27FC236}">
                <a16:creationId xmlns:a16="http://schemas.microsoft.com/office/drawing/2014/main" id="{7A70B87A-2768-4AC6-8671-1D53B5F10D11}"/>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6D8127CB-A693-4AE2-A340-0BD89C612739}"/>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border-radius: 20px;</a:t>
            </a:r>
          </a:p>
          <a:p xmlns:a="http://schemas.openxmlformats.org/drawingml/2006/main">
            <a:pPr>
              <a:defRPr sz="1650" b="0">
                <a:solidFill>
                  <a:srgbClr val="E2E8F0"/>
                </a:solidFill>
              </a:defRPr>
            </a:pPr>
            <a:r>
              <a:rPr sz="1650" b="0">
                <a:solidFill>
                  <a:srgbClr val="E2E8F0"/>
                </a:solidFill>
              </a:rPr>
              <a:t>  box-shadow: 0 10px 24px #0f172a26;</a:t>
            </a:r>
          </a:p>
          <a:p xmlns:a="http://schemas.openxmlformats.org/drawingml/2006/main">
            <a:pPr>
              <a:defRPr sz="1650" b="0">
                <a:solidFill>
                  <a:srgbClr val="E2E8F0"/>
                </a:solidFill>
              </a:defRPr>
            </a:pPr>
            <a:r>
              <a:rPr sz="1650" b="0">
                <a:solidFill>
                  <a:srgbClr val="E2E8F0"/>
                </a:solidFill>
              </a:rPr>
              <a:t>  padding: 24px; background: white;</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2CE84D48-F2A6-4865-AB3E-73F3F322954C}"/>
              </a:ext>
            </a:extLst>
          </p:cNvPr>
          <p:cNvPicPr>
            <a:picLocks xmlns:a="http://schemas.openxmlformats.org/drawingml/2006/main" noChangeAspect="1"/>
          </p:cNvPicPr>
          <p:nvPr/>
        </p:nvPicPr>
        <p:blipFill>
          <a:blip xmlns:r="http://schemas.openxmlformats.org/officeDocument/2006/relationships" xmlns:a="http://schemas.openxmlformats.org/drawingml/2006/main" r:embed="R621b54a3e6e64b15"/>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108C27-B416-4ABB-B803-5DE044E920E5}"/>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Ստվերը ներքև է տեղաշարժված 10px-ով։</a:t>
            </a:r>
          </a:p>
        </p:txBody>
      </p:sp>
      <p:sp>
        <p:nvSpPr>
          <p:cNvPr id="7" name="">
            <a:extLst xmlns:a="http://schemas.openxmlformats.org/drawingml/2006/main">
              <a:ext uri="{FF2B5EF4-FFF2-40B4-BE49-F238E27FC236}">
                <a16:creationId xmlns:a16="http://schemas.microsoft.com/office/drawing/2014/main" id="{872AE855-AC67-412E-A580-A330FFCE5E85}"/>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25</a:t>
            </a:r>
          </a:p>
        </p:txBody>
      </p:sp>
    </p:spTree>
    <p:extLst>
      <p:ext uri="{BB962C8B-B14F-4D97-AF65-F5344CB8AC3E}">
        <p14:creationId xmlns:p14="http://schemas.microsoft.com/office/powerpoint/2010/main" val="1891192678"/>
      </p:ext>
    </p:extLst>
  </p:cSld>
</p:sld>
</file>

<file path=ppt/slides/slide2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135C03-83D3-43B2-8657-380A6285F10E}"/>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Պատկերների ոճավորում</a:t>
            </a:r>
          </a:p>
        </p:txBody>
      </p:sp>
      <p:sp>
        <p:nvSpPr>
          <p:cNvPr id="2" name="">
            <a:extLst xmlns:a="http://schemas.openxmlformats.org/drawingml/2006/main">
              <a:ext uri="{FF2B5EF4-FFF2-40B4-BE49-F238E27FC236}">
                <a16:creationId xmlns:a16="http://schemas.microsoft.com/office/drawing/2014/main" id="{53105EA3-E7DB-49D5-861E-E4CE2253C5D0}"/>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img-ը պահում է պատկերի իմաստը և այլընտրանքային տեքստը։</a:t>
            </a:r>
          </a:p>
        </p:txBody>
      </p:sp>
      <p:sp>
        <p:nvSpPr>
          <p:cNvPr id="3" name="">
            <a:extLst xmlns:a="http://schemas.openxmlformats.org/drawingml/2006/main">
              <a:ext uri="{FF2B5EF4-FFF2-40B4-BE49-F238E27FC236}">
                <a16:creationId xmlns:a16="http://schemas.microsoft.com/office/drawing/2014/main" id="{729A1BFD-428F-45E2-9D9D-27359199BA01}"/>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9157DE41-11E8-4A01-B3D7-C3A860A35250}"/>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img {</a:t>
            </a:r>
          </a:p>
          <a:p xmlns:a="http://schemas.openxmlformats.org/drawingml/2006/main">
            <a:pPr>
              <a:defRPr sz="1650" b="0">
                <a:solidFill>
                  <a:srgbClr val="E2E8F0"/>
                </a:solidFill>
              </a:defRPr>
            </a:pPr>
            <a:r>
              <a:rPr sz="1650" b="0">
                <a:solidFill>
                  <a:srgbClr val="E2E8F0"/>
                </a:solidFill>
              </a:rPr>
              <a:t>  width: 100%; max-width: 320px;</a:t>
            </a:r>
          </a:p>
          <a:p xmlns:a="http://schemas.openxmlformats.org/drawingml/2006/main">
            <a:pPr>
              <a:defRPr sz="1650" b="0">
                <a:solidFill>
                  <a:srgbClr val="E2E8F0"/>
                </a:solidFill>
              </a:defRPr>
            </a:pPr>
            <a:r>
              <a:rPr sz="1650" b="0">
                <a:solidFill>
                  <a:srgbClr val="E2E8F0"/>
                </a:solidFill>
              </a:rPr>
              <a:t>  height: auto;</a:t>
            </a:r>
          </a:p>
          <a:p xmlns:a="http://schemas.openxmlformats.org/drawingml/2006/main">
            <a:pPr>
              <a:defRPr sz="1650" b="0">
                <a:solidFill>
                  <a:srgbClr val="E2E8F0"/>
                </a:solidFill>
              </a:defRPr>
            </a:pPr>
            <a:r>
              <a:rPr sz="1650" b="0">
                <a:solidFill>
                  <a:srgbClr val="E2E8F0"/>
                </a:solidFill>
              </a:rPr>
              <a:t>  border-radius: 16px;</a:t>
            </a:r>
          </a:p>
          <a:p xmlns:a="http://schemas.openxmlformats.org/drawingml/2006/main">
            <a:pPr>
              <a:defRPr sz="1650" b="0">
                <a:solidFill>
                  <a:srgbClr val="E2E8F0"/>
                </a:solidFill>
              </a:defRPr>
            </a:pPr>
            <a:r>
              <a:rPr sz="1650" b="0">
                <a:solidFill>
                  <a:srgbClr val="E2E8F0"/>
                </a:solidFill>
              </a:rPr>
              <a:t>}</a:t>
            </a:r>
          </a:p>
          <a:p xmlns:a="http://schemas.openxmlformats.org/drawingml/2006/main">
            <a:pPr>
              <a:defRPr sz="1650" b="0">
                <a:solidFill>
                  <a:srgbClr val="E2E8F0"/>
                </a:solidFill>
              </a:defRPr>
            </a:pPr>
            <a:r>
              <a:rPr sz="1650" b="0">
                <a:solidFill>
                  <a:srgbClr val="E2E8F0"/>
                </a:solidFill>
              </a:rPr>
              <a:t>/* Չափերով տուփում՝ object-fit: cover; */</a:t>
            </a:r>
          </a:p>
        </p:txBody>
      </p:sp>
      <p:pic>
        <p:nvPicPr>
          <p:cNvPr id="5" name="">
            <a:extLst xmlns:a="http://schemas.openxmlformats.org/drawingml/2006/main">
              <a:ext uri="{FF2B5EF4-FFF2-40B4-BE49-F238E27FC236}">
                <a16:creationId xmlns:a16="http://schemas.microsoft.com/office/drawing/2014/main" id="{4FA57036-1CFD-4E89-AE44-D82EC22BAAE5}"/>
              </a:ext>
            </a:extLst>
          </p:cNvPr>
          <p:cNvPicPr>
            <a:picLocks xmlns:a="http://schemas.openxmlformats.org/drawingml/2006/main" noChangeAspect="1"/>
          </p:cNvPicPr>
          <p:nvPr/>
        </p:nvPicPr>
        <p:blipFill>
          <a:blip xmlns:r="http://schemas.openxmlformats.org/officeDocument/2006/relationships" xmlns:a="http://schemas.openxmlformats.org/drawingml/2006/main" r:embed="R0dc84c8708ff4cdc"/>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FFC335-79D9-42E0-B812-8330C4AE33CF}"/>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Պատկերը պահպանում է իր համամասնությունը և կլոր անկյունները։</a:t>
            </a:r>
          </a:p>
        </p:txBody>
      </p:sp>
      <p:sp>
        <p:nvSpPr>
          <p:cNvPr id="7" name="">
            <a:extLst xmlns:a="http://schemas.openxmlformats.org/drawingml/2006/main">
              <a:ext uri="{FF2B5EF4-FFF2-40B4-BE49-F238E27FC236}">
                <a16:creationId xmlns:a16="http://schemas.microsoft.com/office/drawing/2014/main" id="{26B9E570-131D-4E40-8FD6-6B7403060757}"/>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26</a:t>
            </a:r>
          </a:p>
        </p:txBody>
      </p:sp>
    </p:spTree>
    <p:extLst>
      <p:ext uri="{BB962C8B-B14F-4D97-AF65-F5344CB8AC3E}">
        <p14:creationId xmlns:p14="http://schemas.microsoft.com/office/powerpoint/2010/main" val="1064348827"/>
      </p:ext>
    </p:extLst>
  </p:cSld>
</p:sld>
</file>

<file path=ppt/slides/slide2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F10A9E-B3D1-4F62-90D9-27F53BB9422B}"/>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display և visibility</a:t>
            </a:r>
          </a:p>
        </p:txBody>
      </p:sp>
      <p:sp>
        <p:nvSpPr>
          <p:cNvPr id="2" name="">
            <a:extLst xmlns:a="http://schemas.openxmlformats.org/drawingml/2006/main">
              <a:ext uri="{FF2B5EF4-FFF2-40B4-BE49-F238E27FC236}">
                <a16:creationId xmlns:a16="http://schemas.microsoft.com/office/drawing/2014/main" id="{AF7C0AC7-0161-4E15-876B-D89B4B57AC5C}"/>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Տարրի թաքցնելու եղանակները տարբեր են ազդում դասավորության վրա։</a:t>
            </a:r>
          </a:p>
        </p:txBody>
      </p:sp>
      <p:sp>
        <p:nvSpPr>
          <p:cNvPr id="3" name="">
            <a:extLst xmlns:a="http://schemas.openxmlformats.org/drawingml/2006/main">
              <a:ext uri="{FF2B5EF4-FFF2-40B4-BE49-F238E27FC236}">
                <a16:creationId xmlns:a16="http://schemas.microsoft.com/office/drawing/2014/main" id="{993EA9F2-D485-4040-8CC8-CE41D2B5839D}"/>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DC201865-035B-4978-9CEC-6744B5E89D6C}"/>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.hidden { visibility: hidden; }</a:t>
            </a:r>
          </a:p>
          <a:p xmlns:a="http://schemas.openxmlformats.org/drawingml/2006/main">
            <a:pPr>
              <a:defRPr sz="1650" b="0">
                <a:solidFill>
                  <a:srgbClr val="E2E8F0"/>
                </a:solidFill>
              </a:defRPr>
            </a:pPr>
            <a:r>
              <a:rPr sz="1650" b="0">
                <a:solidFill>
                  <a:srgbClr val="E2E8F0"/>
                </a:solidFill>
              </a:rPr>
              <a:t>.removed { display: none; }</a:t>
            </a:r>
          </a:p>
          <a:p xmlns:a="http://schemas.openxmlformats.org/drawingml/2006/main">
            <a:pPr>
              <a:defRPr sz="1650" b="0">
                <a:solidFill>
                  <a:srgbClr val="E2E8F0"/>
                </a:solidFill>
              </a:defRPr>
            </a:pPr>
            <a:r>
              <a:rPr sz="1650" b="0">
                <a:solidFill>
                  <a:srgbClr val="E2E8F0"/>
                </a:solidFill>
              </a:rPr>
              <a:t>.box { display: inline-block;</a:t>
            </a:r>
          </a:p>
          <a:p xmlns:a="http://schemas.openxmlformats.org/drawingml/2006/main">
            <a:pPr>
              <a:defRPr sz="1650" b="0">
                <a:solidFill>
                  <a:srgbClr val="E2E8F0"/>
                </a:solidFill>
              </a:defRPr>
            </a:pPr>
            <a:r>
              <a:rPr sz="1650" b="0">
                <a:solidFill>
                  <a:srgbClr val="E2E8F0"/>
                </a:solidFill>
              </a:rPr>
              <a:t>  padding: 20px; background: #dbeafe; }</a:t>
            </a:r>
          </a:p>
        </p:txBody>
      </p:sp>
      <p:pic>
        <p:nvPicPr>
          <p:cNvPr id="5" name="">
            <a:extLst xmlns:a="http://schemas.openxmlformats.org/drawingml/2006/main">
              <a:ext uri="{FF2B5EF4-FFF2-40B4-BE49-F238E27FC236}">
                <a16:creationId xmlns:a16="http://schemas.microsoft.com/office/drawing/2014/main" id="{28010287-0E5E-4F6C-AD8E-4EDCA0EE5469}"/>
              </a:ext>
            </a:extLst>
          </p:cNvPr>
          <p:cNvPicPr>
            <a:picLocks xmlns:a="http://schemas.openxmlformats.org/drawingml/2006/main" noChangeAspect="1"/>
          </p:cNvPicPr>
          <p:nvPr/>
        </p:nvPicPr>
        <p:blipFill>
          <a:blip xmlns:r="http://schemas.openxmlformats.org/officeDocument/2006/relationships" xmlns:a="http://schemas.openxmlformats.org/drawingml/2006/main" r:embed="R67fb1a9c60d04811"/>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E8455A-83E9-4A79-AAF6-5A147F2A76C2}"/>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B-ի տեղը պահպանվում է, D-ն տեղ չի զբաղեցնում։</a:t>
            </a:r>
          </a:p>
        </p:txBody>
      </p:sp>
      <p:sp>
        <p:nvSpPr>
          <p:cNvPr id="7" name="">
            <a:extLst xmlns:a="http://schemas.openxmlformats.org/drawingml/2006/main">
              <a:ext uri="{FF2B5EF4-FFF2-40B4-BE49-F238E27FC236}">
                <a16:creationId xmlns:a16="http://schemas.microsoft.com/office/drawing/2014/main" id="{480621DB-57C0-49AD-8745-9C674B19C7AA}"/>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27</a:t>
            </a:r>
          </a:p>
        </p:txBody>
      </p:sp>
    </p:spTree>
    <p:extLst>
      <p:ext uri="{BB962C8B-B14F-4D97-AF65-F5344CB8AC3E}">
        <p14:creationId xmlns:p14="http://schemas.microsoft.com/office/powerpoint/2010/main" val="1916258683"/>
      </p:ext>
    </p:extLst>
  </p:cSld>
</p:sld>
</file>

<file path=ppt/slides/slide2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1A60B4-1251-4883-890F-54F02903061D}"/>
              </a:ext>
            </a:extLst>
          </p:cNvPr>
          <p:cNvSpPr>
            <a:spLocks xmlns:a="http://schemas.openxmlformats.org/drawingml/2006/main" noGrp="1"/>
          </p:cNvSpPr>
          <p:nvPr/>
        </p:nvSpPr>
        <p:spPr>
          <a:xfrm xmlns:a="http://schemas.openxmlformats.org/drawingml/2006/main">
            <a:off x="514350" y="381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Բովանդակության արտահոսք</a:t>
            </a:r>
          </a:p>
        </p:txBody>
      </p:sp>
      <p:sp>
        <p:nvSpPr>
          <p:cNvPr id="2" name="">
            <a:extLst xmlns:a="http://schemas.openxmlformats.org/drawingml/2006/main">
              <a:ext uri="{FF2B5EF4-FFF2-40B4-BE49-F238E27FC236}">
                <a16:creationId xmlns:a16="http://schemas.microsoft.com/office/drawing/2014/main" id="{7FF8027D-492B-4FF0-8C2A-EBABE503BEB0}"/>
              </a:ext>
            </a:extLst>
          </p:cNvPr>
          <p:cNvSpPr>
            <a:spLocks xmlns:a="http://schemas.openxmlformats.org/drawingml/2006/main" noGrp="1"/>
          </p:cNvSpPr>
          <p:nvPr/>
        </p:nvSpPr>
        <p:spPr>
          <a:xfrm xmlns:a="http://schemas.openxmlformats.org/drawingml/2006/main">
            <a:off x="514350" y="1352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B923C"/>
                </a:solidFill>
              </a:defRPr>
            </a:defPPr>
          </a:lstStyle>
          <a:p xmlns:a="http://schemas.openxmlformats.org/drawingml/2006/main">
            <a:pPr>
              <a:defRPr sz="2025" b="0">
                <a:solidFill>
                  <a:srgbClr val="FB923C"/>
                </a:solidFill>
              </a:defRPr>
            </a:pPr>
            <a:r>
              <a:rPr sz="2025" b="0">
                <a:solidFill>
                  <a:srgbClr val="FB923C"/>
                </a:solidFill>
              </a:rPr>
              <a:t>overflow-ը որոշում է սահմաններից դուրս բովանդակության վարքը։</a:t>
            </a:r>
          </a:p>
        </p:txBody>
      </p:sp>
      <p:sp>
        <p:nvSpPr>
          <p:cNvPr id="3" name="">
            <a:extLst xmlns:a="http://schemas.openxmlformats.org/drawingml/2006/main">
              <a:ext uri="{FF2B5EF4-FFF2-40B4-BE49-F238E27FC236}">
                <a16:creationId xmlns:a16="http://schemas.microsoft.com/office/drawing/2014/main" id="{03CCFC64-EB10-498B-8083-2237C91FB1A0}"/>
              </a:ext>
            </a:extLst>
          </p:cNvPr>
          <p:cNvSpPr>
            <a:spLocks xmlns:a="http://schemas.openxmlformats.org/drawingml/2006/main" noGrp="1"/>
          </p:cNvSpPr>
          <p:nvPr/>
        </p:nvSpPr>
        <p:spPr>
          <a:xfrm xmlns:a="http://schemas.openxmlformats.org/drawingml/2006/main">
            <a:off x="514350" y="2238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94A3B8"/>
                </a:solidFill>
              </a:defRPr>
            </a:defPPr>
          </a:lstStyle>
          <a:p xmlns:a="http://schemas.openxmlformats.org/drawingml/2006/main">
            <a:pPr>
              <a:defRPr sz="1725" b="0">
                <a:solidFill>
                  <a:srgbClr val="94A3B8"/>
                </a:solidFill>
              </a:defRPr>
            </a:pPr>
            <a:r>
              <a:rPr sz="1725" b="0">
                <a:solidFill>
                  <a:srgbClr val="94A3B8"/>
                </a:solidFill>
              </a:rPr>
              <a:t>Կոդի օրինակ</a:t>
            </a:r>
          </a:p>
        </p:txBody>
      </p:sp>
      <p:sp>
        <p:nvSpPr>
          <p:cNvPr id="4" name="">
            <a:extLst xmlns:a="http://schemas.openxmlformats.org/drawingml/2006/main">
              <a:ext uri="{FF2B5EF4-FFF2-40B4-BE49-F238E27FC236}">
                <a16:creationId xmlns:a16="http://schemas.microsoft.com/office/drawing/2014/main" id="{2E961159-94D0-4929-9776-06CCA501E3A5}"/>
              </a:ext>
            </a:extLst>
          </p:cNvPr>
          <p:cNvSpPr>
            <a:spLocks xmlns:a="http://schemas.openxmlformats.org/drawingml/2006/main" noGrp="1"/>
          </p:cNvSpPr>
          <p:nvPr/>
        </p:nvSpPr>
        <p:spPr>
          <a:xfrm xmlns:a="http://schemas.openxmlformats.org/drawingml/2006/main">
            <a:off x="514350" y="2714625"/>
            <a:ext cx="600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E2E8F0"/>
                </a:solidFill>
              </a:defRPr>
            </a:defPPr>
          </a:lstStyle>
          <a:p xmlns:a="http://schemas.openxmlformats.org/drawingml/2006/main">
            <a:pPr>
              <a:defRPr sz="1650" b="0">
                <a:solidFill>
                  <a:srgbClr val="E2E8F0"/>
                </a:solidFill>
              </a:defRPr>
            </a:pPr>
            <a:r>
              <a:rPr sz="1650" b="0">
                <a:solidFill>
                  <a:srgbClr val="E2E8F0"/>
                </a:solidFill>
              </a:rPr>
              <a:t>.box {</a:t>
            </a:r>
          </a:p>
          <a:p xmlns:a="http://schemas.openxmlformats.org/drawingml/2006/main">
            <a:pPr>
              <a:defRPr sz="1650" b="0">
                <a:solidFill>
                  <a:srgbClr val="E2E8F0"/>
                </a:solidFill>
              </a:defRPr>
            </a:pPr>
            <a:r>
              <a:rPr sz="1650" b="0">
                <a:solidFill>
                  <a:srgbClr val="E2E8F0"/>
                </a:solidFill>
              </a:rPr>
              <a:t>  height: 130px; overflow: auto;</a:t>
            </a:r>
          </a:p>
          <a:p xmlns:a="http://schemas.openxmlformats.org/drawingml/2006/main">
            <a:pPr>
              <a:defRPr sz="1650" b="0">
                <a:solidFill>
                  <a:srgbClr val="E2E8F0"/>
                </a:solidFill>
              </a:defRPr>
            </a:pPr>
            <a:r>
              <a:rPr sz="1650" b="0">
                <a:solidFill>
                  <a:srgbClr val="E2E8F0"/>
                </a:solidFill>
              </a:rPr>
              <a:t>  padding: 16px; border: 2px solid #2563eb;</a:t>
            </a:r>
          </a:p>
          <a:p xmlns:a="http://schemas.openxmlformats.org/drawingml/2006/main">
            <a:pPr>
              <a:defRPr sz="1650" b="0">
                <a:solidFill>
                  <a:srgbClr val="E2E8F0"/>
                </a:solidFill>
              </a:defRPr>
            </a:pPr>
            <a:r>
              <a:rPr sz="1650" b="0">
                <a:solidFill>
                  <a:srgbClr val="E2E8F0"/>
                </a:solidFill>
              </a:rPr>
              <a:t>}</a:t>
            </a:r>
          </a:p>
        </p:txBody>
      </p:sp>
      <p:pic>
        <p:nvPicPr>
          <p:cNvPr id="5" name="">
            <a:extLst xmlns:a="http://schemas.openxmlformats.org/drawingml/2006/main">
              <a:ext uri="{FF2B5EF4-FFF2-40B4-BE49-F238E27FC236}">
                <a16:creationId xmlns:a16="http://schemas.microsoft.com/office/drawing/2014/main" id="{B718D152-52A7-47EF-AB81-C6E48B18CF5A}"/>
              </a:ext>
            </a:extLst>
          </p:cNvPr>
          <p:cNvPicPr>
            <a:picLocks xmlns:a="http://schemas.openxmlformats.org/drawingml/2006/main" noChangeAspect="1"/>
          </p:cNvPicPr>
          <p:nvPr/>
        </p:nvPicPr>
        <p:blipFill>
          <a:blip xmlns:r="http://schemas.openxmlformats.org/officeDocument/2006/relationships" xmlns:a="http://schemas.openxmlformats.org/drawingml/2006/main" r:embed="R4dfbd2a377124c09"/>
          <a:stretch xmlns:a="http://schemas.openxmlformats.org/drawingml/2006/main"/>
        </p:blipFill>
        <p:spPr>
          <a:xfrm xmlns:a="http://schemas.openxmlformats.org/drawingml/2006/main">
            <a:off x="6858000" y="2524125"/>
            <a:ext cx="4857750" cy="3238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DC558D-4F30-42FE-AD25-93A2A51D6BF8}"/>
              </a:ext>
            </a:extLst>
          </p:cNvPr>
          <p:cNvSpPr>
            <a:spLocks xmlns:a="http://schemas.openxmlformats.org/drawingml/2006/main" noGrp="1"/>
          </p:cNvSpPr>
          <p:nvPr/>
        </p:nvSpPr>
        <p:spPr>
          <a:xfrm xmlns:a="http://schemas.openxmlformats.org/drawingml/2006/main">
            <a:off x="514350" y="581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E2E8F0"/>
                </a:solidFill>
              </a:defRPr>
            </a:defPPr>
          </a:lstStyle>
          <a:p xmlns:a="http://schemas.openxmlformats.org/drawingml/2006/main">
            <a:pPr>
              <a:defRPr sz="1725" b="0">
                <a:solidFill>
                  <a:srgbClr val="E2E8F0"/>
                </a:solidFill>
              </a:defRPr>
            </a:pPr>
            <a:r>
              <a:rPr sz="1725" b="0">
                <a:solidFill>
                  <a:srgbClr val="E2E8F0"/>
                </a:solidFill>
              </a:rPr>
              <a:t>Բովանդակությունը հասանելի է ոլորմամբ։</a:t>
            </a:r>
          </a:p>
        </p:txBody>
      </p:sp>
      <p:sp>
        <p:nvSpPr>
          <p:cNvPr id="7" name="">
            <a:extLst xmlns:a="http://schemas.openxmlformats.org/drawingml/2006/main">
              <a:ext uri="{FF2B5EF4-FFF2-40B4-BE49-F238E27FC236}">
                <a16:creationId xmlns:a16="http://schemas.microsoft.com/office/drawing/2014/main" id="{8B8AF567-CC00-4E9C-B03E-88EEDFD483CA}"/>
              </a:ext>
            </a:extLst>
          </p:cNvPr>
          <p:cNvSpPr>
            <a:spLocks xmlns:a="http://schemas.openxmlformats.org/drawingml/2006/main" noGrp="1"/>
          </p:cNvSpPr>
          <p:nvPr/>
        </p:nvSpPr>
        <p:spPr>
          <a:xfrm xmlns:a="http://schemas.openxmlformats.org/drawingml/2006/main">
            <a:off x="11334750" y="64770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4A3B8"/>
                </a:solidFill>
              </a:defRPr>
            </a:defPPr>
          </a:lstStyle>
          <a:p xmlns:a="http://schemas.openxmlformats.org/drawingml/2006/main">
            <a:pPr>
              <a:defRPr sz="1200" b="0">
                <a:solidFill>
                  <a:srgbClr val="94A3B8"/>
                </a:solidFill>
              </a:defRPr>
            </a:pPr>
            <a:r>
              <a:rPr sz="1200" b="0">
                <a:solidFill>
                  <a:srgbClr val="94A3B8"/>
                </a:solidFill>
              </a:rPr>
              <a:t>28</a:t>
            </a:r>
          </a:p>
        </p:txBody>
      </p:sp>
    </p:spTree>
    <p:extLst>
      <p:ext uri="{BB962C8B-B14F-4D97-AF65-F5344CB8AC3E}">
        <p14:creationId xmlns:p14="http://schemas.microsoft.com/office/powerpoint/2010/main" val="926786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DejaVu Sans"/>
        <a:cs typeface="DejaVu Sans"/>
      </a:majorFont>
      <a:minorFont>
        <a:latin typeface="DejaVu Sans"/>
        <a:ea typeface="DejaVu Sans"/>
        <a:cs typeface="DejaVu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2026-10-12T04:57:44.2610000Z</dcterms:created>
  <dcterms:modified xsi:type="dcterms:W3CDTF">2026-10-12T04:57:44.2610000Z</dcterms:modified>
</coreProperties>
</file>