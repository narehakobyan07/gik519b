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8572500" cx="1524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g/OwSXg+iiwrwYdiHkas1MORny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Նյութը նախատեսված է HTML-ի և CSS-ի հիմունքներին ծանոթ ուսանողների համար։ Յուրաքանչյուր օրինակ ցույց տալ կոդի փոփոխությամբ և արդյունքի համեմատությամբ։</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Էջի տարրերն սկզբում դասավորվում են սովորական հոսքով։ Բլոկային տարրը սովորաբար սկսում է նոր տողից, իսկ տեքստն ու inline տարրերը տեղավորվում են տողերի մեջ։ position: static-ը լռելյայն դիրքավորումն է։ Այդ դեպքում top և left հատկություններով տարրը չենք տեղաշարժում։ relative-ի դեպքում տարրը նախ ստանում է իր սովորական տեղը, հետո տեսանելիորեն տեղաշարժվում է տրված չափով։</a:t>
            </a:r>
            <a:endParaRPr/>
          </a:p>
          <a:p>
            <a:pPr indent="0" lvl="0" marL="0" rtl="0" algn="l">
              <a:spcBef>
                <a:spcPts val="0"/>
              </a:spcBef>
              <a:spcAft>
                <a:spcPts val="0"/>
              </a:spcAft>
              <a:buNone/>
            </a:pPr>
            <a:r>
              <a:rPr lang="en-US" sz="1200"/>
              <a:t>Օրինակում երկրորդ բլոկը տեղափոխվում է 18px ներքև և 24px աջ։ Նրա սկզբնական զբաղեցրած տեղը պահպանվում է, հետևաբար երրորդ բլոկը չի բարձրանում այդ տեղը լրացնելու համար։ Տեղաշարժը կարող է ծածկել հարևան տարրին։ relative-ը հաճախ պետք է նաև որպես ներսի absolute տարրի հենակետ։</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Փոխել top-ը -18px-ի։ Նախապես ասել՝ որ ուղղությամբ կշարժվի բլոկը։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https://www.w3.org/TR/css-position-3/</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7" name="Google Shape;3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absolute տարրը դուրս է գալիս սովորական հոսքից։ Մյուս տարրերը նրա համար առանձին տեղ չեն պահում։ Սկզբնական սովորեցման համար հարմար կանոնն է՝ քարտին տալիս ենք relative, նրա նշանին՝ absolute։ Այդպես նշանի top և right հեռավորությունները հաշվում ենք քարտի դիրքավորման տարածքից։ Եթե մոտակա նախնին դիրքավորում չունի, պետք է փնտրել ավելի վերևի համապատասխան հենակետը։</a:t>
            </a:r>
            <a:endParaRPr/>
          </a:p>
          <a:p>
            <a:pPr indent="0" lvl="0" marL="0" rtl="0" algn="l">
              <a:spcBef>
                <a:spcPts val="0"/>
              </a:spcBef>
              <a:spcAft>
                <a:spcPts val="0"/>
              </a:spcAft>
              <a:buNone/>
            </a:pPr>
            <a:r>
              <a:rPr lang="en-US" sz="1200"/>
              <a:t>Պետք է հաշվի առնել, որ transform-ի նման որոշ հատկություններ նույնպես կարող են հենակետ ձևավորել։ Ուստի absolute-ը միշտ անմիջական ծնողի նկատմամբ է արտահայտությունը սխալ է։ Նշանը չի բարձրացնում քարտի բարձրությունը։ Եթե այն ծածկում է վերնագիրը, քարտին պետք է ավելացնել համապատասխան padding կամ ընտրել այլ տեղադրում։</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Հանել քարտի position: relative-ը և բացատրել նշանի դիրքի փոփոխությունը։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https://www.w3.org/TR/css-position-3/</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47" name="Google Shape;4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Fixed դիրքավորումը հարմար է օգնության կոճակի կամ էկրանին մշտապես երևացող կառավարման տարրի համար։ Տարրը դուրս է հոսքից և սովորաբար տեղավորվում է viewport-ի նկատմամբ։ Էջը ոլորելիս այն նույն տեղում է մնում։ Քանի որ հոսքը նրա համար տեղ չի պահում, ներքևի բովանդակությունը կարող է հայտնվել կոճակի տակ։</a:t>
            </a:r>
            <a:endParaRPr/>
          </a:p>
          <a:p>
            <a:pPr indent="0" lvl="0" marL="0" rtl="0" algn="l">
              <a:spcBef>
                <a:spcPts val="0"/>
              </a:spcBef>
              <a:spcAft>
                <a:spcPts val="0"/>
              </a:spcAft>
              <a:buNone/>
            </a:pPr>
            <a:r>
              <a:rPr lang="en-US" sz="1200"/>
              <a:t>Ցույց տվեք՝ ինչպես է 20px հեռավորությունը հաշվվում պատուհանի աջ և ներքևի եզրերից։ Այնուհետև նշեք բացառությունը. transform ունեցող նախնին կարող է փոխել fixed-ի հենակետը։ Մշտական վերնագրի դեպքում բովանդակության վերևում պետք է նախատեսել բավարար տարածք։ Փոքր էկրանին մեծ fixed բլոկը կարող է զբաղեցնել ընթերցման տարածքի զգալի մասը։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Էջը երկարացնել և ոլորել։ Ստուգել՝ կոճակը չի՞ ծածկում վերջին հղումը։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https://www.w3.org/TR/css-position-3/</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57" name="Google Shape;5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Sticky տարրը տեղ է զբաղեցնում սովորական հոսքում։ Երբ ոլորման ընթացքում հասնում է top-ով նշված շեմին, մնում է այդ սահմանին մոտ՝ իր պարունակող բլոկի թույլատրած շրջանակում։ Այն չի կարող անվերջ դուրս գալ իր ծնողի սահմաններից։ Օրինակի top: 0-ը նշանակում է կպչել վերին եզրին։</a:t>
            </a:r>
            <a:endParaRPr/>
          </a:p>
          <a:p>
            <a:pPr indent="0" lvl="0" marL="0" rtl="0" algn="l">
              <a:spcBef>
                <a:spcPts val="0"/>
              </a:spcBef>
              <a:spcAft>
                <a:spcPts val="0"/>
              </a:spcAft>
              <a:buNone/>
            </a:pPr>
            <a:r>
              <a:rPr lang="en-US" sz="1200"/>
              <a:t>Եթե արդյունքը չի երևում, ստուգում ենք երեք բան. կա՞ top կամ այլ համապատասխան inset, կա՞ բավական երկար բովանդակություն, և ո՞ր նախնին է ստեղծում ոլորման միջավայր։ Նախնու overflow: auto կամ hidden արժեքները կարող են փոխել sticky-ի վարքը։ Եթե նավիգացիայի ծնողն ունի միայն նավիգացիայի բարձրությունը, կպչելու համար ազատ տարածք կարող է չլինել։ Ֆոնն անհրաժեշտ է, որպեսզի ներքևից անցնող տեքստը չխառնվի նավիգացիայի հետ։</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Փորձարկել նախնու overflow: auto-ն։ Բացատրել՝ որտեղ է հիմա կատարվում ոլորումը։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https://www.w3.org/TR/css-position-3/</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67" name="Google Shape;6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z-index-ը մասնակցում է տարրերի շերտավորման հերթականությանը։ Դիրքավորված տարրերի համար ոչ auto z-index-ը կարող է ստեղծել առանձին stacking context։ Այդ միջավայրի ներսում զավակների թվերը համեմատվում են իրար հետ, իսկ ամբողջ միջավայրը արտաքին հարևանների համար հանդես է գալիս որպես մեկ ամբողջություն։</a:t>
            </a:r>
            <a:endParaRPr/>
          </a:p>
          <a:p>
            <a:pPr indent="0" lvl="0" marL="0" rtl="0" algn="l">
              <a:spcBef>
                <a:spcPts val="0"/>
              </a:spcBef>
              <a:spcAft>
                <a:spcPts val="0"/>
              </a:spcAft>
              <a:buNone/>
            </a:pPr>
            <a:r>
              <a:rPr lang="en-US" sz="1200"/>
              <a:t>Օրինակում group-a-ի զավակն ունի 999, բայց իր ծնողի միջավայրը group-b-ից ցածր է։ Այդ զավակը միայն մեծ թիվ ստանալով չի անցնի group-b-ի վրայով։ transform-ը և 1-ից փոքր opacity-ն նույնպես կարող են միջավայր ստեղծել։ Flex և Grid տարրերի վրա z-index-ը կարող է գործել նաև առանց position-ի փոփոխության։ Խնդիրը շտկելիս ստուգում ենք նախնիներին, ոչ միայն ծածկվող տարրի թիվը։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group-a-ի z-index-ը դարձնել 3 և բացատրել արդյունքը։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https://www.w3.org/TR/css-position-3/</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77" name="Google Shape;7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Float-ը թույլ է տալիս պատկերը կամ այլ բլոկը տեղավորել ձախ կամ աջ, իսկ հաջորդ տեքստը հոսում է դրա կողքով։ Այն օգտակար է հոդվածում պատկերն ու պարբերությունները համադրելու համար։ Float տարրը դուրս է սովորական բլոկային հոսքից, բայց ազդում է հարևան տեքստի տեղավորման վրա։ Սա տարբերվում է absolute-ից, որը նույն կերպ տեքստ չի շրջանցում։</a:t>
            </a:r>
            <a:endParaRPr/>
          </a:p>
          <a:p>
            <a:pPr indent="0" lvl="0" marL="0" rtl="0" algn="l">
              <a:spcBef>
                <a:spcPts val="0"/>
              </a:spcBef>
              <a:spcAft>
                <a:spcPts val="0"/>
              </a:spcAft>
              <a:buNone/>
            </a:pPr>
            <a:r>
              <a:rPr lang="en-US" sz="1200"/>
              <a:t>clear: both-ը համապատասխան բլոկը տեղադրում է իրեն նախորդող ձախ և աջ float-երից ներքև։ Այն չի չեղարկում float-ը։ Եթե ծնողը միայն float զավակներ ունի, նրա բարձրությունը կարող է չներառել դրանք։ display: flow-root-ը ստեղծում է բլոկային ձևավորման նոր միջավայր և ծնողին թույլ է տալիս ներառել իր float-երը։ Ամբողջ էջի հիմնական դասավորությունը նոր նախագծում հարմար է անել Flexbox-ով կամ Grid-ով։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Հանել clear-ը, ապա վերադարձնել։ Դիտել երկրորդ պարբերության սկիզբը։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https://www.w3.org/TR/CSS22/visuren.html#floats</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87" name="Google Shape;8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Flexbox-ը սկսում ենք ծնող տարրից։ display: flex ստացած տարրի անմիջական զավակները դառնում են flex items։ Նրանց ներսի բոլոր ժառանգները ինքնաբերաբար flex items չեն դառնում։ Հիմնական առանցքի ուղղությունը որոշում է flex-direction-ը, իսկ լայնական առանցքը նրան ուղղահայաց է։</a:t>
            </a:r>
            <a:endParaRPr/>
          </a:p>
          <a:p>
            <a:pPr indent="0" lvl="0" marL="0" rtl="0" algn="l">
              <a:spcBef>
                <a:spcPts val="0"/>
              </a:spcBef>
              <a:spcAft>
                <a:spcPts val="0"/>
              </a:spcAft>
              <a:buNone/>
            </a:pPr>
            <a:r>
              <a:rPr lang="en-US" sz="1200"/>
              <a:t>Սովորական հորիզոնական գրության և ձախից աջ ուղղության դեպքում row-ը դասավորում է ձախից աջ, իսկ column-ը՝ վերևից ներքև։ Հետագայում justify-content-ը վերաբերում է հիմնական առանցքին, align-items-ը՝ լայնականին։ Ուստի դրանք միշտ հորիզոնական և ուղղահայաց կոչելը սխալ պատկերացում է ստեղծում։ Դասի ընթացքում նույն տարրերի համար փոխեք միայն flex-direction-ը և խնդրեք ուսանողներին ասել՝ ինչպես փոխվեցին առանցքները։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Նույն 3 տարրերը ցուցադրել մեկ տողով, ապա մեկ սյունակով։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97" name="Google Shape;9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justify-content-ը բաշխում է հիմնական առանցքի ազատ տարածքը։ flex-start-ը տարրերը հավաքում է սկզբում, center-ը՝ կենտրոնում, flex-end-ը՝ վերջում։ space-between-ը առաջին և վերջին տարրերը մոտեցնում է եզրերին, իսկ ազատ տարածքը բաժանում է միջակայքերին։ space-around-ի դեպքում եզրային բացատը մոտ կեսն է ներքինի, space-evenly-ի դեպքում միջակայքներն ու եզրային բացատները հավասար են։</a:t>
            </a:r>
            <a:endParaRPr/>
          </a:p>
          <a:p>
            <a:pPr indent="0" lvl="0" marL="0" rtl="0" algn="l">
              <a:spcBef>
                <a:spcPts val="0"/>
              </a:spcBef>
              <a:spcAft>
                <a:spcPts val="0"/>
              </a:spcAft>
              <a:buNone/>
            </a:pPr>
            <a:r>
              <a:rPr lang="en-US" sz="1200"/>
              <a:t>Եթե տարրերը արդեն զբաղեցնում են ամբողջ հասանելի լայնությունը կամ flex-grow-ով կլանում են այն, բաշխման տարբերությունը կարող է չերևալ։ gap-ը առանձին նվազագույն միջտարրային բացատ է, իսկ space-between-ը կարող է դրան ավելացնել ազատ տարածք։ Ցույց տվեք նույն երեք բլոկը բավական լայն ծնողի մեջ և հերթով փոխեք արժեքները։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Համեմատել center և space-between արժեքները՝ նույն gap-ը պահելով։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07" name="Google Shape;10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align-items-ը սահմանում է նույն flex տողի տարրերի լայնական հավասարեցումը։ center-ը կենտրոնացնում է, flex-start և flex-end արժեքները մոտեցնում են համապատասխան եզրին։ stretch-ը ձգում է ավտոմատ լայնական չափ ունեցող տարրերը։ Եթե row ուղղության տարրին հստակ height է տրված, այն նույն կերպ չի ձգվի։ baseline-ը հարմար է տարբեր տառաչափերով տեքստերի տողահիմքերը հավասարեցնելու համար։</a:t>
            </a:r>
            <a:endParaRPr/>
          </a:p>
          <a:p>
            <a:pPr indent="0" lvl="0" marL="0" rtl="0" algn="l">
              <a:spcBef>
                <a:spcPts val="0"/>
              </a:spcBef>
              <a:spcAft>
                <a:spcPts val="0"/>
              </a:spcAft>
              <a:buNone/>
            </a:pPr>
            <a:r>
              <a:rPr lang="en-US" sz="1200"/>
              <a:t>align-self-ը փոխում է մեկ կոնկրետ տարրի հավասարեցումը։ Օրինակում առաջին երկու տարրերը կենտրոնում են, իսկ special-ը իջնում է ներքև։ Փորձն ավելի տեսանելի կլինի, եթե ծնողն ունենա տարրերից մեծ բարձրություն։ align-content-ը այլ խնդիր է լուծում՝ բազմատող flex միջավայրի տողերի բաշխումը, երբ լայնական ազատ տարածք կա։</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Փոխել align-items-ը stretch-ի և հեռացնել տարրերի ֆիքսված height-ը։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17" name="Google Shape;11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Լռելյայն flex-wrap-ը nowrap է։ Տարրերը մնում են մեկ տողում, իսկ flex-shrink-ի պատճառով կարող են նեղանալ։ wrap-ը թույլ է տալիս տարրերի մի մասն անցկացնել հաջորդ տող։ Ամեն տող ինքնուրույն flex տող է։ Սա կարևոր տարբերություն է Grid-ից. երկրորդ flex տողի տարրերը պարտադիր չեն հավասարվել առաջին տողի սյուների տակ։</a:t>
            </a:r>
            <a:endParaRPr/>
          </a:p>
          <a:p>
            <a:pPr indent="0" lvl="0" marL="0" rtl="0" algn="l">
              <a:spcBef>
                <a:spcPts val="0"/>
              </a:spcBef>
              <a:spcAft>
                <a:spcPts val="0"/>
              </a:spcAft>
              <a:buNone/>
            </a:pPr>
            <a:r>
              <a:rPr lang="en-US" sz="1200"/>
              <a:t>gap: 12px 20px-ը row ուղղությամբ օրինակին տալիս է 12px բացատ տողերի և 20px՝ սյուների միջև։ Այն ծնողի արտաքին եզրին padding չի ստեղծում։ Օրինակում flex: 0 0 140px-ը կանխում է աճն ու նեղացումը և տալիս սկզբնական 140px չափ։ Դրա շնորհիվ ուսանողները հստակ տեսնում են՝ երբ է տեղավորվում հաջորդ տարրը և երբ է այն տեղափոխվում։</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Ծնողի լայնությունը նվազեցնել 500-ից 340px։ Հաշվել՝ քանի տարր է տեղավորվում տողում։</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27" name="Google Shape;12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flex-grow-ը որոշում է դրական ազատ տարածքից ստացվող բաժինը։ flex-shrink-ը մասնակցում է պակասող տարածքի հաշվին նեղացմանը, իսկ flex-basis-ը տալիս է չափի հաշվարկի սկզբնական հիմքը։ flex: 1 1 0-ը նշանակում է աճել, անհրաժեշտության դեպքում նեղանալ և հաշվարկը սկսել զրոյական հիմքից։</a:t>
            </a:r>
            <a:endParaRPr/>
          </a:p>
          <a:p>
            <a:pPr indent="0" lvl="0" marL="0" rtl="0" algn="l">
              <a:spcBef>
                <a:spcPts val="0"/>
              </a:spcBef>
              <a:spcAft>
                <a:spcPts val="0"/>
              </a:spcAft>
              <a:buNone/>
            </a:pPr>
            <a:r>
              <a:rPr lang="en-US" sz="1200"/>
              <a:t>Եթե երկու ճկուն տարրերի grow արժեքները 1 և 2 են և հիմքերը զրո, ազատ տարածքը նրանց միջև բաժանվում է այդ հարաբերությամբ՝ հաշվի առնելով այլ չափային սահմանափակումները։ min-width: 0-ը հաճախ պետք է երկար տեքստ ունեցող flex տարրի նեղացումը թույլ տալու համար։ order-ը փոխում է տեսանելի հերթականությունը, սակայն չի վերագրում HTML-ի իմաստային կամ ստեղնաշարային կարգը։ Ուսուցման օրինակներում պահում ենք տրամաբանական HTML հերթականությունը։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Փոխել երկու աճող տարրերի հարաբերությունը 1:2-ից 1:1։</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37" name="Google Shape;13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Այս օրինակում նավիգացիան ունի երկու անմիջական զավակ՝ կայքի անունը և հղումների ul ցանկը։ Առաջին Flexbox-ը կառավարում է այդ երկու խմբերի հարաբերությունը։ Երկրորդ Flexbox-ը աշխատում է ul-ի ներսում և դասավորում է li տարրերը։ Այդ երկու մակարդակները տարբեր պատասխանատվություն ունեն։</a:t>
            </a:r>
            <a:endParaRPr/>
          </a:p>
          <a:p>
            <a:pPr indent="0" lvl="0" marL="0" rtl="0" algn="l">
              <a:spcBef>
                <a:spcPts val="0"/>
              </a:spcBef>
              <a:spcAft>
                <a:spcPts val="0"/>
              </a:spcAft>
              <a:buNone/>
            </a:pPr>
            <a:r>
              <a:rPr lang="en-US" sz="1200"/>
              <a:t>space-between-ը անունն ու ցանկը հեռացնում է իրարից, align-items: center-ը հավասարեցնում է լայնական ուղղությամբ, իսկ wrap-ը թույլ է տալիս նեղ էկրանին խմբերը տեղափոխել։ Ul-ի margin և padding լռելյայն արժեքները հեռացնում ենք, որպեսզի բացատները վերահսկվեն մեր կոդով։ Հղումները պետք է մնան իրական a տարրեր՝ աշխատող href-ով և տեսանելի focus վիճակով։ Առաջին տարբերակում բարդ բացվող մենյուի կարիք չկա։</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Ավելացնել երկար անուն ունեցող հղում և ստուգել նավիգացիայի տողադարձը։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https://www.w3.org/TR/css-flexbox-1/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47" name="Google Shape;14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Grid-ը կազմակերպում է միաժամանակ տողերն ու սյուները։ Ծնողին տալիս ենք display: grid, ապա սահմանում սյուների և անհրաժեշտության դեպքում տողերի չափերը։ Նրանց միջև ընկած գծերով կարող ենք նշել տարրերի սկիզբն ու ավարտը։ Երեք սյուների համար կան չորս սահմանային գծեր՝ 1, 2, 3 և 4։</a:t>
            </a:r>
            <a:endParaRPr/>
          </a:p>
          <a:p>
            <a:pPr indent="0" lvl="0" marL="0" rtl="0" algn="l">
              <a:spcBef>
                <a:spcPts val="0"/>
              </a:spcBef>
              <a:spcAft>
                <a:spcPts val="0"/>
              </a:spcAft>
              <a:buNone/>
            </a:pPr>
            <a:r>
              <a:rPr lang="en-US" sz="1200"/>
              <a:t>fr-ը ցանցի հասանելի մնացորդային տարածքի բաժինն է։ gap-ը նախ զբաղեցնում է իր տարածքը, հետո ճկուն սյուները բաժանում են մնացածը։ Եթե տողեր չենք սահմանում, բովանդակության ավելանալիս առաջանում են ավտոմատ տողեր։ Ցույց տվեք 6 բլոկ, ապա ավելացրեք յոթերորդը։ Նա կանցնի նոր տող, իսկ այդ նոր տողի չափը այլևս մեր նշած առաջին երկու տողերից չէ։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Ավելացնել յոթերորդ տարրը և grid-auto-rows: 90px հատկությունը։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57" name="Google Shape;15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repeat(3, ...) գրառումը երեք անգամ կրկնում է ներսի սահմանումը։ minmax(0, 1fr)-ը տալիս է զրոյական նվազագույն և մեկ ճկուն բաժնով առավելագույն չափ։ Այն օգտակար է, երբ ուզում ենք, որ երկար բովանդակության նվազագույն լայնությունը չպարտադրի լայն սյունակ։ Բովանդակության սեփական overflow-ի հարցը միևնույն է պետք է լուծել։</a:t>
            </a:r>
            <a:endParaRPr/>
          </a:p>
          <a:p>
            <a:pPr indent="0" lvl="0" marL="0" rtl="0" algn="l">
              <a:spcBef>
                <a:spcPts val="0"/>
              </a:spcBef>
              <a:spcAft>
                <a:spcPts val="0"/>
              </a:spcAft>
              <a:buNone/>
            </a:pPr>
            <a:r>
              <a:rPr lang="en-US" sz="1200"/>
              <a:t>minmax(220px, 1fr)-ը արդեն պահանջում է առնվազն 220px սյունակ։ Եթե երեք այդպիսի սյունակին ավելացնենք երկու gap, անհրաժեշտ ընդհանուր լայնությունը մեծանում է։ Նեղ ծնողի մեջ հաստատուն երեք սյուները կարող են արտահոսք տալ։ Հաջորդ քայլը auto-fit-ն է, որը կարող է փոփոխել սյուների քանակը։ Թվերի օրինակով հաշվեք՝ 3 × 220 + 2 × 16 = 692px։</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Համեմատել minmax(0, 1fr) և minmax(220px, 1fr) նեղ ծնողի մեջ։</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67" name="Google Shape;16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auto-fit և auto-fill արժեքները հաշվարկում են, թե նվազագույն չափով քանի սյունակ կարող է տեղավորվել։ Երբ բովանդակությունը բավարարում է բոլոր տեղերը, արդյունքը կարող է նույնը լինել։ Տարբերությունը երևում է, երբ ցանցն ունի ավելի քիչ տարր, քան հնարավոր սյուների քանակը։</a:t>
            </a:r>
            <a:endParaRPr/>
          </a:p>
          <a:p>
            <a:pPr indent="0" lvl="0" marL="0" rtl="0" algn="l">
              <a:spcBef>
                <a:spcPts val="0"/>
              </a:spcBef>
              <a:spcAft>
                <a:spcPts val="0"/>
              </a:spcAft>
              <a:buNone/>
            </a:pPr>
            <a:r>
              <a:rPr lang="en-US" sz="1200"/>
              <a:t>auto-fill-ը պահպանում է նաև դատարկ սյուների տեղերը։ auto-fit-ը դատարկ կրկնվող սյուները փլուզում է, և զբաղված ճկուն սյուները կարող են լայնանալ։ Ցույց տվեք 500px լայն ծնող և միայն երկու տարր՝ 140px նվազագույնով։ Այստեղ կարող էր տեղավորվել երեք սյունակ, բայց տարրերը երկուսն են։ Եթե ծնողն անգամ մեկ նվազագույն սյունակից նեղ է, միայն auto-fit-ը բոլոր արտահոսքերը չի լուծում։</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Երկու տարրի փոխարեն տեղադրել երեքը և նորից համեմատել։</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77" name="Google Shape;17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grid-column: 1 / 3-ը տարրը տեղադրում է առաջին գծից մինչև երրորդ գիծը։ Այն զբաղեցնում է երկու սյունակ, ոչ թե երեք։ span 2-ը նույնպես պահանջում է երկու սյունակ, բայց սկիզբը կարող է որոշվել ավտոմատ տեղադրմամբ։ grid-row-ն օգտագործում ենք նույն գաղափարով տողերի համար։</a:t>
            </a:r>
            <a:endParaRPr/>
          </a:p>
          <a:p>
            <a:pPr indent="0" lvl="0" marL="0" rtl="0" algn="l">
              <a:spcBef>
                <a:spcPts val="0"/>
              </a:spcBef>
              <a:spcAft>
                <a:spcPts val="0"/>
              </a:spcAft>
              <a:buNone/>
            </a:pPr>
            <a:r>
              <a:rPr lang="en-US" sz="1200"/>
              <a:t>grid-template-areas-ը մեկ այլ ընթեռնելի եղանակ է էջի խոշոր հատվածները անվանելու համար։ Օրինակ կարելի է գրել "header header", ապա "sidebar main"։ Ամեն անվանված տարածքը պետք է ուղղանկյուն լինի։ Տեսանելի դիրքը փոխելը HTML հերթականությունը չի վերագրում, ուստի պետք է պահպանել տրամաբանական կառուցվածքը։ Նեղ էկրանին span 2-ը հարկավոր է համադրել տվյալ պահին առկա սյուների քանակի հետ։</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Featured քարտը դարձնել ամբողջ լայնությամբ՝ grid-column: 1 / -1։</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87" name="Google Shape;18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Միևնույն տարրը կարող է իր ծնողի համար լինել grid item, իսկ իր զավակների համար՝ flex container։ Քարտերի ծնողին տալիս ենք Grid, որպեսզի ունենանք համաձայնեցված տողեր ու սյուներ։ Յուրաքանչյուր քարտի ներսում Flexbox-ի column ուղղությամբ դասավորում ենք վերնագիրը, նկարագրությունը և հղումը։</a:t>
            </a:r>
            <a:endParaRPr/>
          </a:p>
          <a:p>
            <a:pPr indent="0" lvl="0" marL="0" rtl="0" algn="l">
              <a:spcBef>
                <a:spcPts val="0"/>
              </a:spcBef>
              <a:spcAft>
                <a:spcPts val="0"/>
              </a:spcAft>
              <a:buNone/>
            </a:pPr>
            <a:r>
              <a:rPr lang="en-US" sz="1200"/>
              <a:t>margin-top: auto-ն հղումից վերև վերցնում է ազատ տարածքը և այն մղում ներքև։ Արդյունքում նույն ցանցային տողի տարբեր նկարագրություններով քարտերի հղումները կարող են հավասարվել ներքևում։ Դա ենթադրում է, որ քարտերը տողում ձգվում են հավասար բարձրության։ Նախորդ լաբորատորի max-width և արտաքին auto margin սահմանումները պետք է վերանայել, որպեսզի քարտերը լրացնեն իրենց grid բջիջները։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Մեկ նկարագրությունը երկարացնել և համեմատել հղումների դիրքը margin-top: auto-ով ու առանց դրա։</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197" name="Google Shape;19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Mobile First մոտեցմամբ հիմնական CSS-ը կառուցում ենք նեղ էկրանի համար, հետո min-width պայմաններով ավելացնում լայն էկրանի հնարավորությունները։ Օրինակ քարտերը սկզբում մեկ սյունակ են, իսկ ավելի լայն միջավայրում դառնում են երկու կամ երեք։ Սա կոդի կազմակերպման մոտեցում է, որը մեզ ստիպում է նախ մտածել կարևոր բովանդակության և պարզ դասավորության մասին։</a:t>
            </a:r>
            <a:endParaRPr/>
          </a:p>
          <a:p>
            <a:pPr indent="0" lvl="0" marL="0" rtl="0" algn="l">
              <a:spcBef>
                <a:spcPts val="0"/>
              </a:spcBef>
              <a:spcAft>
                <a:spcPts val="0"/>
              </a:spcAft>
              <a:buNone/>
            </a:pPr>
            <a:r>
              <a:rPr lang="en-US" sz="1200"/>
              <a:t>HTML head-ի viewport meta-ն օգնում է շարժական բրաուզերին օգտագործել սարքի լայնությանը համապատասխան layout viewport։ Այն ինքնուրույն էջը responsive չի դարձնում։ Դրա համար դեռ անհրաժեշտ են ճկուն չափեր, հարմար պատկերներ և բովանդակությանը համապատասխան դասավորություն։ Էկրանի կոտրման կետերը ընտրում ենք այնտեղ, որտեղ բովանդակությունը դադարում է հարմար տեղավորվել, ոչ միայն սարքերի անուններով։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Նախ կառուցել ընթեռնելի մեկ սյունակ 360px-ում, հետո միայն ավելացնել լայն էկրանի կանոնները։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https://www.w3.org/TR/mediaqueries-5/</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07" name="Google Shape;207;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Media Query-ն CSS կանոնները կապում է միջավայրի պայմանին։ Այս օրինակում մինչև 640px լայնության քարտերը մեկ սյունակ են։ 640px-ից սկսած գործում է երկու սյունակ սահմանող կանոնը։ 1000px-ից սկսած երկու պայմանն էլ ճշմարիտ են, բայց նույն ընտրիչի ավելի ուշ գրված կանոնը տալիս է երեք սյունակ։</a:t>
            </a:r>
            <a:endParaRPr/>
          </a:p>
          <a:p>
            <a:pPr indent="0" lvl="0" marL="0" rtl="0" algn="l">
              <a:spcBef>
                <a:spcPts val="0"/>
              </a:spcBef>
              <a:spcAft>
                <a:spcPts val="0"/>
              </a:spcAft>
              <a:buNone/>
            </a:pPr>
            <a:r>
              <a:rPr lang="en-US" sz="1200"/>
              <a:t>Հասկացությունը ամրապնդելու համար ստուգում ենք 639, 640, 999 և 1000px լայնությունները։ min-width-ը ներառում է հենց շեմը։ max-width-ը գործում է մինչև նշված շեմը ներառյալ։ Նույն Media Query-ի ներսում գործում են սովորական կասկադի և առաջնահերթության կանոնները։ Եթե ընտրիչների կշիռները տարբեր են, միայն կոդի ուշ տեղադրումը միշտ բավարար չէ։ Թվերը այս դասի օրինակներն են և պարտադիր ստանդարտ շեմեր չեն։</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Ստուգել 639/640 և 999/1000px սահմանները։ Ամեն դեպքում նշել սպասվող սյուների քանակը։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https://www.w3.org/TR/mediaqueries-5/</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17" name="Google Shape;21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Ֆիքսված մեծ լայնությունը կարող է էջին հորիզոնական ոլորում տալ։ Այստեղ container-ի լայնությունը ընտրում է 1100px-ը կամ հասանելի լայնությունից 32px պակասը՝ որն ավելի փոքր է։ margin-inline: auto-ն այն կենտրոնացնում է։ Փոքր էկրանին երկու կողմերում մնում է ընդհանուր 32px ազատ տարածք։</a:t>
            </a:r>
            <a:endParaRPr/>
          </a:p>
          <a:p>
            <a:pPr indent="0" lvl="0" marL="0" rtl="0" algn="l">
              <a:spcBef>
                <a:spcPts val="0"/>
              </a:spcBef>
              <a:spcAft>
                <a:spcPts val="0"/>
              </a:spcAft>
              <a:buNone/>
            </a:pPr>
            <a:r>
              <a:rPr lang="en-US" sz="1200"/>
              <a:t>Պատկերին max-width: 100% և height: auto տալով պահպանում ենք համամասնությունները և թույլ չենք տալիս, որ այն գերազանցի ծնողին։ Եթե քարտերում բոլոր պատկերները պետք է ունենան նույն բարձրությունը, կարող ենք կիրառել width: 100%, height: 160px և object-fit: cover։ Այդ դեպքում պատկերի մի մասը կարող է կտրվել։ Պատկերների HTML width և height հատկանիշները օգնում են նախապես տեղ պահել։ alt տեքստը նկարագրում է բովանդակային պատկերի իմաստը։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Համեմատել height: auto և ֆիքսված բարձրություն + object-fit: cover տարբերակները։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https://www.w3.org/TR/mediaqueries-5/</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32" name="Google Shape;232;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Responsive ստուգումը միայն հեռախոս, պլանշետ և համակարգիչ երեք կոճակ սեղմելը չէ։ Բրաուզերի լայնությունը փոխում ենք շարունակաբար։ Փորձարկում ենք երկար վերնագիր, երկար URL, շատ մենյուի հղումներ և մեծացված տեքստ։ Եթե բովանդակությունն արտահոսում է, պարզում ենք կոնկրետ տարրը՝ ֆիքսված լայնություն, չնեղացող flex item, մեծ պատկեր կամ չկոտրվող բառ։</a:t>
            </a:r>
            <a:endParaRPr/>
          </a:p>
          <a:p>
            <a:pPr indent="0" lvl="0" marL="0" rtl="0" algn="l">
              <a:spcBef>
                <a:spcPts val="0"/>
              </a:spcBef>
              <a:spcAft>
                <a:spcPts val="0"/>
              </a:spcAft>
              <a:buNone/>
            </a:pPr>
            <a:r>
              <a:rPr lang="en-US" sz="1200"/>
              <a:t>Դասի ցուցադրության համար 360, 768 և 1280px-ը հարմար օրինակներ են, բայց լրացնում ենք նաև Media Query-ի սահմանների ստուգումով։ Ամբողջ body-ին overflow-x: hidden տալը կարող է պարզապես թաքցնել խնդիրը և բովանդակությունը։ Լայն աղյուսակի համար ավելի օգտակար է առանձին ոլորվող պատյան։ Փորձարկում ենք նաև Tab-ով հղումները, focus-ի տեսանելիությունը և sticky տարրերի՝ բովանդակությունը չծածկելը։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Ավելացնել 80 նիշից կազմված չընդհատվող բառ և գտնել արտահոսքի աղբյուրը։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https://www.w3.org/TR/mediaqueries-5/</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42" name="Google Shape;242;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Transition-ը սահմանում է, թե ինչպես է հատկությունը մի արժեքից անցնում մյուսին։ Միայն transition գրելը բավարար չէ. պետք է նաև արժեքի փոփոխություն, օրինակ hover կամ focus-visible վիճակում։ Կարճ գրառումը սովորաբար ներառում է հատկությունը, տևողությունը, ժամանակային ֆունկցիան և ցանկության դեպքում ուշացումը։</a:t>
            </a:r>
            <a:endParaRPr/>
          </a:p>
          <a:p>
            <a:pPr indent="0" lvl="0" marL="0" rtl="0" algn="l">
              <a:spcBef>
                <a:spcPts val="0"/>
              </a:spcBef>
              <a:spcAft>
                <a:spcPts val="0"/>
              </a:spcAft>
              <a:buNone/>
            </a:pPr>
            <a:r>
              <a:rPr lang="en-US" sz="1200"/>
              <a:t>Օրինակում փոխվում են ֆոնն ու transform-ը։ Սկզբնական գույնը պետք է արդեն սահմանված լինի։ Transition-ը գրում ենք հիմնական ընտրիչում, որպեսզի թե՛ hover մտնելիս, թե՛ դուրս գալիս փոփոխությունը լինի մեղմ։ ease-ը փոխում է ընթացքի արագությունը, linear-ը պահում է հավասար ժամանակային առաջընթաց։ Խուսափում ենք transition: all-ը որպես մշտական սովորություն կիրառելուց. նշում ենք այն հատկությունները, որոնք իսկապես պետք է շարժվեն։ Ստեղնաշարով օգտագործողը նույնպես պետք է տեսնի հստակ focus։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Տևողությունը դարձնել 2s և համեմատել ease ու linear ընթացքը։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https://www.w3.org/TR/css-transitions-1/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52" name="Google Shape;252;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Transform-ը փոխում է տարրի տեսանելի պատկերը։ translate-ը տեղափոխում է, rotate-ը պտտում, scale-ը փոխում է մասշտաբը, skew-ը շեղում է։ Տարրի սկզբնական դասավորության տարածքը պահպանվում է, հետևաբար մեծացած կամ պտտված տարրը կարող է ծածկել հարևանին։ Տեսանելի սահմանները և overflow-ը կարող են փոխվել։</a:t>
            </a:r>
            <a:endParaRPr/>
          </a:p>
          <a:p>
            <a:pPr indent="0" lvl="0" marL="0" rtl="0" algn="l">
              <a:spcBef>
                <a:spcPts val="0"/>
              </a:spcBef>
              <a:spcAft>
                <a:spcPts val="0"/>
              </a:spcAft>
              <a:buNone/>
            </a:pPr>
            <a:r>
              <a:rPr lang="en-US" sz="1200"/>
              <a:t>Օրինակը ցույց տվեք նույն չափերի չորս բլոկների վրա։ Ուսանողներին խնդրեք տարբերել լայնության իրական փոփոխությունն ու scale-ը։ Width-ի փոփոխությունը սովորաբար ազդում է դասավորության վրա, իսկ transform-ը հիմնականում փոխում է արդեն դասավորված տարրի պատկերը։ Transform ունեցող տարրը կարող է նաև ստեղծել stacking context և փոխել absolute կամ fixed զավակների հենակետը։ Սա կապում ենք նախորդ դիրքավորման թեմայի հետ։</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Մեծացնել scale-ը մինչև 1.5 և դիտել հարևանների դիրքը։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https://www.w3.org/TR/css-transforms-1/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62" name="Google Shape;262;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Transform ֆունկցիաները միավորելիս կարևոր է դրանց հերթականությունը։ Մատրիցների բազմապատկման տեսանկյունից աջ կողմի գործողությունն ազդում է առաջինը, սակայն սկսնակին ավելի պարզ է ցույց տալ արդյունքը։ translateX(100px) rotate(45deg) և rotate(45deg) translateX(100px) գրառումները նույն պատկերը չեն տալիս, որովհետև պտտումը փոխում է նաև ուղղությունների հարաբերությունը։</a:t>
            </a:r>
            <a:endParaRPr/>
          </a:p>
          <a:p>
            <a:pPr indent="0" lvl="0" marL="0" rtl="0" algn="l">
              <a:spcBef>
                <a:spcPts val="0"/>
              </a:spcBef>
              <a:spcAft>
                <a:spcPts val="0"/>
              </a:spcAft>
              <a:buNone/>
            </a:pPr>
            <a:r>
              <a:rPr lang="en-US" sz="1200"/>
              <a:t>transform-origin-ը սահմանում է փոխակերպման հենակետը։ Լռելյայն կենտրոնի փոխարեն left top վերցնելիս պտտումը տեղի է ունենում վերին ձախ անկյան շուրջ։ Դասի ընթացքում չպետք է բոլոր փոխակերպումները միանգամից ավելացնել։ Սկզբում փորձարկում ենք մեկ ֆունկցիա, հետո զույգը, վերջում փոխում ենք հերթը։ Այդպես ուսանողը կարող է կապել կոնկրետ կանոնը տեսանելի փոփոխության հետ։</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Փոխել transform-origin-ը center-ից left top և համեմատել պտույտը։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https://www.w3.org/TR/css-transforms-1/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72" name="Google Shape;272;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Անիմացիայի համար նախ անվանում ենք փուլերը՝ @keyframes enter։ from և to արժեքները համապատասխանում են 0% և 100% կետերին։ Հետո այդ անունը կապում ենք տարրին animation հատկությամբ։ Օրինակում քարտը միաժամանակ դառնում է տեսանելի և բարձրանում 20px-ով։</a:t>
            </a:r>
            <a:endParaRPr/>
          </a:p>
          <a:p>
            <a:pPr indent="0" lvl="0" marL="0" rtl="0" algn="l">
              <a:spcBef>
                <a:spcPts val="0"/>
              </a:spcBef>
              <a:spcAft>
                <a:spcPts val="0"/>
              </a:spcAft>
              <a:buNone/>
            </a:pPr>
            <a:r>
              <a:rPr lang="en-US" sz="1200"/>
              <a:t>Transition-ը սովորաբար արձագանքում է արժեքի փոփոխությանը։ Keyframes անիմացիան կարող է սկսել, երբ ոճը կիրառվում է՝ առանց hover-ի։ Կարող ենք ունենալ նաև միջանկյալ տոկոսային փուլեր։ both-ը պահում է առաջին փուլի ազդեցությունը ուշացման ընթացքում և վերջինինը ավարտից հետո։ Սլայդի նկարում շարժումը ներկայացվում է փուլերով, իսկ բրաուզերում այն պետք է ցուցադրել իրական ընթացքով։ Սովորեցման ժամանակ օգտագործում ենք կարճ և հանգիստ մուտք, որպեսզի անիմացիան չխանգարի ընթերցմանը։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Ավելացնել 50% փուլ և animation-duration-ը դարձնել 2s։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https://www.w3.org/TR/css-animations-1/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82" name="Google Shape;282;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animation-duration-ը մեկ շրջանի տևողությունն է, delay-ը՝ մեկնարկի սպասումը։ iteration-count-ը որոշում է կրկնությունների թիվը կամ infinite անսահման կրկնությունը։ direction: alternate-ը յուրաքանչյուր հերթական շրջանում փոխում է ուղղությունը։ Այս երեք կրկնության օրինակում առաջին շրջանը առաջ է, երկրորդը՝ հետ, երրորդը՝ կրկին առաջ։</a:t>
            </a:r>
            <a:endParaRPr/>
          </a:p>
          <a:p>
            <a:pPr indent="0" lvl="0" marL="0" rtl="0" algn="l">
              <a:spcBef>
                <a:spcPts val="0"/>
              </a:spcBef>
              <a:spcAft>
                <a:spcPts val="0"/>
              </a:spcAft>
              <a:buNone/>
            </a:pPr>
            <a:r>
              <a:rPr lang="en-US" sz="1200"/>
              <a:t>fill-mode-ը որոշում է՝ արդյոք փուլերի ոճերն ազդում են ակտիվ միջակայքից դուրս։ forwards-ը պահում է ավարտի փուլը, backwards-ը՝ ուշացման ընթացքում մեկնարկայինը, both-ը՝ երկուսն էլ։ play-state: paused-ը ժամանակավորապես կանգնեցնում է ընթացքը։ Կոդին անհրաժեշտ է նաև pulse անունով @keyframes սահմանում, օրինակ from { transform: scale(1) } to { transform: scale(1.15) }։ Անընդհատ շարժումը ընտրում ենք միայն այն ժամանակ, երբ այն օգնում է օգտատիրոջը։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Սահմանել pulse-ի փուլերը, կրկնությունները դարձնել 2 և կանխատեսել վերջնական վիճակը։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https://www.w3.org/TR/css-animations-1/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292" name="Google Shape;292;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Օգտատերը համակարգում կարող է նշել, որ նախընտրում է քիչ շարժում։ prefers-reduced-motion պայմանով կարող ենք փոխել էջի անիմացիաներն ու անցումները։ Այս օրինակում անջատում ենք քարտի մուտքն ու կոճակի տեղաշարժը, բայց թողնում ենք գույնի և focus-ի տեսանելի տարբերությունը։</a:t>
            </a:r>
            <a:endParaRPr/>
          </a:p>
          <a:p>
            <a:pPr indent="0" lvl="0" marL="0" rtl="0" algn="l">
              <a:spcBef>
                <a:spcPts val="0"/>
              </a:spcBef>
              <a:spcAft>
                <a:spcPts val="0"/>
              </a:spcAft>
              <a:buNone/>
            </a:pPr>
            <a:r>
              <a:rPr lang="en-US" sz="1200"/>
              <a:t>Կարևոր է, որ սովորական վիճակում քարտը արդեն լինի տեսանելի։ Եթե opacity: 0-ը գրված է հիմնական .card կանոնում և միայն անիմացիան է այն դարձնում 1, անիմացիան անջատելուց հետո բովանդակությունը կարող է անհետ մնալ։ Այդ պատճառով օրինակում թափանցիկությունը սահմանում ենք միայն keyframes-ի ներսում։ Դասի ժամանակ Developer Tools-ում նմանակում ենք reduced motion նախընտրությունը և ստուգում, որ բովանդակությունն ու գործողությունները շարունակում են հասանելի մնալ։</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Միացնել reduced motion նմանակումը և ստեղնաշարով բացել կոճակի focus վիճակը։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https://www.w3.org/TR/mediaqueries-5/</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02" name="Google Shape;302;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Ֆիլտրներով կարող ենք փոխել պատկերի գունային կամ տեսողական հատկությունները։ grayscale(1)-ը ամբողջովին մոխրագույն է դարձնում պատկերը, blur-ը լղոզում է, brightness-ը փոխում է պայծառությունը, contrast-ը՝ հակադրությունը։ Մի քանի ֆիլտր կարելի է գրել մեկ filter արժեքի մեջ։ Նրանց հերթականությունը կարող է ազդել արդյունքի վրա։</a:t>
            </a:r>
            <a:endParaRPr/>
          </a:p>
          <a:p>
            <a:pPr indent="0" lvl="0" marL="0" rtl="0" algn="l">
              <a:spcBef>
                <a:spcPts val="0"/>
              </a:spcBef>
              <a:spcAft>
                <a:spcPts val="0"/>
              </a:spcAft>
              <a:buNone/>
            </a:pPr>
            <a:r>
              <a:rPr lang="en-US" sz="1200"/>
              <a:t>Օրինակում պատկերը սկզբում մոխրագույն է, hover-ի ժամանակ վերադառնում է գույներին։ Transition-ը դարձնում է այդ փոփոխությունը մեղմ։ Ֆիլտրները կարող են ազդել նաև տեքստ պարունակող ամբողջ տարրի վրա, ուստի ավելի լավ է դրանք կիրառել կոնկրետ պատկերի կամ նպատակային բլոկի վրա։ drop-shadow()-ը ստվերում է արտապատկերված պատկերի ալֆա ուրվագիծը, մինչդեռ box-shadow-ը վերաբերում է բլոկի տուփին։ Լղոզումը գաղտնի տվյալը թաքցնելու անվտանգ միջոց չէ։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Նույն պատկերին հերթով կիրառել grayscale, blur և brightness ու համեմատել։</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https://www.w3.org/TR/filter-effects-1/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12" name="Google Shape;312;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Բազմասյուն կառուցվածքը նման է թերթի կամ ամսագրի տեքստին։ Այն մեկ շարունակական բովանդակությունը բաժանում է սյուների։ Grid-ում մենք սովորաբար տեղադրում ենք անկախ տարրեր՝ ըստ բջիջների։ Այստեղ ընթերցումը շարունակվում է առաջին սյունակի ներքևից հաջորդ սյունակի վերևը։</a:t>
            </a:r>
            <a:endParaRPr/>
          </a:p>
          <a:p>
            <a:pPr indent="0" lvl="0" marL="0" rtl="0" algn="l">
              <a:spcBef>
                <a:spcPts val="0"/>
              </a:spcBef>
              <a:spcAft>
                <a:spcPts val="0"/>
              </a:spcAft>
              <a:buNone/>
            </a:pPr>
            <a:r>
              <a:rPr lang="en-US" sz="1200"/>
              <a:t>column-count-ը տալիս է սյուների ցանկալի քանակը, column-width-ը՝ ցանկալի լայնությունը։ Կարելի է գրել columns: 240px 3՝ թույլ տալով միջավայրին սահմանափակել քանակը հասանելի տարածքով։ column-gap-ը բացատն է, column-rule-ը՝ բաժանարար գիծը։ column-span: all-ը վերնագիրը կարող է տարածել բոլոր սյուների վրա։ break-inside: avoid-ը խնդրում է խուսափել նկարի կամ այլ բլոկի ներսում ընդհատումից, բայց բոլոր դեպքերի համար անխախտ երաշխիք չէ։ Նեղ էկրանին հաճախ վերադառնում ենք մեկ սյան։</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Տեքստը սկզբում բաժանել երկու սյան, ապա նեղ էկրանին դարձնել մեկ սյունակ։</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https://www.w3.org/TR/css-multicol-1/</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22" name="Google Shape;322;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Sass-ը ոճաթերթերի նախամշակման լեզու և գործիքակազմ է։ Այն ունի երկու շարահյուսություն՝ SCSS և նահանջներով գրվող Sass։ SCSS ֆայլը օգտագործում է ձևավոր փակագծեր և կետ-ստորակետեր, իսկ .sass տարբերակը՝ նահանջներ։ Երկուսն էլ մշակումից հետո տալիս են սովորական CSS։</a:t>
            </a:r>
            <a:endParaRPr/>
          </a:p>
          <a:p>
            <a:pPr indent="0" lvl="0" marL="0" rtl="0" algn="l">
              <a:spcBef>
                <a:spcPts val="0"/>
              </a:spcBef>
              <a:spcAft>
                <a:spcPts val="0"/>
              </a:spcAft>
              <a:buNone/>
            </a:pPr>
            <a:r>
              <a:rPr lang="en-US" sz="1200"/>
              <a:t>Բրաուզերին միացնում ենք ստացված style.css ֆայլը։ Միայն .scss ֆայլը link անելն այն Sass մշակիչ չի դարձնում։ SCSS-ը ուսանողների համար հարմար մեկնարկ է, որովհետև սովորած CSS կանոնները կարելի է տեղափոխել այդ ֆայլի մեջ և աստիճանաբար ավելացնել Sass հնարավորությունները։ Ժամանակակից CSS-ն արդեն ունի որոշ նման հնարավորություններ, օրինակ փոփոխականներ և nesting, բայց Sass-ի մշակման փուլը և սեփական կառուցվածքները շարունակում են տարբեր լինել։</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Նույն կոճակի ոճը գրել .scss և .sass ձևաչափերով։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https://sass-lang.com/guide/</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32" name="Google Shape;33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Sass-ի $space փոփոխականը մշակման ժամանակ փոխարինվում է արժեքով։ Վերջնական CSS-ում padding: 16px է մնում։ CSS custom property-ն՝ --accent-ը, մնում է վերջնական CSS-ում և աշխատում է բրաուզերի կասկադով։ Այն կարող ենք վերասահմանել որոշակի տարրի կամ թեմայի համար։</a:t>
            </a:r>
            <a:endParaRPr/>
          </a:p>
          <a:p>
            <a:pPr indent="0" lvl="0" marL="0" rtl="0" algn="l">
              <a:spcBef>
                <a:spcPts val="0"/>
              </a:spcBef>
              <a:spcAft>
                <a:spcPts val="0"/>
              </a:spcAft>
              <a:buNone/>
            </a:pPr>
            <a:r>
              <a:rPr lang="en-US" sz="1200"/>
              <a:t>Օրինակում բացատի չափը պահում ենք Sass փոփոխականի մեջ, իսկ թեմայի գույնը՝ CSS փոփոխականի։ Եթե քարտը գտնվում է dark դաս ունեցող տարրի ներսում, կարող է ժառանգել նոր --accent արժեքը։ $space և --accent անունները նման խնդիրներ են լուծում տարբեր փուլերում։ Sass փոփոխականը ինքնուրույն չի փոխվի, երբ օգտատերը բացի մութ ռեժիմը։ Կոդի յուրաքանչյուր փոփոխությունից հետո հարկավոր է նորից մշակել SCSS-ը կամ գործարկել watch ռեժիմը։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Փոփոխել միայն .dark-ի --accent-ը և ասել՝ արդյոք պետք է SCSS-ի մշակում։</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https://sass-lang.com/guide/</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42" name="Google Shape;342;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SCSS nesting-ը թույլ է տալիս ընտրիչները գրառել միմյանց ներսում։ Օրինակում .nav-ի ներսի a-ն մշակումից հետո դառնում է .nav a։ &amp;:hover-ի ampersand-ը հղվում է ընթացիկ ամբողջ ընտրիչին, հետևաբար ստացվում է .nav a:hover։ Առանց &amp; նշանի գրված :hover-ը կարող էր նշանակել այլ ժառանգ ընտրիչ։</a:t>
            </a:r>
            <a:endParaRPr/>
          </a:p>
          <a:p>
            <a:pPr indent="0" lvl="0" marL="0" rtl="0" algn="l">
              <a:spcBef>
                <a:spcPts val="0"/>
              </a:spcBef>
              <a:spcAft>
                <a:spcPts val="0"/>
              </a:spcAft>
              <a:buNone/>
            </a:pPr>
            <a:r>
              <a:rPr lang="en-US" sz="1200"/>
              <a:t>Ներդրվածությունը պետք է օգնի հասկանալ կառուցվածքը։ Եթե մի քանի մակարդակ շարունակ կրկնում ենք HTML-ի բոլոր նախնիներին, ստանում ենք երկար և բարձր կշռով ընտրիչներ։ Ավելի լավ է պահել քիչ մակարդակներ և օգտագործել պարզ դասեր։ Ժամանակակից CSS nesting-ն ու SCSS nesting-ը որոշ հնարավորություններով նման են, բայց դրանք պետք չէ առանց ստուգման նույն լեզուն համարել։ Այս օրինակում խոսքը հստակ SCSS մշակման մասին 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Կանխատեսել .card { &amp;.active { ... } }-ի ստացված ընտրիչը։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https://sass-lang.com/guide/</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52" name="Google Shape;352;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Mixin-ը անվանված կանոնների խումբ է, որը տեղադրում ենք @include-ով։ Այն կարող է ընդունել պարամետրեր և ունենալ լռելյայն արժեքներ։ Այս օրինակում row mixin-ը կենտրոնացնում է տարրերը լայնական ուղղությամբ և թույլ է տալիս ընտրել gap-ը։ Nav-ը ստանում է 24px, իսկ meta-ն՝ լռելյայն 16px։</a:t>
            </a:r>
            <a:endParaRPr/>
          </a:p>
          <a:p>
            <a:pPr indent="0" lvl="0" marL="0" rtl="0" algn="l">
              <a:spcBef>
                <a:spcPts val="0"/>
              </a:spcBef>
              <a:spcAft>
                <a:spcPts val="0"/>
              </a:spcAft>
              <a:buNone/>
            </a:pPr>
            <a:r>
              <a:rPr lang="en-US" sz="1200"/>
              <a:t>Մշակիչը կանոնները տեղադրում է յուրաքանչյուր օգտագործման վայրում։ Սա հարմար է կրկնությունը սկզբնական ֆայլում նվազեցնելու համար, բայց վերջնական CSS-ում կանոնները կարող են կրկնվել։ Ուստի ամեն մի փոքր հայտարարության համար mixin ստեղծելը անհրաժեշտ չէ։ Այն օգտակար է, երբ ունենք մի քանի կապված հայտարարություններ կամ պարամետրով փոփոխվող կրկնվող լուծում։ Դասի ընթացքում գրեք mixin-ը, կանչեք երկու տարբեր արժեքով և համեմատեք ստացված CSS-ը։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Ստեղծել card-space($size: 20px) mixin և կիրառել երկու քարտի վրա։</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https://sass-lang.com/guide/</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62" name="Google Shape;362;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Մեծացող նախագծում գույները, բացատներն ու կրկնվող կանոնները կարելի է բաժանել ֆայլերի։ _tokens.scss-ի սկզբի ընդգծումը նշում է partial ֆայլ։ style.scss-ը @use "tokens" գրառմամբ բեռնում է այն, ապա tokens.$accent ձևով դիմում փոփոխականին։ Namespace-ը օգնում է տեսնել՝ որտեղից է եկել անունը և կանխել պատահական բախումները։</a:t>
            </a:r>
            <a:endParaRPr/>
          </a:p>
          <a:p>
            <a:pPr indent="0" lvl="0" marL="0" rtl="0" algn="l">
              <a:spcBef>
                <a:spcPts val="0"/>
              </a:spcBef>
              <a:spcAft>
                <a:spcPts val="0"/>
              </a:spcAft>
              <a:buNone/>
            </a:pPr>
            <a:r>
              <a:rPr lang="en-US" sz="1200"/>
              <a:t>Ժամանակակից Sass նախագծում մոդուլների համար օգտագործում ենք @use, ոչ թե նոր կոդը կառուցում հնացած Sass @import-ի վրա։ Եթե Dart Sass-ը տեղադրված է, sass style.scss style.css հրամանը մեկ անգամ մշակում է ֆայլը։ --watch տարբերակը հետևում է փոփոխություններին և նորից մշակում։ Եթե հրամանը չի ճանաչվում, նախ պետք է տեղադրել Dart Sass-ը կամ նախագծի գործիքով գործարկել այն։ HTML-ում մնում է link դեպի style.css։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Փոխել _tokens.scss-ի գույնը և ստուգել՝ style.css-ը արդյոք թարմանում 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https://sass-lang.com/documentation/at-rules/use/</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72" name="Google Shape;372;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Ամբողջական ցուցադրության համար ընտրում ենք ուսումնական կենտրոնի էջ։ Կպչուն նավիգացիայի ներսում Flexbox-ը բաշխում է կայքի անունն ու հղումները։ Քարտերի ընդհանուր բաժինը Grid է։ Յուրաքանչյուր քարտի ներսում Flexbox-ը պահում է հղումը ներքևում, իսկ relative և absolute զույգը տեղադրում է Նոր նշանը։</a:t>
            </a:r>
            <a:endParaRPr/>
          </a:p>
          <a:p>
            <a:pPr indent="0" lvl="0" marL="0" rtl="0" algn="l">
              <a:spcBef>
                <a:spcPts val="0"/>
              </a:spcBef>
              <a:spcAft>
                <a:spcPts val="0"/>
              </a:spcAft>
              <a:buNone/>
            </a:pPr>
            <a:r>
              <a:rPr lang="en-US" sz="1200"/>
              <a:t>Սկզբնական մեկ սյունակը min-width Media Query-ներով դառնում է երկու և երեք։ Հղման hover կամ focus վիճակում ավելացնում ենք մեղմ գունային անցում։ Միայն զարդարող մուտքի շարժումը անջատում ենք reduced motion նախընտրության դեպքում։ Word նյութի հավելվածում տրված է մեկ ֆայլով բացվող ամբողջական HTML օրինակ։ Այն կարելի է պատճենել demo.html-ի մեջ և բացել բրաուզերում։ Փոքր հատվածները համադրելուց հետո ուսանողը պետք է կարողանա բացատրել յուրաքանչյուր ծնողի պատասխանատվությունը։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Փորձարկել. Միավորված օրինակում անջատել միայն display: grid-ը և նշել՝ ինչ փոխվեց։</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Աղբյուր. https://www.w3.org/TR/css-grid-2/</a:t>
            </a:r>
            <a:endParaRPr/>
          </a:p>
          <a:p>
            <a:pPr indent="0" lvl="0" marL="0" rtl="0" algn="l">
              <a:spcBef>
                <a:spcPts val="0"/>
              </a:spcBef>
              <a:spcAft>
                <a:spcPts val="0"/>
              </a:spcAft>
              <a:buNone/>
            </a:pPr>
            <a:r>
              <a:rPr lang="en-US" sz="1200"/>
              <a:t>Ուսումնական կոդը կազմված է այս դասի համար։ Շարժման պատկերները ցույց են տալիս փուլերը, ոչ կենդանի անիմացիա։</a:t>
            </a:r>
            <a:endParaRPr/>
          </a:p>
        </p:txBody>
      </p:sp>
      <p:sp>
        <p:nvSpPr>
          <p:cNvPr id="382" name="Google Shape;382;p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https://www.w3.org/TR/css-position-3/</a:t>
            </a:r>
            <a:endParaRPr/>
          </a:p>
          <a:p>
            <a:pPr indent="0" lvl="0" marL="0" rtl="0" algn="l">
              <a:spcBef>
                <a:spcPts val="0"/>
              </a:spcBef>
              <a:spcAft>
                <a:spcPts val="0"/>
              </a:spcAft>
              <a:buNone/>
            </a:pPr>
            <a:r>
              <a:rPr lang="en-US" sz="1200"/>
              <a:t>https://www.w3.org/TR/CSS22/visuren.html#floats</a:t>
            </a:r>
            <a:endParaRPr/>
          </a:p>
          <a:p>
            <a:pPr indent="0" lvl="0" marL="0" rtl="0" algn="l">
              <a:spcBef>
                <a:spcPts val="0"/>
              </a:spcBef>
              <a:spcAft>
                <a:spcPts val="0"/>
              </a:spcAft>
              <a:buNone/>
            </a:pPr>
            <a:r>
              <a:rPr lang="en-US" sz="1200"/>
              <a:t>https://www.w3.org/TR/css-flexbox-1/</a:t>
            </a:r>
            <a:endParaRPr/>
          </a:p>
          <a:p>
            <a:pPr indent="0" lvl="0" marL="0" rtl="0" algn="l">
              <a:spcBef>
                <a:spcPts val="0"/>
              </a:spcBef>
              <a:spcAft>
                <a:spcPts val="0"/>
              </a:spcAft>
              <a:buNone/>
            </a:pPr>
            <a:r>
              <a:rPr lang="en-US" sz="1200"/>
              <a:t>https://www.w3.org/TR/css-grid-2/</a:t>
            </a:r>
            <a:endParaRPr/>
          </a:p>
          <a:p>
            <a:pPr indent="0" lvl="0" marL="0" rtl="0" algn="l">
              <a:spcBef>
                <a:spcPts val="0"/>
              </a:spcBef>
              <a:spcAft>
                <a:spcPts val="0"/>
              </a:spcAft>
              <a:buNone/>
            </a:pPr>
            <a:r>
              <a:rPr lang="en-US" sz="1200"/>
              <a:t>https://www.w3.org/TR/mediaqueries-5/</a:t>
            </a:r>
            <a:endParaRPr/>
          </a:p>
          <a:p>
            <a:pPr indent="0" lvl="0" marL="0" rtl="0" algn="l">
              <a:spcBef>
                <a:spcPts val="0"/>
              </a:spcBef>
              <a:spcAft>
                <a:spcPts val="0"/>
              </a:spcAft>
              <a:buNone/>
            </a:pPr>
            <a:r>
              <a:rPr lang="en-US" sz="1200"/>
              <a:t>https://www.w3.org/TR/css-transitions-1/</a:t>
            </a:r>
            <a:endParaRPr/>
          </a:p>
          <a:p>
            <a:pPr indent="0" lvl="0" marL="0" rtl="0" algn="l">
              <a:spcBef>
                <a:spcPts val="0"/>
              </a:spcBef>
              <a:spcAft>
                <a:spcPts val="0"/>
              </a:spcAft>
              <a:buNone/>
            </a:pPr>
            <a:r>
              <a:rPr lang="en-US" sz="1200"/>
              <a:t>https://www.w3.org/TR/css-transforms-1/</a:t>
            </a:r>
            <a:endParaRPr/>
          </a:p>
          <a:p>
            <a:pPr indent="0" lvl="0" marL="0" rtl="0" algn="l">
              <a:spcBef>
                <a:spcPts val="0"/>
              </a:spcBef>
              <a:spcAft>
                <a:spcPts val="0"/>
              </a:spcAft>
              <a:buNone/>
            </a:pPr>
            <a:r>
              <a:rPr lang="en-US" sz="1200"/>
              <a:t>https://www.w3.org/TR/css-animations-1/</a:t>
            </a:r>
            <a:endParaRPr/>
          </a:p>
          <a:p>
            <a:pPr indent="0" lvl="0" marL="0" rtl="0" algn="l">
              <a:spcBef>
                <a:spcPts val="0"/>
              </a:spcBef>
              <a:spcAft>
                <a:spcPts val="0"/>
              </a:spcAft>
              <a:buNone/>
            </a:pPr>
            <a:r>
              <a:rPr lang="en-US" sz="1200"/>
              <a:t>https://www.w3.org/TR/filter-effects-1/</a:t>
            </a:r>
            <a:endParaRPr/>
          </a:p>
          <a:p>
            <a:pPr indent="0" lvl="0" marL="0" rtl="0" algn="l">
              <a:spcBef>
                <a:spcPts val="0"/>
              </a:spcBef>
              <a:spcAft>
                <a:spcPts val="0"/>
              </a:spcAft>
              <a:buNone/>
            </a:pPr>
            <a:r>
              <a:rPr lang="en-US" sz="1200"/>
              <a:t>https://www.w3.org/TR/css-multicol-1/</a:t>
            </a:r>
            <a:endParaRPr/>
          </a:p>
          <a:p>
            <a:pPr indent="0" lvl="0" marL="0" rtl="0" algn="l">
              <a:spcBef>
                <a:spcPts val="0"/>
              </a:spcBef>
              <a:spcAft>
                <a:spcPts val="0"/>
              </a:spcAft>
              <a:buNone/>
            </a:pPr>
            <a:r>
              <a:rPr lang="en-US" sz="1200"/>
              <a:t>https://sass-lang.com/guide/</a:t>
            </a:r>
            <a:endParaRPr/>
          </a:p>
          <a:p>
            <a:pPr indent="0" lvl="0" marL="0" rtl="0" algn="l">
              <a:spcBef>
                <a:spcPts val="0"/>
              </a:spcBef>
              <a:spcAft>
                <a:spcPts val="0"/>
              </a:spcAft>
              <a:buNone/>
            </a:pPr>
            <a:r>
              <a:rPr lang="en-US" sz="1200"/>
              <a:t>https://sass-lang.com/documentation/at-rules/use/</a:t>
            </a:r>
            <a:endParaRPr/>
          </a:p>
          <a:p>
            <a:pPr indent="0" lvl="0" marL="0" rtl="0" algn="l">
              <a:spcBef>
                <a:spcPts val="0"/>
              </a:spcBef>
              <a:spcAft>
                <a:spcPts val="0"/>
              </a:spcAft>
              <a:buNone/>
            </a:pPr>
            <a:r>
              <a:rPr lang="en-US" sz="1200"/>
              <a:t>https://sass-lang.com/documentation/cli/dart-sass/</a:t>
            </a:r>
            <a:endParaRPr/>
          </a:p>
          <a:p>
            <a:pPr indent="0" lvl="0" marL="0" rtl="0" algn="l">
              <a:spcBef>
                <a:spcPts val="0"/>
              </a:spcBef>
              <a:spcAft>
                <a:spcPts val="0"/>
              </a:spcAft>
              <a:buNone/>
            </a:pPr>
            <a:r>
              <a:rPr lang="en-US" sz="1200"/>
              <a:t>Ստուգված է 26.10.2026</a:t>
            </a:r>
            <a:endParaRPr/>
          </a:p>
        </p:txBody>
      </p:sp>
      <p:sp>
        <p:nvSpPr>
          <p:cNvPr id="392" name="Google Shape;392;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1"/>
          <p:cNvSpPr txBox="1"/>
          <p:nvPr>
            <p:ph type="title"/>
          </p:nvPr>
        </p:nvSpPr>
        <p:spPr>
          <a:xfrm>
            <a:off x="1524000" y="3238500"/>
            <a:ext cx="12192000" cy="12382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6000"/>
              <a:buFont typeface="Arial"/>
              <a:buNone/>
              <a:defRPr b="1" sz="6000">
                <a:solidFill>
                  <a:schemeClr val="dk1"/>
                </a:solidFill>
                <a:latin typeface="Arial"/>
                <a:ea typeface="Arial"/>
                <a:cs typeface="Arial"/>
                <a:sym typeface="Arial"/>
              </a:defRPr>
            </a:lvl9pPr>
          </a:lstStyle>
          <a:p/>
        </p:txBody>
      </p:sp>
      <p:sp>
        <p:nvSpPr>
          <p:cNvPr id="13" name="Google Shape;13;p41"/>
          <p:cNvSpPr txBox="1"/>
          <p:nvPr>
            <p:ph idx="1" type="subTitle"/>
          </p:nvPr>
        </p:nvSpPr>
        <p:spPr>
          <a:xfrm>
            <a:off x="2286000" y="4714875"/>
            <a:ext cx="10668000" cy="952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625"/>
              <a:buFont typeface="Arial"/>
              <a:buNone/>
              <a:defRPr b="0" i="0" sz="262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2"/>
          <p:cNvSpPr txBox="1"/>
          <p:nvPr>
            <p:ph type="title"/>
          </p:nvPr>
        </p:nvSpPr>
        <p:spPr>
          <a:xfrm>
            <a:off x="1524000" y="3571875"/>
            <a:ext cx="12192000" cy="14287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5250"/>
              <a:buFont typeface="Arial"/>
              <a:buNone/>
              <a:defRPr b="1" i="0" sz="525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5250"/>
              <a:buFont typeface="Arial"/>
              <a:buNone/>
              <a:defRPr b="1" sz="525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43"/>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125"/>
              <a:buFont typeface="Arial"/>
              <a:buNone/>
              <a:defRPr b="1" i="0" sz="412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9pPr>
          </a:lstStyle>
          <a:p/>
        </p:txBody>
      </p:sp>
      <p:sp>
        <p:nvSpPr>
          <p:cNvPr id="18" name="Google Shape;18;p43"/>
          <p:cNvSpPr txBox="1"/>
          <p:nvPr>
            <p:ph idx="1" type="body"/>
          </p:nvPr>
        </p:nvSpPr>
        <p:spPr>
          <a:xfrm>
            <a:off x="857250" y="2381250"/>
            <a:ext cx="13525500" cy="5334000"/>
          </a:xfrm>
          <a:prstGeom prst="rect">
            <a:avLst/>
          </a:prstGeom>
          <a:noFill/>
          <a:ln>
            <a:noFill/>
          </a:ln>
        </p:spPr>
        <p:txBody>
          <a:bodyPr anchorCtr="0" anchor="t" bIns="0" lIns="0" spcFirstLastPara="1" rIns="0" wrap="square" tIns="0">
            <a:normAutofit/>
          </a:bodyPr>
          <a:lstStyle>
            <a:lvl1pPr indent="-407226" lvl="0" marL="457200" marR="0" rtl="0" algn="l">
              <a:lnSpc>
                <a:spcPct val="110000"/>
              </a:lnSpc>
              <a:spcBef>
                <a:spcPts val="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1pPr>
            <a:lvl2pPr indent="-407226" lvl="1" marL="9144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2pPr>
            <a:lvl3pPr indent="-407226" lvl="2" marL="13716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3pPr>
            <a:lvl4pPr indent="-407226" lvl="3" marL="18288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4pPr>
            <a:lvl5pPr indent="-407226" lvl="4" marL="22860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5pPr>
            <a:lvl6pPr indent="-407226" lvl="5" marL="27432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6pPr>
            <a:lvl7pPr indent="-407226" lvl="6" marL="32004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7pPr>
            <a:lvl8pPr indent="-407226" lvl="7" marL="36576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8pPr>
            <a:lvl9pPr indent="-407226" lvl="8" marL="4114800" marR="0" rtl="0" algn="l">
              <a:lnSpc>
                <a:spcPct val="110000"/>
              </a:lnSpc>
              <a:spcBef>
                <a:spcPts val="1500"/>
              </a:spcBef>
              <a:spcAft>
                <a:spcPts val="1500"/>
              </a:spcAft>
              <a:buClr>
                <a:schemeClr val="dk1"/>
              </a:buClr>
              <a:buSzPts val="2813"/>
              <a:buFont typeface="Arial"/>
              <a:buChar char="•"/>
              <a:defRPr b="0" i="0" sz="2813"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44"/>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125"/>
              <a:buFont typeface="Arial"/>
              <a:buNone/>
              <a:defRPr b="1" i="0" sz="412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9pPr>
          </a:lstStyle>
          <a:p/>
        </p:txBody>
      </p:sp>
      <p:sp>
        <p:nvSpPr>
          <p:cNvPr id="21" name="Google Shape;21;p44"/>
          <p:cNvSpPr txBox="1"/>
          <p:nvPr>
            <p:ph idx="1" type="body"/>
          </p:nvPr>
        </p:nvSpPr>
        <p:spPr>
          <a:xfrm>
            <a:off x="857250" y="2381250"/>
            <a:ext cx="6286500" cy="5334000"/>
          </a:xfrm>
          <a:prstGeom prst="rect">
            <a:avLst/>
          </a:prstGeom>
          <a:noFill/>
          <a:ln>
            <a:noFill/>
          </a:ln>
        </p:spPr>
        <p:txBody>
          <a:bodyPr anchorCtr="0" anchor="t" bIns="0" lIns="0" spcFirstLastPara="1" rIns="0" wrap="square" tIns="0">
            <a:normAutofit/>
          </a:bodyPr>
          <a:lstStyle>
            <a:lvl1pPr indent="-395288" lvl="0" marL="457200" marR="0" rtl="0" algn="l">
              <a:lnSpc>
                <a:spcPct val="110000"/>
              </a:lnSpc>
              <a:spcBef>
                <a:spcPts val="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1pPr>
            <a:lvl2pPr indent="-395288" lvl="1" marL="9144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2pPr>
            <a:lvl3pPr indent="-395288" lvl="2" marL="13716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3pPr>
            <a:lvl4pPr indent="-395288" lvl="3" marL="18288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4pPr>
            <a:lvl5pPr indent="-395288" lvl="4" marL="22860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5pPr>
            <a:lvl6pPr indent="-395288" lvl="5" marL="27432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6pPr>
            <a:lvl7pPr indent="-395288" lvl="6" marL="32004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7pPr>
            <a:lvl8pPr indent="-395288" lvl="7" marL="36576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8pPr>
            <a:lvl9pPr indent="-395288" lvl="8" marL="4114800" marR="0" rtl="0" algn="l">
              <a:lnSpc>
                <a:spcPct val="110000"/>
              </a:lnSpc>
              <a:spcBef>
                <a:spcPts val="1500"/>
              </a:spcBef>
              <a:spcAft>
                <a:spcPts val="1500"/>
              </a:spcAft>
              <a:buClr>
                <a:schemeClr val="dk1"/>
              </a:buClr>
              <a:buSzPts val="2625"/>
              <a:buFont typeface="Arial"/>
              <a:buChar char="•"/>
              <a:defRPr b="0" i="0" sz="2625" u="none" cap="none" strike="noStrike">
                <a:solidFill>
                  <a:schemeClr val="dk1"/>
                </a:solidFill>
                <a:latin typeface="Arial"/>
                <a:ea typeface="Arial"/>
                <a:cs typeface="Arial"/>
                <a:sym typeface="Arial"/>
              </a:defRPr>
            </a:lvl9pPr>
          </a:lstStyle>
          <a:p/>
        </p:txBody>
      </p:sp>
      <p:sp>
        <p:nvSpPr>
          <p:cNvPr id="22" name="Google Shape;22;p44"/>
          <p:cNvSpPr txBox="1"/>
          <p:nvPr>
            <p:ph idx="2" type="body"/>
          </p:nvPr>
        </p:nvSpPr>
        <p:spPr>
          <a:xfrm>
            <a:off x="8096250" y="2381250"/>
            <a:ext cx="6286500" cy="5334000"/>
          </a:xfrm>
          <a:prstGeom prst="rect">
            <a:avLst/>
          </a:prstGeom>
          <a:noFill/>
          <a:ln>
            <a:noFill/>
          </a:ln>
        </p:spPr>
        <p:txBody>
          <a:bodyPr anchorCtr="0" anchor="t" bIns="0" lIns="0" spcFirstLastPara="1" rIns="0" wrap="square" tIns="0">
            <a:normAutofit/>
          </a:bodyPr>
          <a:lstStyle>
            <a:lvl1pPr indent="-395288" lvl="0" marL="457200" marR="0" rtl="0" algn="l">
              <a:lnSpc>
                <a:spcPct val="110000"/>
              </a:lnSpc>
              <a:spcBef>
                <a:spcPts val="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1pPr>
            <a:lvl2pPr indent="-395288" lvl="1" marL="9144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2pPr>
            <a:lvl3pPr indent="-395288" lvl="2" marL="13716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3pPr>
            <a:lvl4pPr indent="-395288" lvl="3" marL="18288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4pPr>
            <a:lvl5pPr indent="-395288" lvl="4" marL="22860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5pPr>
            <a:lvl6pPr indent="-395288" lvl="5" marL="27432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6pPr>
            <a:lvl7pPr indent="-395288" lvl="6" marL="32004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7pPr>
            <a:lvl8pPr indent="-395288" lvl="7" marL="3657600" marR="0" rtl="0" algn="l">
              <a:lnSpc>
                <a:spcPct val="110000"/>
              </a:lnSpc>
              <a:spcBef>
                <a:spcPts val="1500"/>
              </a:spcBef>
              <a:spcAft>
                <a:spcPts val="0"/>
              </a:spcAft>
              <a:buClr>
                <a:schemeClr val="dk1"/>
              </a:buClr>
              <a:buSzPts val="2625"/>
              <a:buFont typeface="Arial"/>
              <a:buChar char="•"/>
              <a:defRPr b="0" i="0" sz="2625" u="none" cap="none" strike="noStrike">
                <a:solidFill>
                  <a:schemeClr val="dk1"/>
                </a:solidFill>
                <a:latin typeface="Arial"/>
                <a:ea typeface="Arial"/>
                <a:cs typeface="Arial"/>
                <a:sym typeface="Arial"/>
              </a:defRPr>
            </a:lvl8pPr>
            <a:lvl9pPr indent="-395288" lvl="8" marL="4114800" marR="0" rtl="0" algn="l">
              <a:lnSpc>
                <a:spcPct val="110000"/>
              </a:lnSpc>
              <a:spcBef>
                <a:spcPts val="1500"/>
              </a:spcBef>
              <a:spcAft>
                <a:spcPts val="1500"/>
              </a:spcAft>
              <a:buClr>
                <a:schemeClr val="dk1"/>
              </a:buClr>
              <a:buSzPts val="2625"/>
              <a:buFont typeface="Arial"/>
              <a:buChar char="•"/>
              <a:defRPr b="0" i="0" sz="262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45"/>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125"/>
              <a:buFont typeface="Arial"/>
              <a:buNone/>
              <a:defRPr b="1" i="0" sz="412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125"/>
              <a:buFont typeface="Arial"/>
              <a:buNone/>
              <a:defRPr b="1" sz="4125">
                <a:solidFill>
                  <a:schemeClr val="dk1"/>
                </a:solidFill>
                <a:latin typeface="Arial"/>
                <a:ea typeface="Arial"/>
                <a:cs typeface="Arial"/>
                <a:sym typeface="Arial"/>
              </a:defRPr>
            </a:lvl9pPr>
          </a:lstStyle>
          <a:p/>
        </p:txBody>
      </p:sp>
      <p:sp>
        <p:nvSpPr>
          <p:cNvPr id="25" name="Google Shape;25;p45"/>
          <p:cNvSpPr txBox="1"/>
          <p:nvPr>
            <p:ph idx="1" type="body"/>
          </p:nvPr>
        </p:nvSpPr>
        <p:spPr>
          <a:xfrm>
            <a:off x="857250" y="2381250"/>
            <a:ext cx="6286500" cy="5334000"/>
          </a:xfrm>
          <a:prstGeom prst="rect">
            <a:avLst/>
          </a:prstGeom>
          <a:noFill/>
          <a:ln>
            <a:noFill/>
          </a:ln>
        </p:spPr>
        <p:txBody>
          <a:bodyPr anchorCtr="0" anchor="t" bIns="0" lIns="0" spcFirstLastPara="1" rIns="0" wrap="square" tIns="0">
            <a:normAutofit/>
          </a:bodyPr>
          <a:lstStyle>
            <a:lvl1pPr indent="-407226" lvl="0" marL="457200" marR="0" rtl="0" algn="l">
              <a:lnSpc>
                <a:spcPct val="110000"/>
              </a:lnSpc>
              <a:spcBef>
                <a:spcPts val="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1pPr>
            <a:lvl2pPr indent="-407226" lvl="1" marL="9144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2pPr>
            <a:lvl3pPr indent="-407226" lvl="2" marL="13716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3pPr>
            <a:lvl4pPr indent="-407226" lvl="3" marL="18288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4pPr>
            <a:lvl5pPr indent="-407226" lvl="4" marL="22860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5pPr>
            <a:lvl6pPr indent="-407226" lvl="5" marL="27432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6pPr>
            <a:lvl7pPr indent="-407226" lvl="6" marL="32004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7pPr>
            <a:lvl8pPr indent="-407226" lvl="7" marL="3657600" marR="0" rtl="0" algn="l">
              <a:lnSpc>
                <a:spcPct val="110000"/>
              </a:lnSpc>
              <a:spcBef>
                <a:spcPts val="1500"/>
              </a:spcBef>
              <a:spcAft>
                <a:spcPts val="0"/>
              </a:spcAft>
              <a:buClr>
                <a:schemeClr val="dk1"/>
              </a:buClr>
              <a:buSzPts val="2813"/>
              <a:buFont typeface="Arial"/>
              <a:buChar char="•"/>
              <a:defRPr b="0" i="0" sz="2813" u="none" cap="none" strike="noStrike">
                <a:solidFill>
                  <a:schemeClr val="dk1"/>
                </a:solidFill>
                <a:latin typeface="Arial"/>
                <a:ea typeface="Arial"/>
                <a:cs typeface="Arial"/>
                <a:sym typeface="Arial"/>
              </a:defRPr>
            </a:lvl8pPr>
            <a:lvl9pPr indent="-407226" lvl="8" marL="4114800" marR="0" rtl="0" algn="l">
              <a:lnSpc>
                <a:spcPct val="110000"/>
              </a:lnSpc>
              <a:spcBef>
                <a:spcPts val="1500"/>
              </a:spcBef>
              <a:spcAft>
                <a:spcPts val="1500"/>
              </a:spcAft>
              <a:buClr>
                <a:schemeClr val="dk1"/>
              </a:buClr>
              <a:buSzPts val="2813"/>
              <a:buFont typeface="Arial"/>
              <a:buChar char="•"/>
              <a:defRPr b="0" i="0" sz="2813"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0" name="Shape 30"/>
        <p:cNvGrpSpPr/>
        <p:nvPr/>
      </p:nvGrpSpPr>
      <p:grpSpPr>
        <a:xfrm>
          <a:off x="0" y="0"/>
          <a:ext cx="0" cy="0"/>
          <a:chOff x="0" y="0"/>
          <a:chExt cx="0" cy="0"/>
        </a:xfrm>
      </p:grpSpPr>
      <p:sp>
        <p:nvSpPr>
          <p:cNvPr id="31" name="Google Shape;31;p1"/>
          <p:cNvSpPr/>
          <p:nvPr/>
        </p:nvSpPr>
        <p:spPr>
          <a:xfrm>
            <a:off x="857250" y="1714500"/>
            <a:ext cx="13525500" cy="2000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650">
                <a:solidFill>
                  <a:srgbClr val="F8FAFC"/>
                </a:solidFill>
                <a:latin typeface="Verdana"/>
                <a:ea typeface="Verdana"/>
                <a:cs typeface="Verdana"/>
                <a:sym typeface="Verdana"/>
              </a:rPr>
              <a:t>CSS դասավորություն</a:t>
            </a:r>
            <a:endParaRPr/>
          </a:p>
          <a:p>
            <a:pPr indent="0" lvl="0" marL="0" marR="0" rtl="0" algn="l">
              <a:spcBef>
                <a:spcPts val="0"/>
              </a:spcBef>
              <a:spcAft>
                <a:spcPts val="0"/>
              </a:spcAft>
              <a:buNone/>
            </a:pPr>
            <a:r>
              <a:rPr b="1" lang="en-US" sz="4650">
                <a:solidFill>
                  <a:srgbClr val="F8FAFC"/>
                </a:solidFill>
                <a:latin typeface="Verdana"/>
                <a:ea typeface="Verdana"/>
                <a:cs typeface="Verdana"/>
                <a:sym typeface="Verdana"/>
              </a:rPr>
              <a:t>և արձագանքող դիզայն</a:t>
            </a:r>
            <a:endParaRPr/>
          </a:p>
        </p:txBody>
      </p:sp>
      <p:sp>
        <p:nvSpPr>
          <p:cNvPr id="32" name="Google Shape;32;p1"/>
          <p:cNvSpPr/>
          <p:nvPr/>
        </p:nvSpPr>
        <p:spPr>
          <a:xfrm>
            <a:off x="904875" y="4286250"/>
            <a:ext cx="133350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700">
                <a:solidFill>
                  <a:srgbClr val="FFAD66"/>
                </a:solidFill>
                <a:latin typeface="Verdana"/>
                <a:ea typeface="Verdana"/>
                <a:cs typeface="Verdana"/>
                <a:sym typeface="Verdana"/>
              </a:rPr>
              <a:t>Դիրքավորում, Flexbox, Grid</a:t>
            </a:r>
            <a:endParaRPr/>
          </a:p>
          <a:p>
            <a:pPr indent="0" lvl="0" marL="0" marR="0" rtl="0" algn="l">
              <a:spcBef>
                <a:spcPts val="0"/>
              </a:spcBef>
              <a:spcAft>
                <a:spcPts val="0"/>
              </a:spcAft>
              <a:buNone/>
            </a:pPr>
            <a:r>
              <a:rPr b="0" lang="en-US" sz="2700">
                <a:solidFill>
                  <a:srgbClr val="FFAD66"/>
                </a:solidFill>
                <a:latin typeface="Verdana"/>
                <a:ea typeface="Verdana"/>
                <a:cs typeface="Verdana"/>
                <a:sym typeface="Verdana"/>
              </a:rPr>
              <a:t>Media Queries, էֆեկտներ և Sass/SCSS</a:t>
            </a:r>
            <a:endParaRPr/>
          </a:p>
        </p:txBody>
      </p:sp>
      <p:sp>
        <p:nvSpPr>
          <p:cNvPr id="33" name="Google Shape;33;p1"/>
          <p:cNvSpPr/>
          <p:nvPr/>
        </p:nvSpPr>
        <p:spPr>
          <a:xfrm>
            <a:off x="904875" y="6762750"/>
            <a:ext cx="133350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C8D5E8"/>
                </a:solidFill>
                <a:latin typeface="Verdana"/>
                <a:ea typeface="Verdana"/>
                <a:cs typeface="Verdana"/>
                <a:sym typeface="Verdana"/>
              </a:rPr>
              <a:t>Web Technologies • բացատրություններ և օրինակներ</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8" name="Shape 38"/>
        <p:cNvGrpSpPr/>
        <p:nvPr/>
      </p:nvGrpSpPr>
      <p:grpSpPr>
        <a:xfrm>
          <a:off x="0" y="0"/>
          <a:ext cx="0" cy="0"/>
          <a:chOff x="0" y="0"/>
          <a:chExt cx="0" cy="0"/>
        </a:xfrm>
      </p:grpSpPr>
      <p:sp>
        <p:nvSpPr>
          <p:cNvPr id="39" name="Google Shape;39;p2"/>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Սովորական հոսք և relative</a:t>
            </a:r>
            <a:endParaRPr/>
          </a:p>
        </p:txBody>
      </p:sp>
      <p:sp>
        <p:nvSpPr>
          <p:cNvPr id="40" name="Google Shape;40;p2"/>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relative-ը պահպանում է տարրի սկզբնական տեղը։</a:t>
            </a:r>
            <a:endParaRPr/>
          </a:p>
        </p:txBody>
      </p:sp>
      <p:sp>
        <p:nvSpPr>
          <p:cNvPr id="41" name="Google Shape;41;p2"/>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.box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relative;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top: 18px;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left: 24px;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42" name="Google Shape;42;p2"/>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43" name="Google Shape;43;p2"/>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Փոխել top-ը -18px-ի։ Նախապես ասել՝ որ ուղղությամբ կշարժվի բլոկը։</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48" name="Shape 48"/>
        <p:cNvGrpSpPr/>
        <p:nvPr/>
      </p:nvGrpSpPr>
      <p:grpSpPr>
        <a:xfrm>
          <a:off x="0" y="0"/>
          <a:ext cx="0" cy="0"/>
          <a:chOff x="0" y="0"/>
          <a:chExt cx="0" cy="0"/>
        </a:xfrm>
      </p:grpSpPr>
      <p:sp>
        <p:nvSpPr>
          <p:cNvPr id="49" name="Google Shape;49;p3"/>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Absolute և հենակետ</a:t>
            </a:r>
            <a:endParaRPr/>
          </a:p>
        </p:txBody>
      </p:sp>
      <p:sp>
        <p:nvSpPr>
          <p:cNvPr id="50" name="Google Shape;50;p3"/>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Նշանը դիրքավորվում է քարտի ներսում։</a:t>
            </a:r>
            <a:endParaRPr/>
          </a:p>
        </p:txBody>
      </p:sp>
      <p:sp>
        <p:nvSpPr>
          <p:cNvPr id="51" name="Google Shape;51;p3"/>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 position: relative;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.badge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absolute;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top: 12px;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right: 12px;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52" name="Google Shape;52;p3"/>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53" name="Google Shape;53;p3"/>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Հանել քարտի position: relative-ը և բացատրել նշանի դիրքի փոփոխությունը։</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58" name="Shape 58"/>
        <p:cNvGrpSpPr/>
        <p:nvPr/>
      </p:nvGrpSpPr>
      <p:grpSpPr>
        <a:xfrm>
          <a:off x="0" y="0"/>
          <a:ext cx="0" cy="0"/>
          <a:chOff x="0" y="0"/>
          <a:chExt cx="0" cy="0"/>
        </a:xfrm>
      </p:grpSpPr>
      <p:sp>
        <p:nvSpPr>
          <p:cNvPr id="59" name="Google Shape;59;p4"/>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Fixed դիրքավորում</a:t>
            </a:r>
            <a:endParaRPr/>
          </a:p>
        </p:txBody>
      </p:sp>
      <p:sp>
        <p:nvSpPr>
          <p:cNvPr id="60" name="Google Shape;60;p4"/>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Fixed տարրը սովորաբար կապված է դիտման պատուհանին։</a:t>
            </a:r>
            <a:endParaRPr/>
          </a:p>
        </p:txBody>
      </p:sp>
      <p:sp>
        <p:nvSpPr>
          <p:cNvPr id="61" name="Google Shape;61;p4"/>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.help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fixed;</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right: 20px;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bottom: 20px;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z-index: 20;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62" name="Google Shape;62;p4"/>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63" name="Google Shape;63;p4"/>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Էջը երկարացնել և ոլորել։ Ստուգել՝ կոճակը չի՞ ծածկում վերջին հղումը։</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68" name="Shape 68"/>
        <p:cNvGrpSpPr/>
        <p:nvPr/>
      </p:nvGrpSpPr>
      <p:grpSpPr>
        <a:xfrm>
          <a:off x="0" y="0"/>
          <a:ext cx="0" cy="0"/>
          <a:chOff x="0" y="0"/>
          <a:chExt cx="0" cy="0"/>
        </a:xfrm>
      </p:grpSpPr>
      <p:sp>
        <p:nvSpPr>
          <p:cNvPr id="69" name="Google Shape;69;p5"/>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Sticky և ոլորում</a:t>
            </a:r>
            <a:endParaRPr/>
          </a:p>
        </p:txBody>
      </p:sp>
      <p:sp>
        <p:nvSpPr>
          <p:cNvPr id="70" name="Google Shape;70;p5"/>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Sticky-ին պետք են շեմ և տեղաշարժի տարածք։</a:t>
            </a:r>
            <a:endParaRPr/>
          </a:p>
        </p:txBody>
      </p:sp>
      <p:sp>
        <p:nvSpPr>
          <p:cNvPr id="71" name="Google Shape;71;p5"/>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.site-nav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sticky;</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top: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z-index: 10;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background: white;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72" name="Google Shape;72;p5"/>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73" name="Google Shape;73;p5"/>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Փորձարկել նախնու overflow: auto-ն։ Բացատրել՝ որտեղ է հիմա կատարվում ոլորումը։</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78" name="Shape 78"/>
        <p:cNvGrpSpPr/>
        <p:nvPr/>
      </p:nvGrpSpPr>
      <p:grpSpPr>
        <a:xfrm>
          <a:off x="0" y="0"/>
          <a:ext cx="0" cy="0"/>
          <a:chOff x="0" y="0"/>
          <a:chExt cx="0" cy="0"/>
        </a:xfrm>
      </p:grpSpPr>
      <p:sp>
        <p:nvSpPr>
          <p:cNvPr id="79" name="Google Shape;79;p6"/>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z-index և շերտավորման միջավայր</a:t>
            </a:r>
            <a:endParaRPr/>
          </a:p>
        </p:txBody>
      </p:sp>
      <p:sp>
        <p:nvSpPr>
          <p:cNvPr id="80" name="Google Shape;80;p6"/>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Մեծ z-index-ը գործում է իր միջավայրի ներսում։</a:t>
            </a:r>
            <a:endParaRPr/>
          </a:p>
        </p:txBody>
      </p:sp>
      <p:sp>
        <p:nvSpPr>
          <p:cNvPr id="81" name="Google Shape;81;p6"/>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.group-a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relative; z-index: 1;</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.group-a .badge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absolute; z-index: 999;</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.group-b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relative; z-index: 2;</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82" name="Google Shape;82;p6"/>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83" name="Google Shape;83;p6"/>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group-a-ի z-index-ը դարձնել 3 և բացատրել արդյունքը։</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88" name="Shape 88"/>
        <p:cNvGrpSpPr/>
        <p:nvPr/>
      </p:nvGrpSpPr>
      <p:grpSpPr>
        <a:xfrm>
          <a:off x="0" y="0"/>
          <a:ext cx="0" cy="0"/>
          <a:chOff x="0" y="0"/>
          <a:chExt cx="0" cy="0"/>
        </a:xfrm>
      </p:grpSpPr>
      <p:sp>
        <p:nvSpPr>
          <p:cNvPr id="89" name="Google Shape;89;p7"/>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Float clear և flow-root</a:t>
            </a:r>
            <a:endParaRPr/>
          </a:p>
        </p:txBody>
      </p:sp>
      <p:sp>
        <p:nvSpPr>
          <p:cNvPr id="90" name="Google Shape;90;p7"/>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Float-ի շուրջ տեքստը հոսում է կողքով։</a:t>
            </a:r>
            <a:endParaRPr/>
          </a:p>
        </p:txBody>
      </p:sp>
      <p:sp>
        <p:nvSpPr>
          <p:cNvPr id="91" name="Google Shape;91;p7"/>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.photo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float: left; width: 130px;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margin: 0 18px 12px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.next { clear: both;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.article { display: flow-root; }</a:t>
            </a:r>
            <a:endParaRPr/>
          </a:p>
        </p:txBody>
      </p:sp>
      <p:pic>
        <p:nvPicPr>
          <p:cNvPr id="92" name="Google Shape;92;p7"/>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93" name="Google Shape;93;p7"/>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Հանել clear-ը, ապա վերադարձնել։ Դիտել երկրորդ պարբերության սկիզբը։</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98" name="Shape 98"/>
        <p:cNvGrpSpPr/>
        <p:nvPr/>
      </p:nvGrpSpPr>
      <p:grpSpPr>
        <a:xfrm>
          <a:off x="0" y="0"/>
          <a:ext cx="0" cy="0"/>
          <a:chOff x="0" y="0"/>
          <a:chExt cx="0" cy="0"/>
        </a:xfrm>
      </p:grpSpPr>
      <p:sp>
        <p:nvSpPr>
          <p:cNvPr id="99" name="Google Shape;99;p8"/>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Flexbox ծնող և առանցքներ</a:t>
            </a:r>
            <a:endParaRPr/>
          </a:p>
        </p:txBody>
      </p:sp>
      <p:sp>
        <p:nvSpPr>
          <p:cNvPr id="100" name="Google Shape;100;p8"/>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flex-direction-ը որոշում է հիմնական առանցքը։</a:t>
            </a:r>
            <a:endParaRPr/>
          </a:p>
        </p:txBody>
      </p:sp>
      <p:sp>
        <p:nvSpPr>
          <p:cNvPr id="101" name="Google Shape;101;p8"/>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.row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flex-direction: row;</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.column { flex-direction: column; }</a:t>
            </a:r>
            <a:endParaRPr/>
          </a:p>
        </p:txBody>
      </p:sp>
      <p:pic>
        <p:nvPicPr>
          <p:cNvPr id="102" name="Google Shape;102;p8"/>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03" name="Google Shape;103;p8"/>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Նույն 3 տարրերը ցուցադրել մեկ տողով, ապա մեկ սյունակով։</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08" name="Shape 108"/>
        <p:cNvGrpSpPr/>
        <p:nvPr/>
      </p:nvGrpSpPr>
      <p:grpSpPr>
        <a:xfrm>
          <a:off x="0" y="0"/>
          <a:ext cx="0" cy="0"/>
          <a:chOff x="0" y="0"/>
          <a:chExt cx="0" cy="0"/>
        </a:xfrm>
      </p:grpSpPr>
      <p:sp>
        <p:nvSpPr>
          <p:cNvPr id="109" name="Google Shape;109;p9"/>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justify-content և բաշխում</a:t>
            </a:r>
            <a:endParaRPr/>
          </a:p>
        </p:txBody>
      </p:sp>
      <p:sp>
        <p:nvSpPr>
          <p:cNvPr id="110" name="Google Shape;110;p9"/>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Բաշխումը տեսանելի է, երբ ազատ տարածք կա։</a:t>
            </a:r>
            <a:endParaRPr/>
          </a:p>
        </p:txBody>
      </p:sp>
      <p:sp>
        <p:nvSpPr>
          <p:cNvPr id="111" name="Google Shape;111;p9"/>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.nav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justify-content: space-between;</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այլ արժեքներ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flex-start, center, flex-end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space-around, space-evenly */</a:t>
            </a:r>
            <a:endParaRPr/>
          </a:p>
        </p:txBody>
      </p:sp>
      <p:pic>
        <p:nvPicPr>
          <p:cNvPr id="112" name="Google Shape;112;p9"/>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13" name="Google Shape;113;p9"/>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Համեմատել center և space-between արժեքները՝ նույն gap-ը պահելով։</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18" name="Shape 118"/>
        <p:cNvGrpSpPr/>
        <p:nvPr/>
      </p:nvGrpSpPr>
      <p:grpSpPr>
        <a:xfrm>
          <a:off x="0" y="0"/>
          <a:ext cx="0" cy="0"/>
          <a:chOff x="0" y="0"/>
          <a:chExt cx="0" cy="0"/>
        </a:xfrm>
      </p:grpSpPr>
      <p:sp>
        <p:nvSpPr>
          <p:cNvPr id="119" name="Google Shape;119;p10"/>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align-items և align-self</a:t>
            </a:r>
            <a:endParaRPr/>
          </a:p>
        </p:txBody>
      </p:sp>
      <p:sp>
        <p:nvSpPr>
          <p:cNvPr id="120" name="Google Shape;120;p10"/>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align-items-ը կառավարում է լայնական հավասարեցումը։</a:t>
            </a:r>
            <a:endParaRPr/>
          </a:p>
        </p:txBody>
      </p:sp>
      <p:sp>
        <p:nvSpPr>
          <p:cNvPr id="121" name="Google Shape;121;p10"/>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.row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align-items: center;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height: 160px;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.special { align-self: flex-end; }</a:t>
            </a:r>
            <a:endParaRPr/>
          </a:p>
        </p:txBody>
      </p:sp>
      <p:pic>
        <p:nvPicPr>
          <p:cNvPr id="122" name="Google Shape;122;p10"/>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23" name="Google Shape;123;p10"/>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Փոխել align-items-ը stretch-ի և հեռացնել տարրերի ֆիքսված height-ը։</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28" name="Shape 128"/>
        <p:cNvGrpSpPr/>
        <p:nvPr/>
      </p:nvGrpSpPr>
      <p:grpSpPr>
        <a:xfrm>
          <a:off x="0" y="0"/>
          <a:ext cx="0" cy="0"/>
          <a:chOff x="0" y="0"/>
          <a:chExt cx="0" cy="0"/>
        </a:xfrm>
      </p:grpSpPr>
      <p:sp>
        <p:nvSpPr>
          <p:cNvPr id="129" name="Google Shape;129;p11"/>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Փաթաթում և gap</a:t>
            </a:r>
            <a:endParaRPr/>
          </a:p>
        </p:txBody>
      </p:sp>
      <p:sp>
        <p:nvSpPr>
          <p:cNvPr id="130" name="Google Shape;130;p11"/>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flex-wrap: wrap-ը թույլ է տալիս նոր տողեր։</a:t>
            </a:r>
            <a:endParaRPr/>
          </a:p>
        </p:txBody>
      </p:sp>
      <p:sp>
        <p:nvSpPr>
          <p:cNvPr id="131" name="Google Shape;131;p11"/>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.tags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flex-wrap: wrap;</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12px 20px;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.tag { flex: 0 0 140px; }</a:t>
            </a:r>
            <a:endParaRPr/>
          </a:p>
        </p:txBody>
      </p:sp>
      <p:pic>
        <p:nvPicPr>
          <p:cNvPr id="132" name="Google Shape;132;p11"/>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33" name="Google Shape;133;p11"/>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Ծնողի լայնությունը նվազեցնել 500-ից 340px։ Հաշվել՝ քանի տարր է տեղավորվում տողում։</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38" name="Shape 138"/>
        <p:cNvGrpSpPr/>
        <p:nvPr/>
      </p:nvGrpSpPr>
      <p:grpSpPr>
        <a:xfrm>
          <a:off x="0" y="0"/>
          <a:ext cx="0" cy="0"/>
          <a:chOff x="0" y="0"/>
          <a:chExt cx="0" cy="0"/>
        </a:xfrm>
      </p:grpSpPr>
      <p:sp>
        <p:nvSpPr>
          <p:cNvPr id="139" name="Google Shape;139;p12"/>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Flex տարրի աճ և նեղացում</a:t>
            </a:r>
            <a:endParaRPr/>
          </a:p>
        </p:txBody>
      </p:sp>
      <p:sp>
        <p:nvSpPr>
          <p:cNvPr id="140" name="Google Shape;140;p12"/>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flex-ը միավորում է grow shrink basis արժեքները։</a:t>
            </a:r>
            <a:endParaRPr/>
          </a:p>
        </p:txBody>
      </p:sp>
      <p:sp>
        <p:nvSpPr>
          <p:cNvPr id="141" name="Google Shape;141;p12"/>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.menu { flex: 0 0 140px;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.content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flex: 1 1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min-width: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.note { flex: 2 1 0; }</a:t>
            </a:r>
            <a:endParaRPr/>
          </a:p>
        </p:txBody>
      </p:sp>
      <p:pic>
        <p:nvPicPr>
          <p:cNvPr id="142" name="Google Shape;142;p12"/>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43" name="Google Shape;143;p12"/>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Փոխել երկու աճող տարրերի հարաբերությունը 1:2-ից 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48" name="Shape 148"/>
        <p:cNvGrpSpPr/>
        <p:nvPr/>
      </p:nvGrpSpPr>
      <p:grpSpPr>
        <a:xfrm>
          <a:off x="0" y="0"/>
          <a:ext cx="0" cy="0"/>
          <a:chOff x="0" y="0"/>
          <a:chExt cx="0" cy="0"/>
        </a:xfrm>
      </p:grpSpPr>
      <p:sp>
        <p:nvSpPr>
          <p:cNvPr id="149" name="Google Shape;149;p13"/>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Նավիգացիա Flexbox-ով</a:t>
            </a:r>
            <a:endParaRPr/>
          </a:p>
        </p:txBody>
      </p:sp>
      <p:sp>
        <p:nvSpPr>
          <p:cNvPr id="150" name="Google Shape;150;p13"/>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Կայքի անունն ու հղումները երկու flex խմբեր են։</a:t>
            </a:r>
            <a:endParaRPr/>
          </a:p>
        </p:txBody>
      </p:sp>
      <p:sp>
        <p:nvSpPr>
          <p:cNvPr id="151" name="Google Shape;151;p13"/>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.nav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 flex-wrap: wrap;</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align-items: center;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justify-content: space-between;</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.links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 flex-wrap: wrap;</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16px; list-style: none;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margin: 0; padding: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152" name="Google Shape;152;p13"/>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53" name="Google Shape;153;p13"/>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Ավելացնել երկար անուն ունեցող հղում և ստուգել նավիգացիայի տողադարձը։</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58" name="Shape 158"/>
        <p:cNvGrpSpPr/>
        <p:nvPr/>
      </p:nvGrpSpPr>
      <p:grpSpPr>
        <a:xfrm>
          <a:off x="0" y="0"/>
          <a:ext cx="0" cy="0"/>
          <a:chOff x="0" y="0"/>
          <a:chExt cx="0" cy="0"/>
        </a:xfrm>
      </p:grpSpPr>
      <p:sp>
        <p:nvSpPr>
          <p:cNvPr id="159" name="Google Shape;159;p14"/>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Grid տողեր սյուներ և գծեր</a:t>
            </a:r>
            <a:endParaRPr/>
          </a:p>
        </p:txBody>
      </p:sp>
      <p:sp>
        <p:nvSpPr>
          <p:cNvPr id="160" name="Google Shape;160;p14"/>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Երեք սյունակն ունի չորս սահմանային գիծ։</a:t>
            </a:r>
            <a:endParaRPr/>
          </a:p>
        </p:txBody>
      </p:sp>
      <p:sp>
        <p:nvSpPr>
          <p:cNvPr id="161" name="Google Shape;161;p14"/>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.grid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grid;</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 1fr 1fr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grid-template-rows: 80px 100px;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162" name="Google Shape;162;p14"/>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63" name="Google Shape;163;p14"/>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Ավելացնել յոթերորդ տարրը և grid-auto-rows: 90px հատկությունը։</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68" name="Shape 168"/>
        <p:cNvGrpSpPr/>
        <p:nvPr/>
      </p:nvGrpSpPr>
      <p:grpSpPr>
        <a:xfrm>
          <a:off x="0" y="0"/>
          <a:ext cx="0" cy="0"/>
          <a:chOff x="0" y="0"/>
          <a:chExt cx="0" cy="0"/>
        </a:xfrm>
      </p:grpSpPr>
      <p:sp>
        <p:nvSpPr>
          <p:cNvPr id="169" name="Google Shape;169;p15"/>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repeat և minmax</a:t>
            </a:r>
            <a:endParaRPr/>
          </a:p>
        </p:txBody>
      </p:sp>
      <p:sp>
        <p:nvSpPr>
          <p:cNvPr id="170" name="Google Shape;170;p15"/>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Սյունակի նվազագույն և առավելագույն չափերը տարբեր դեր ունեն։</a:t>
            </a:r>
            <a:endParaRPr/>
          </a:p>
        </p:txBody>
      </p:sp>
      <p:sp>
        <p:nvSpPr>
          <p:cNvPr id="171" name="Google Shape;171;p15"/>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.grid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grid;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repeat(3, minmax(0,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3 հավասար ճկուն սյունակ */</a:t>
            </a:r>
            <a:endParaRPr/>
          </a:p>
        </p:txBody>
      </p:sp>
      <p:pic>
        <p:nvPicPr>
          <p:cNvPr id="172" name="Google Shape;172;p15"/>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73" name="Google Shape;173;p15"/>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Համեմատել minmax(0, 1fr) և minmax(220px, 1fr) նեղ ծնողի մեջ։</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78" name="Shape 178"/>
        <p:cNvGrpSpPr/>
        <p:nvPr/>
      </p:nvGrpSpPr>
      <p:grpSpPr>
        <a:xfrm>
          <a:off x="0" y="0"/>
          <a:ext cx="0" cy="0"/>
          <a:chOff x="0" y="0"/>
          <a:chExt cx="0" cy="0"/>
        </a:xfrm>
      </p:grpSpPr>
      <p:sp>
        <p:nvSpPr>
          <p:cNvPr id="179" name="Google Shape;179;p16"/>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auto-fit և auto-fill</a:t>
            </a:r>
            <a:endParaRPr/>
          </a:p>
        </p:txBody>
      </p:sp>
      <p:sp>
        <p:nvSpPr>
          <p:cNvPr id="180" name="Google Shape;180;p16"/>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Տարբերությունը տեսանելի է դատարկ սյուների դեպքում։</a:t>
            </a:r>
            <a:endParaRPr/>
          </a:p>
        </p:txBody>
      </p:sp>
      <p:sp>
        <p:nvSpPr>
          <p:cNvPr id="181" name="Google Shape;181;p16"/>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.grid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grid;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repeat(auto-fit,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minmax(140px,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փորձել նաև auto-fill */</a:t>
            </a:r>
            <a:endParaRPr/>
          </a:p>
        </p:txBody>
      </p:sp>
      <p:pic>
        <p:nvPicPr>
          <p:cNvPr id="182" name="Google Shape;182;p16"/>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83" name="Google Shape;183;p16"/>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Երկու տարրի փոխարեն տեղադրել երեքը և նորից համեմատել։</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88" name="Shape 188"/>
        <p:cNvGrpSpPr/>
        <p:nvPr/>
      </p:nvGrpSpPr>
      <p:grpSpPr>
        <a:xfrm>
          <a:off x="0" y="0"/>
          <a:ext cx="0" cy="0"/>
          <a:chOff x="0" y="0"/>
          <a:chExt cx="0" cy="0"/>
        </a:xfrm>
      </p:grpSpPr>
      <p:sp>
        <p:nvSpPr>
          <p:cNvPr id="189" name="Google Shape;189;p17"/>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Տարրի տեղադրում և span</a:t>
            </a:r>
            <a:endParaRPr/>
          </a:p>
        </p:txBody>
      </p:sp>
      <p:sp>
        <p:nvSpPr>
          <p:cNvPr id="190" name="Google Shape;190;p17"/>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grid-column-ը հղվում է գծերի համարներին։</a:t>
            </a:r>
            <a:endParaRPr/>
          </a:p>
        </p:txBody>
      </p:sp>
      <p:sp>
        <p:nvSpPr>
          <p:cNvPr id="191" name="Google Shape;191;p17"/>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.featured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grid-column: 1 / 3;</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նույն գաղափարը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grid-column: span 2;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.grid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grid-auto-rows: minmax(80px, auto);</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192" name="Google Shape;192;p17"/>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193" name="Google Shape;193;p17"/>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Featured քարտը դարձնել ամբողջ լայնությամբ՝ grid-column: 1 / -1։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198" name="Shape 198"/>
        <p:cNvGrpSpPr/>
        <p:nvPr/>
      </p:nvGrpSpPr>
      <p:grpSpPr>
        <a:xfrm>
          <a:off x="0" y="0"/>
          <a:ext cx="0" cy="0"/>
          <a:chOff x="0" y="0"/>
          <a:chExt cx="0" cy="0"/>
        </a:xfrm>
      </p:grpSpPr>
      <p:sp>
        <p:nvSpPr>
          <p:cNvPr id="199" name="Google Shape;199;p18"/>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Grid և Flexbox մեկ էջում</a:t>
            </a:r>
            <a:endParaRPr/>
          </a:p>
        </p:txBody>
      </p:sp>
      <p:sp>
        <p:nvSpPr>
          <p:cNvPr id="200" name="Google Shape;200;p18"/>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Grid-ը դասավորում է քարտերը, Flexbox-ը՝ քարտի ներսը։</a:t>
            </a:r>
            <a:endParaRPr/>
          </a:p>
        </p:txBody>
      </p:sp>
      <p:sp>
        <p:nvSpPr>
          <p:cNvPr id="201" name="Google Shape;201;p18"/>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.cards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grid;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repeat(2, minmax(0,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flex-direction: column;</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 { margin-top: auto; }</a:t>
            </a:r>
            <a:endParaRPr/>
          </a:p>
        </p:txBody>
      </p:sp>
      <p:pic>
        <p:nvPicPr>
          <p:cNvPr id="202" name="Google Shape;202;p18"/>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03" name="Google Shape;203;p18"/>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Մեկ նկարագրությունը երկարացնել և համեմատել հղումների դիրքը margin-top: auto-ով ու առանց դրա։</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08" name="Shape 208"/>
        <p:cNvGrpSpPr/>
        <p:nvPr/>
      </p:nvGrpSpPr>
      <p:grpSpPr>
        <a:xfrm>
          <a:off x="0" y="0"/>
          <a:ext cx="0" cy="0"/>
          <a:chOff x="0" y="0"/>
          <a:chExt cx="0" cy="0"/>
        </a:xfrm>
      </p:grpSpPr>
      <p:sp>
        <p:nvSpPr>
          <p:cNvPr id="209" name="Google Shape;209;p19"/>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Mobile First և viewport</a:t>
            </a:r>
            <a:endParaRPr/>
          </a:p>
        </p:txBody>
      </p:sp>
      <p:sp>
        <p:nvSpPr>
          <p:cNvPr id="210" name="Google Shape;210;p19"/>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Հիմնական ոճերը սկզբում նախատեսում ենք նեղ էկրանին։</a:t>
            </a:r>
            <a:endParaRPr/>
          </a:p>
        </p:txBody>
      </p:sp>
      <p:sp>
        <p:nvSpPr>
          <p:cNvPr id="211" name="Google Shape;211;p19"/>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&lt;meta name="viewport"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content="width=device-width,</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initial-scale=1"&gt;</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grid; gap: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212" name="Google Shape;212;p19"/>
          <p:cNvPicPr preferRelativeResize="0"/>
          <p:nvPr/>
        </p:nvPicPr>
        <p:blipFill rotWithShape="1">
          <a:blip r:embed="rId3">
            <a:alphaModFix/>
          </a:blip>
          <a:srcRect b="0" l="0" r="0" t="0"/>
          <a:stretch/>
        </p:blipFill>
        <p:spPr>
          <a:xfrm>
            <a:off x="9938696" y="2381250"/>
            <a:ext cx="1934859" cy="4572000"/>
          </a:xfrm>
          <a:prstGeom prst="rect">
            <a:avLst/>
          </a:prstGeom>
          <a:noFill/>
          <a:ln>
            <a:noFill/>
          </a:ln>
        </p:spPr>
      </p:pic>
      <p:sp>
        <p:nvSpPr>
          <p:cNvPr id="213" name="Google Shape;213;p19"/>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Նախ կառուցել ընթեռնելի մեկ սյունակ 360px-ում, հետո միայն ավելացնել լայն էկրանի կանոնները։</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18" name="Shape 218"/>
        <p:cNvGrpSpPr/>
        <p:nvPr/>
      </p:nvGrpSpPr>
      <p:grpSpPr>
        <a:xfrm>
          <a:off x="0" y="0"/>
          <a:ext cx="0" cy="0"/>
          <a:chOff x="0" y="0"/>
          <a:chExt cx="0" cy="0"/>
        </a:xfrm>
      </p:grpSpPr>
      <p:sp>
        <p:nvSpPr>
          <p:cNvPr id="219" name="Google Shape;219;p20"/>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Media Queries և կոտրման կետեր</a:t>
            </a:r>
            <a:endParaRPr/>
          </a:p>
        </p:txBody>
      </p:sp>
      <p:sp>
        <p:nvSpPr>
          <p:cNvPr id="220" name="Google Shape;220;p20"/>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min-width կանոնը գործում է նշված լայնությունից սկսած։</a:t>
            </a:r>
            <a:endParaRPr/>
          </a:p>
        </p:txBody>
      </p:sp>
      <p:sp>
        <p:nvSpPr>
          <p:cNvPr id="221" name="Google Shape;221;p20"/>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.cards { grid-template-columns: 1fr;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@media (min-width: 640px)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.cards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 repeat(2,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@media (min-width: 1000px)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.cards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grid-template-columns: repeat(3, 1fr);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sp>
        <p:nvSpPr>
          <p:cNvPr id="222" name="Google Shape;222;p20"/>
          <p:cNvSpPr/>
          <p:nvPr/>
        </p:nvSpPr>
        <p:spPr>
          <a:xfrm>
            <a:off x="8096250" y="2381250"/>
            <a:ext cx="20955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C8D5E8"/>
                </a:solidFill>
                <a:latin typeface="Verdana"/>
                <a:ea typeface="Verdana"/>
                <a:cs typeface="Verdana"/>
                <a:sym typeface="Verdana"/>
              </a:rPr>
              <a:t>360px</a:t>
            </a:r>
            <a:endParaRPr/>
          </a:p>
        </p:txBody>
      </p:sp>
      <p:pic>
        <p:nvPicPr>
          <p:cNvPr id="223" name="Google Shape;223;p20"/>
          <p:cNvPicPr preferRelativeResize="0"/>
          <p:nvPr/>
        </p:nvPicPr>
        <p:blipFill rotWithShape="1">
          <a:blip r:embed="rId3">
            <a:alphaModFix/>
          </a:blip>
          <a:srcRect b="0" l="0" r="0" t="0"/>
          <a:stretch/>
        </p:blipFill>
        <p:spPr>
          <a:xfrm>
            <a:off x="8357964" y="2905125"/>
            <a:ext cx="1572073" cy="3714750"/>
          </a:xfrm>
          <a:prstGeom prst="rect">
            <a:avLst/>
          </a:prstGeom>
          <a:noFill/>
          <a:ln>
            <a:noFill/>
          </a:ln>
        </p:spPr>
      </p:pic>
      <p:sp>
        <p:nvSpPr>
          <p:cNvPr id="224" name="Google Shape;224;p20"/>
          <p:cNvSpPr/>
          <p:nvPr/>
        </p:nvSpPr>
        <p:spPr>
          <a:xfrm>
            <a:off x="10334625" y="2381250"/>
            <a:ext cx="20955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C8D5E8"/>
                </a:solidFill>
                <a:latin typeface="Verdana"/>
                <a:ea typeface="Verdana"/>
                <a:cs typeface="Verdana"/>
                <a:sym typeface="Verdana"/>
              </a:rPr>
              <a:t>768px</a:t>
            </a:r>
            <a:endParaRPr/>
          </a:p>
        </p:txBody>
      </p:sp>
      <p:pic>
        <p:nvPicPr>
          <p:cNvPr id="225" name="Google Shape;225;p20"/>
          <p:cNvPicPr preferRelativeResize="0"/>
          <p:nvPr/>
        </p:nvPicPr>
        <p:blipFill rotWithShape="1">
          <a:blip r:embed="rId4">
            <a:alphaModFix/>
          </a:blip>
          <a:srcRect b="0" l="0" r="0" t="0"/>
          <a:stretch/>
        </p:blipFill>
        <p:spPr>
          <a:xfrm>
            <a:off x="10334625" y="3601971"/>
            <a:ext cx="2095500" cy="2321057"/>
          </a:xfrm>
          <a:prstGeom prst="rect">
            <a:avLst/>
          </a:prstGeom>
          <a:noFill/>
          <a:ln>
            <a:noFill/>
          </a:ln>
        </p:spPr>
      </p:pic>
      <p:sp>
        <p:nvSpPr>
          <p:cNvPr id="226" name="Google Shape;226;p20"/>
          <p:cNvSpPr/>
          <p:nvPr/>
        </p:nvSpPr>
        <p:spPr>
          <a:xfrm>
            <a:off x="12573000" y="2381250"/>
            <a:ext cx="20955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C8D5E8"/>
                </a:solidFill>
                <a:latin typeface="Verdana"/>
                <a:ea typeface="Verdana"/>
                <a:cs typeface="Verdana"/>
                <a:sym typeface="Verdana"/>
              </a:rPr>
              <a:t>1280px</a:t>
            </a:r>
            <a:endParaRPr/>
          </a:p>
        </p:txBody>
      </p:sp>
      <p:pic>
        <p:nvPicPr>
          <p:cNvPr id="227" name="Google Shape;227;p20"/>
          <p:cNvPicPr preferRelativeResize="0"/>
          <p:nvPr/>
        </p:nvPicPr>
        <p:blipFill rotWithShape="1">
          <a:blip r:embed="rId5">
            <a:alphaModFix/>
          </a:blip>
          <a:srcRect b="0" l="0" r="0" t="0"/>
          <a:stretch/>
        </p:blipFill>
        <p:spPr>
          <a:xfrm>
            <a:off x="12573000" y="4066183"/>
            <a:ext cx="2095500" cy="1392634"/>
          </a:xfrm>
          <a:prstGeom prst="rect">
            <a:avLst/>
          </a:prstGeom>
          <a:noFill/>
          <a:ln>
            <a:noFill/>
          </a:ln>
        </p:spPr>
      </p:pic>
      <p:sp>
        <p:nvSpPr>
          <p:cNvPr id="228" name="Google Shape;228;p20"/>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Ստուգել 639/640 և 999/1000px սահմանները։ Ամեն դեպքում նշել սպասվող սյուների քանակը։</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33" name="Shape 233"/>
        <p:cNvGrpSpPr/>
        <p:nvPr/>
      </p:nvGrpSpPr>
      <p:grpSpPr>
        <a:xfrm>
          <a:off x="0" y="0"/>
          <a:ext cx="0" cy="0"/>
          <a:chOff x="0" y="0"/>
          <a:chExt cx="0" cy="0"/>
        </a:xfrm>
      </p:grpSpPr>
      <p:sp>
        <p:nvSpPr>
          <p:cNvPr id="234" name="Google Shape;234;p21"/>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Ճկուն չափեր և պատկերներ</a:t>
            </a:r>
            <a:endParaRPr/>
          </a:p>
        </p:txBody>
      </p:sp>
      <p:sp>
        <p:nvSpPr>
          <p:cNvPr id="235" name="Google Shape;235;p21"/>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max-width-ը կանխում է պատկերի չափային արտահոսքը։</a:t>
            </a:r>
            <a:endParaRPr/>
          </a:p>
        </p:txBody>
      </p:sp>
      <p:sp>
        <p:nvSpPr>
          <p:cNvPr id="236" name="Google Shape;236;p21"/>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.container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width: min(1100px, 100% - 32px);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margin-inline: auto;</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img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max-width: 100%;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height: auto;</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block;</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237" name="Google Shape;237;p21"/>
          <p:cNvPicPr preferRelativeResize="0"/>
          <p:nvPr/>
        </p:nvPicPr>
        <p:blipFill rotWithShape="1">
          <a:blip r:embed="rId3">
            <a:alphaModFix/>
          </a:blip>
          <a:srcRect b="0" l="0" r="0" t="0"/>
          <a:stretch/>
        </p:blipFill>
        <p:spPr>
          <a:xfrm>
            <a:off x="8096250" y="2451398"/>
            <a:ext cx="6381750" cy="4241205"/>
          </a:xfrm>
          <a:prstGeom prst="rect">
            <a:avLst/>
          </a:prstGeom>
          <a:noFill/>
          <a:ln>
            <a:noFill/>
          </a:ln>
        </p:spPr>
      </p:pic>
      <p:sp>
        <p:nvSpPr>
          <p:cNvPr id="238" name="Google Shape;238;p21"/>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Համեմատել height: auto և ֆիքսված բարձրություն + object-fit: cover տարբերակները։</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43" name="Shape 243"/>
        <p:cNvGrpSpPr/>
        <p:nvPr/>
      </p:nvGrpSpPr>
      <p:grpSpPr>
        <a:xfrm>
          <a:off x="0" y="0"/>
          <a:ext cx="0" cy="0"/>
          <a:chOff x="0" y="0"/>
          <a:chExt cx="0" cy="0"/>
        </a:xfrm>
      </p:grpSpPr>
      <p:sp>
        <p:nvSpPr>
          <p:cNvPr id="244" name="Google Shape;244;p22"/>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Responsive էջի ստուգում</a:t>
            </a:r>
            <a:endParaRPr/>
          </a:p>
        </p:txBody>
      </p:sp>
      <p:sp>
        <p:nvSpPr>
          <p:cNvPr id="245" name="Google Shape;245;p22"/>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Ստուգում ենք նաև շեմերի միջև գտնվող լայնությունները։</a:t>
            </a:r>
            <a:endParaRPr/>
          </a:p>
        </p:txBody>
      </p:sp>
      <p:sp>
        <p:nvSpPr>
          <p:cNvPr id="246" name="Google Shape;246;p22"/>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 Երկար բառ կամ URL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 min-width: 0;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p { overflow-wrap: anywhere; }</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Լայն աղյուսակ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.table-wrap { overflow-x: auto; }</a:t>
            </a:r>
            <a:endParaRPr/>
          </a:p>
        </p:txBody>
      </p:sp>
      <p:pic>
        <p:nvPicPr>
          <p:cNvPr id="247" name="Google Shape;247;p22"/>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48" name="Google Shape;248;p22"/>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Ավելացնել 80 նիշից կազմված չընդհատվող բառ և գտնել արտահոսքի աղբյուրը։</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53" name="Shape 253"/>
        <p:cNvGrpSpPr/>
        <p:nvPr/>
      </p:nvGrpSpPr>
      <p:grpSpPr>
        <a:xfrm>
          <a:off x="0" y="0"/>
          <a:ext cx="0" cy="0"/>
          <a:chOff x="0" y="0"/>
          <a:chExt cx="0" cy="0"/>
        </a:xfrm>
      </p:grpSpPr>
      <p:sp>
        <p:nvSpPr>
          <p:cNvPr id="254" name="Google Shape;254;p23"/>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CSS transition</a:t>
            </a:r>
            <a:endParaRPr/>
          </a:p>
        </p:txBody>
      </p:sp>
      <p:sp>
        <p:nvSpPr>
          <p:cNvPr id="255" name="Google Shape;255;p23"/>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Transition-ը մեղմացնում է արժեքի փոփոխությունը։</a:t>
            </a:r>
            <a:endParaRPr/>
          </a:p>
        </p:txBody>
      </p:sp>
      <p:sp>
        <p:nvSpPr>
          <p:cNvPr id="256" name="Google Shape;256;p23"/>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transition: background-color .25s ease,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.25s ease;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.button:hover,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.button:focus-visible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background-color: #f97316;</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translateY(-4px);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257" name="Google Shape;257;p23"/>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58" name="Google Shape;258;p23"/>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Տևողությունը դարձնել 2s և համեմատել ease ու linear ընթացքը։</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63" name="Shape 263"/>
        <p:cNvGrpSpPr/>
        <p:nvPr/>
      </p:nvGrpSpPr>
      <p:grpSpPr>
        <a:xfrm>
          <a:off x="0" y="0"/>
          <a:ext cx="0" cy="0"/>
          <a:chOff x="0" y="0"/>
          <a:chExt cx="0" cy="0"/>
        </a:xfrm>
      </p:grpSpPr>
      <p:sp>
        <p:nvSpPr>
          <p:cNvPr id="264" name="Google Shape;264;p24"/>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Transform և տեսանելի դիրք</a:t>
            </a:r>
            <a:endParaRPr/>
          </a:p>
        </p:txBody>
      </p:sp>
      <p:sp>
        <p:nvSpPr>
          <p:cNvPr id="265" name="Google Shape;265;p24"/>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Transform-ը չի վերադասավորում հարևանների սովորական տեղերը։</a:t>
            </a:r>
            <a:endParaRPr/>
          </a:p>
        </p:txBody>
      </p:sp>
      <p:sp>
        <p:nvSpPr>
          <p:cNvPr id="266" name="Google Shape;266;p24"/>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.a { transform: translateX(40px);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 { transform: rotate(12deg);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 { transform: scale(1.15);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.d { transform: skewX(-12deg); }</a:t>
            </a:r>
            <a:endParaRPr/>
          </a:p>
        </p:txBody>
      </p:sp>
      <p:pic>
        <p:nvPicPr>
          <p:cNvPr id="267" name="Google Shape;267;p24"/>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68" name="Google Shape;268;p24"/>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Մեծացնել scale-ը մինչև 1.5 և դիտել հարևանների դիրքը։</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73" name="Shape 273"/>
        <p:cNvGrpSpPr/>
        <p:nvPr/>
      </p:nvGrpSpPr>
      <p:grpSpPr>
        <a:xfrm>
          <a:off x="0" y="0"/>
          <a:ext cx="0" cy="0"/>
          <a:chOff x="0" y="0"/>
          <a:chExt cx="0" cy="0"/>
        </a:xfrm>
      </p:grpSpPr>
      <p:sp>
        <p:nvSpPr>
          <p:cNvPr id="274" name="Google Shape;274;p25"/>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Transform հերթականություն և հենակետ</a:t>
            </a:r>
            <a:endParaRPr/>
          </a:p>
        </p:txBody>
      </p:sp>
      <p:sp>
        <p:nvSpPr>
          <p:cNvPr id="275" name="Google Shape;275;p25"/>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Նույն գործողությունների այլ հերթը կարող է այլ արդյունք տալ։</a:t>
            </a:r>
            <a:endParaRPr/>
          </a:p>
        </p:txBody>
      </p:sp>
      <p:sp>
        <p:nvSpPr>
          <p:cNvPr id="276" name="Google Shape;276;p25"/>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.a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translateX(100px) rotate(45deg);</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rotate(45deg) translateX(100px);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.hinge { transform-origin: left top; }</a:t>
            </a:r>
            <a:endParaRPr/>
          </a:p>
        </p:txBody>
      </p:sp>
      <p:pic>
        <p:nvPicPr>
          <p:cNvPr id="277" name="Google Shape;277;p25"/>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78" name="Google Shape;278;p25"/>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Փոխել transform-origin-ը center-ից left top և համեմատել պտույտը։</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83" name="Shape 283"/>
        <p:cNvGrpSpPr/>
        <p:nvPr/>
      </p:nvGrpSpPr>
      <p:grpSpPr>
        <a:xfrm>
          <a:off x="0" y="0"/>
          <a:ext cx="0" cy="0"/>
          <a:chOff x="0" y="0"/>
          <a:chExt cx="0" cy="0"/>
        </a:xfrm>
      </p:grpSpPr>
      <p:sp>
        <p:nvSpPr>
          <p:cNvPr id="284" name="Google Shape;284;p26"/>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Keyframes անիմացիա</a:t>
            </a:r>
            <a:endParaRPr/>
          </a:p>
        </p:txBody>
      </p:sp>
      <p:sp>
        <p:nvSpPr>
          <p:cNvPr id="285" name="Google Shape;285;p26"/>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Keyframes-ը սահմանում է շարժման փուլերը։</a:t>
            </a:r>
            <a:endParaRPr/>
          </a:p>
        </p:txBody>
      </p:sp>
      <p:sp>
        <p:nvSpPr>
          <p:cNvPr id="286" name="Google Shape;286;p26"/>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@keyframes enter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from { opacity: 0;</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translateY(20px);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to { opacity: 1;</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translateY(0);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 enter .6s ease both;</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pic>
        <p:nvPicPr>
          <p:cNvPr id="287" name="Google Shape;287;p26"/>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288" name="Google Shape;288;p26"/>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Ավելացնել 50% փուլ և animation-duration-ը դարձնել 2s։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293" name="Shape 293"/>
        <p:cNvGrpSpPr/>
        <p:nvPr/>
      </p:nvGrpSpPr>
      <p:grpSpPr>
        <a:xfrm>
          <a:off x="0" y="0"/>
          <a:ext cx="0" cy="0"/>
          <a:chOff x="0" y="0"/>
          <a:chExt cx="0" cy="0"/>
        </a:xfrm>
      </p:grpSpPr>
      <p:sp>
        <p:nvSpPr>
          <p:cNvPr id="294" name="Google Shape;294;p27"/>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Animation պարամետրեր</a:t>
            </a:r>
            <a:endParaRPr/>
          </a:p>
        </p:txBody>
      </p:sp>
      <p:sp>
        <p:nvSpPr>
          <p:cNvPr id="295" name="Google Shape;295;p27"/>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Ուշացումը կրկնությունն ու ուղղությունը անկախ կարգավորումներ են։</a:t>
            </a:r>
            <a:endParaRPr/>
          </a:p>
        </p:txBody>
      </p:sp>
      <p:sp>
        <p:nvSpPr>
          <p:cNvPr id="296" name="Google Shape;296;p27"/>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.dot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animation-name: pulse;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animation-duration: 1.4s;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animation-delay: .2s;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animation-iteration-count: 3;</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animation-direction: alternate;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animation-fill-mode: both;</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animation-timing-function: ease-in-out;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.dot:hover { animation-play-state: paused; }</a:t>
            </a:r>
            <a:endParaRPr/>
          </a:p>
        </p:txBody>
      </p:sp>
      <p:sp>
        <p:nvSpPr>
          <p:cNvPr id="297" name="Google Shape;297;p27"/>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1-ին շրջան՝ 1 → 1.15</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2-րդ շրջան՝ 1.15 → 1</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3-րդ շրջան՝ 1 → 1.15</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:hover վիճակ՝ դադար</a:t>
            </a:r>
            <a:endParaRPr/>
          </a:p>
        </p:txBody>
      </p:sp>
      <p:sp>
        <p:nvSpPr>
          <p:cNvPr id="298" name="Google Shape;298;p27"/>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Սահմանել pulse-ի փուլերը, կրկնությունները դարձնել 2 և կանխատեսել վերջնական վիճակը։</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03" name="Shape 303"/>
        <p:cNvGrpSpPr/>
        <p:nvPr/>
      </p:nvGrpSpPr>
      <p:grpSpPr>
        <a:xfrm>
          <a:off x="0" y="0"/>
          <a:ext cx="0" cy="0"/>
          <a:chOff x="0" y="0"/>
          <a:chExt cx="0" cy="0"/>
        </a:xfrm>
      </p:grpSpPr>
      <p:sp>
        <p:nvSpPr>
          <p:cNvPr id="304" name="Google Shape;304;p28"/>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Շարժման նվազեցման նախընտրություն</a:t>
            </a:r>
            <a:endParaRPr/>
          </a:p>
        </p:txBody>
      </p:sp>
      <p:sp>
        <p:nvSpPr>
          <p:cNvPr id="305" name="Google Shape;305;p28"/>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Անիմացիան չպետք է անհրաժեշտ լինի բովանդակությունը հասկանալու համար։</a:t>
            </a:r>
            <a:endParaRPr/>
          </a:p>
        </p:txBody>
      </p:sp>
      <p:sp>
        <p:nvSpPr>
          <p:cNvPr id="306" name="Google Shape;306;p28"/>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@media (prefers-reduced-motion: reduce)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.card { animation: none;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.button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transition: none;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.button:hover,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.button:focus-visible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transform: none;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sp>
        <p:nvSpPr>
          <p:cNvPr id="307" name="Google Shape;307;p28"/>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Սովորական ռեժիմ</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Մեղմ մուտք և տեղաշարժ</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Reduced motion</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Անմիջապես տեսանելի քարտ</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Առանց կոճակի տեղաշարժի</a:t>
            </a:r>
            <a:endParaRPr/>
          </a:p>
        </p:txBody>
      </p:sp>
      <p:sp>
        <p:nvSpPr>
          <p:cNvPr id="308" name="Google Shape;308;p28"/>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Միացնել reduced motion նմանակումը և ստեղնաշարով բացել կոճակի focus վիճակը։</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13" name="Shape 313"/>
        <p:cNvGrpSpPr/>
        <p:nvPr/>
      </p:nvGrpSpPr>
      <p:grpSpPr>
        <a:xfrm>
          <a:off x="0" y="0"/>
          <a:ext cx="0" cy="0"/>
          <a:chOff x="0" y="0"/>
          <a:chExt cx="0" cy="0"/>
        </a:xfrm>
      </p:grpSpPr>
      <p:sp>
        <p:nvSpPr>
          <p:cNvPr id="314" name="Google Shape;314;p29"/>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CSS ֆիլտրներ</a:t>
            </a:r>
            <a:endParaRPr/>
          </a:p>
        </p:txBody>
      </p:sp>
      <p:sp>
        <p:nvSpPr>
          <p:cNvPr id="315" name="Google Shape;315;p29"/>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Filter-ը փոխում է տարրի տեսանելի արտապատկերումը։</a:t>
            </a:r>
            <a:endParaRPr/>
          </a:p>
        </p:txBody>
      </p:sp>
      <p:sp>
        <p:nvSpPr>
          <p:cNvPr id="316" name="Google Shape;316;p29"/>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.photo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filter: grayscale(1);</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transition: filter .3s ease;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.photo:hover { filter: grayscale(0); }</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blur(3px), brightness(1.2)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contrast(1.3), sepia(1) */</a:t>
            </a:r>
            <a:endParaRPr/>
          </a:p>
        </p:txBody>
      </p:sp>
      <p:pic>
        <p:nvPicPr>
          <p:cNvPr id="317" name="Google Shape;317;p29"/>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318" name="Google Shape;318;p29"/>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Նույն պատկերին հերթով կիրառել grayscale, blur և brightness ու համեմատել։</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23" name="Shape 323"/>
        <p:cNvGrpSpPr/>
        <p:nvPr/>
      </p:nvGrpSpPr>
      <p:grpSpPr>
        <a:xfrm>
          <a:off x="0" y="0"/>
          <a:ext cx="0" cy="0"/>
          <a:chOff x="0" y="0"/>
          <a:chExt cx="0" cy="0"/>
        </a:xfrm>
      </p:grpSpPr>
      <p:sp>
        <p:nvSpPr>
          <p:cNvPr id="324" name="Google Shape;324;p30"/>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Բազմասյուն տեքստ</a:t>
            </a:r>
            <a:endParaRPr/>
          </a:p>
        </p:txBody>
      </p:sp>
      <p:sp>
        <p:nvSpPr>
          <p:cNvPr id="325" name="Google Shape;325;p30"/>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Բովանդակությունը հոսում է մեկ սյունակից մյուսը։</a:t>
            </a:r>
            <a:endParaRPr/>
          </a:p>
        </p:txBody>
      </p:sp>
      <p:sp>
        <p:nvSpPr>
          <p:cNvPr id="326" name="Google Shape;326;p30"/>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.article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column-count: 2;</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column-gap: 28px;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column-rule: 1px solid #94a3b8;</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.article h2 { column-span: all;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.article figure { break-inside: avoid; }</a:t>
            </a:r>
            <a:endParaRPr/>
          </a:p>
        </p:txBody>
      </p:sp>
      <p:pic>
        <p:nvPicPr>
          <p:cNvPr id="327" name="Google Shape;327;p30"/>
          <p:cNvPicPr preferRelativeResize="0"/>
          <p:nvPr/>
        </p:nvPicPr>
        <p:blipFill rotWithShape="1">
          <a:blip r:embed="rId3">
            <a:alphaModFix/>
          </a:blip>
          <a:srcRect b="0" l="0" r="0" t="0"/>
          <a:stretch/>
        </p:blipFill>
        <p:spPr>
          <a:xfrm>
            <a:off x="8096250" y="2444750"/>
            <a:ext cx="6381750" cy="4254500"/>
          </a:xfrm>
          <a:prstGeom prst="rect">
            <a:avLst/>
          </a:prstGeom>
          <a:noFill/>
          <a:ln>
            <a:noFill/>
          </a:ln>
        </p:spPr>
      </p:pic>
      <p:sp>
        <p:nvSpPr>
          <p:cNvPr id="328" name="Google Shape;328;p30"/>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Տեքստը սկզբում բաժանել երկու սյան, ապա նեղ էկրանին դարձնել մեկ սյունակ։</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33" name="Shape 333"/>
        <p:cNvGrpSpPr/>
        <p:nvPr/>
      </p:nvGrpSpPr>
      <p:grpSpPr>
        <a:xfrm>
          <a:off x="0" y="0"/>
          <a:ext cx="0" cy="0"/>
          <a:chOff x="0" y="0"/>
          <a:chExt cx="0" cy="0"/>
        </a:xfrm>
      </p:grpSpPr>
      <p:sp>
        <p:nvSpPr>
          <p:cNvPr id="334" name="Google Shape;334;p31"/>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Sass և SCSS շարահյուսություն</a:t>
            </a:r>
            <a:endParaRPr/>
          </a:p>
        </p:txBody>
      </p:sp>
      <p:sp>
        <p:nvSpPr>
          <p:cNvPr id="335" name="Google Shape;335;p31"/>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Sass-ը մշակում ենք CSS-ի, հետո միացնում HTML-ին։</a:t>
            </a:r>
            <a:endParaRPr/>
          </a:p>
        </p:txBody>
      </p:sp>
      <p:sp>
        <p:nvSpPr>
          <p:cNvPr id="336" name="Google Shape;336;p31"/>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 style.scss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$accent: #f97316;</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background: $accent;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style.sass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$accent: #f97316</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background: $accent</a:t>
            </a:r>
            <a:endParaRPr/>
          </a:p>
        </p:txBody>
      </p:sp>
      <p:sp>
        <p:nvSpPr>
          <p:cNvPr id="337" name="Google Shape;337;p31"/>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Ստացված CSS</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.button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background: #f97316;</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HTML-ին միացնում ենք style.css</a:t>
            </a:r>
            <a:endParaRPr/>
          </a:p>
        </p:txBody>
      </p:sp>
      <p:sp>
        <p:nvSpPr>
          <p:cNvPr id="338" name="Google Shape;338;p31"/>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Նույն կոճակի ոճը գրել .scss և .sass ձևաչափերով։</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43" name="Shape 343"/>
        <p:cNvGrpSpPr/>
        <p:nvPr/>
      </p:nvGrpSpPr>
      <p:grpSpPr>
        <a:xfrm>
          <a:off x="0" y="0"/>
          <a:ext cx="0" cy="0"/>
          <a:chOff x="0" y="0"/>
          <a:chExt cx="0" cy="0"/>
        </a:xfrm>
      </p:grpSpPr>
      <p:sp>
        <p:nvSpPr>
          <p:cNvPr id="344" name="Google Shape;344;p32"/>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Sass և CSS փոփոխականներ</a:t>
            </a:r>
            <a:endParaRPr/>
          </a:p>
        </p:txBody>
      </p:sp>
      <p:sp>
        <p:nvSpPr>
          <p:cNvPr id="345" name="Google Shape;345;p32"/>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Sass փոփոխականը լուծվում է մշակման փուլում։</a:t>
            </a:r>
            <a:endParaRPr/>
          </a:p>
        </p:txBody>
      </p:sp>
      <p:sp>
        <p:nvSpPr>
          <p:cNvPr id="346" name="Google Shape;346;p32"/>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$space: 16px;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:root { --accent: #f97316;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padding: $space;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color: var(--accent);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.dark { --accent: #fdba74; }</a:t>
            </a:r>
            <a:endParaRPr/>
          </a:p>
        </p:txBody>
      </p:sp>
      <p:sp>
        <p:nvSpPr>
          <p:cNvPr id="347" name="Google Shape;347;p32"/>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Ստացված CSS հատված</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.card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padding: 16px;</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color: var(--accent);</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--accent-ը մնում է CSS-ում</a:t>
            </a:r>
            <a:endParaRPr/>
          </a:p>
        </p:txBody>
      </p:sp>
      <p:sp>
        <p:nvSpPr>
          <p:cNvPr id="348" name="Google Shape;348;p32"/>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Փոփոխել միայն .dark-ի --accent-ը և ասել՝ արդյոք պետք է SCSS-ի մշակում։</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53" name="Shape 353"/>
        <p:cNvGrpSpPr/>
        <p:nvPr/>
      </p:nvGrpSpPr>
      <p:grpSpPr>
        <a:xfrm>
          <a:off x="0" y="0"/>
          <a:ext cx="0" cy="0"/>
          <a:chOff x="0" y="0"/>
          <a:chExt cx="0" cy="0"/>
        </a:xfrm>
      </p:grpSpPr>
      <p:sp>
        <p:nvSpPr>
          <p:cNvPr id="354" name="Google Shape;354;p33"/>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Nesting և ampersand</a:t>
            </a:r>
            <a:endParaRPr/>
          </a:p>
        </p:txBody>
      </p:sp>
      <p:sp>
        <p:nvSpPr>
          <p:cNvPr id="355" name="Google Shape;355;p33"/>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&amp;-ը ներկայացնում է ընթացիկ ծնող ընտրիչը։</a:t>
            </a:r>
            <a:endParaRPr/>
          </a:p>
        </p:txBody>
      </p:sp>
      <p:sp>
        <p:nvSpPr>
          <p:cNvPr id="356" name="Google Shape;356;p33"/>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.nav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color: navy;</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&amp;:hover { color: coral;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p:txBody>
      </p:sp>
      <p:sp>
        <p:nvSpPr>
          <p:cNvPr id="357" name="Google Shape;357;p33"/>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.nav a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color: navy;</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.nav a:hover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color: coral;</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&amp;.active → .card.active</a:t>
            </a:r>
            <a:endParaRPr/>
          </a:p>
        </p:txBody>
      </p:sp>
      <p:sp>
        <p:nvSpPr>
          <p:cNvPr id="358" name="Google Shape;358;p33"/>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Կանխատեսել .card { &amp;.active { ... } }-ի ստացված ընտրիչը։</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63" name="Shape 363"/>
        <p:cNvGrpSpPr/>
        <p:nvPr/>
      </p:nvGrpSpPr>
      <p:grpSpPr>
        <a:xfrm>
          <a:off x="0" y="0"/>
          <a:ext cx="0" cy="0"/>
          <a:chOff x="0" y="0"/>
          <a:chExt cx="0" cy="0"/>
        </a:xfrm>
      </p:grpSpPr>
      <p:sp>
        <p:nvSpPr>
          <p:cNvPr id="364" name="Google Shape;364;p34"/>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Mixin և կրկնվող կանոններ</a:t>
            </a:r>
            <a:endParaRPr/>
          </a:p>
        </p:txBody>
      </p:sp>
      <p:sp>
        <p:nvSpPr>
          <p:cNvPr id="365" name="Google Shape;365;p34"/>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Mixin-ը կանոնների խումբ է՝ հնարավոր պարամետրերով։</a:t>
            </a:r>
            <a:endParaRPr/>
          </a:p>
        </p:txBody>
      </p:sp>
      <p:sp>
        <p:nvSpPr>
          <p:cNvPr id="366" name="Google Shape;366;p34"/>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@mixin row($gap: 16px)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align-items: center;</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gap: $gap;</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.nav { @include row(24px);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.meta { @include row; }</a:t>
            </a:r>
            <a:endParaRPr/>
          </a:p>
        </p:txBody>
      </p:sp>
      <p:sp>
        <p:nvSpPr>
          <p:cNvPr id="367" name="Google Shape;367;p34"/>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.nav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display: flex;</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align-items: center;</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gap: 24px;</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.meta {</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display: flex;</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align-items: center;</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gap: 16px;</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a:t>
            </a:r>
            <a:endParaRPr/>
          </a:p>
        </p:txBody>
      </p:sp>
      <p:sp>
        <p:nvSpPr>
          <p:cNvPr id="368" name="Google Shape;368;p34"/>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Ստեղծել card-space($size: 20px) mixin և կիրառել երկու քարտի վրա։</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73" name="Shape 373"/>
        <p:cNvGrpSpPr/>
        <p:nvPr/>
      </p:nvGrpSpPr>
      <p:grpSpPr>
        <a:xfrm>
          <a:off x="0" y="0"/>
          <a:ext cx="0" cy="0"/>
          <a:chOff x="0" y="0"/>
          <a:chExt cx="0" cy="0"/>
        </a:xfrm>
      </p:grpSpPr>
      <p:sp>
        <p:nvSpPr>
          <p:cNvPr id="374" name="Google Shape;374;p35"/>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Մոդուլներ և SCSS մշակում</a:t>
            </a:r>
            <a:endParaRPr/>
          </a:p>
        </p:txBody>
      </p:sp>
      <p:sp>
        <p:nvSpPr>
          <p:cNvPr id="375" name="Google Shape;375;p35"/>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@use-ը ներմուծում է մոդուլի անունները namespace-ով։</a:t>
            </a:r>
            <a:endParaRPr/>
          </a:p>
        </p:txBody>
      </p:sp>
      <p:sp>
        <p:nvSpPr>
          <p:cNvPr id="376" name="Google Shape;376;p35"/>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 _tokens.scss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$accent: #f97316;</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style.scss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@use "tokens";</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.button { color: tokens.$accent; }</a:t>
            </a:r>
            <a:endParaRPr/>
          </a:p>
          <a:p>
            <a:pPr indent="0" lvl="0" marL="0" marR="0" rtl="0" algn="l">
              <a:spcBef>
                <a:spcPts val="0"/>
              </a:spcBef>
              <a:spcAft>
                <a:spcPts val="0"/>
              </a:spcAft>
              <a:buNone/>
            </a:pPr>
            <a:r>
              <a:t/>
            </a:r>
            <a:endParaRPr b="0" sz="1875">
              <a:solidFill>
                <a:srgbClr val="E2E8F0"/>
              </a:solidFill>
              <a:latin typeface="Verdana"/>
              <a:ea typeface="Verdana"/>
              <a:cs typeface="Verdana"/>
              <a:sym typeface="Verdana"/>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հրամանային տող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sass --watch style.scss style.css</a:t>
            </a:r>
            <a:endParaRPr/>
          </a:p>
        </p:txBody>
      </p:sp>
      <p:sp>
        <p:nvSpPr>
          <p:cNvPr id="377" name="Google Shape;377;p35"/>
          <p:cNvSpPr/>
          <p:nvPr/>
        </p:nvSpPr>
        <p:spPr>
          <a:xfrm>
            <a:off x="8334375" y="2524125"/>
            <a:ext cx="6000750" cy="447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F8FAFC"/>
                </a:solidFill>
                <a:latin typeface="Verdana"/>
                <a:ea typeface="Verdana"/>
                <a:cs typeface="Verdana"/>
                <a:sym typeface="Verdana"/>
              </a:rPr>
              <a:t>1. Փոփոխել style.scss</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2. Sass-ը ստեղծում է style.css</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3. Բրաուզերը կարդում է CSS-ը</a:t>
            </a:r>
            <a:endParaRPr/>
          </a:p>
          <a:p>
            <a:pPr indent="0" lvl="0" marL="0" marR="0" rtl="0" algn="l">
              <a:spcBef>
                <a:spcPts val="0"/>
              </a:spcBef>
              <a:spcAft>
                <a:spcPts val="0"/>
              </a:spcAft>
              <a:buNone/>
            </a:pPr>
            <a:r>
              <a:t/>
            </a:r>
            <a:endParaRPr b="0" sz="2100">
              <a:solidFill>
                <a:srgbClr val="F8FAFC"/>
              </a:solidFill>
              <a:latin typeface="Verdana"/>
              <a:ea typeface="Verdana"/>
              <a:cs typeface="Verdana"/>
              <a:sym typeface="Verdana"/>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&lt;link rel="stylesheet"</a:t>
            </a:r>
            <a:endParaRPr/>
          </a:p>
          <a:p>
            <a:pPr indent="0" lvl="0" marL="0" marR="0" rtl="0" algn="l">
              <a:spcBef>
                <a:spcPts val="0"/>
              </a:spcBef>
              <a:spcAft>
                <a:spcPts val="0"/>
              </a:spcAft>
              <a:buNone/>
            </a:pPr>
            <a:r>
              <a:rPr b="0" lang="en-US" sz="2100">
                <a:solidFill>
                  <a:srgbClr val="F8FAFC"/>
                </a:solidFill>
                <a:latin typeface="Verdana"/>
                <a:ea typeface="Verdana"/>
                <a:cs typeface="Verdana"/>
                <a:sym typeface="Verdana"/>
              </a:rPr>
              <a:t>      href="style.css"&gt;</a:t>
            </a:r>
            <a:endParaRPr/>
          </a:p>
        </p:txBody>
      </p:sp>
      <p:sp>
        <p:nvSpPr>
          <p:cNvPr id="378" name="Google Shape;378;p35"/>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Փոխել _tokens.scss-ի գույնը և ստուգել՝ style.css-ը արդյոք թարմանում է։</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83" name="Shape 383"/>
        <p:cNvGrpSpPr/>
        <p:nvPr/>
      </p:nvGrpSpPr>
      <p:grpSpPr>
        <a:xfrm>
          <a:off x="0" y="0"/>
          <a:ext cx="0" cy="0"/>
          <a:chOff x="0" y="0"/>
          <a:chExt cx="0" cy="0"/>
        </a:xfrm>
      </p:grpSpPr>
      <p:sp>
        <p:nvSpPr>
          <p:cNvPr id="384" name="Google Shape;384;p36"/>
          <p:cNvSpPr/>
          <p:nvPr/>
        </p:nvSpPr>
        <p:spPr>
          <a:xfrm>
            <a:off x="666750" y="476250"/>
            <a:ext cx="1381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F8FAFC"/>
                </a:solidFill>
                <a:latin typeface="Verdana"/>
                <a:ea typeface="Verdana"/>
                <a:cs typeface="Verdana"/>
                <a:sym typeface="Verdana"/>
              </a:rPr>
              <a:t>Միավորված էջի կառուցվածք</a:t>
            </a:r>
            <a:endParaRPr/>
          </a:p>
        </p:txBody>
      </p:sp>
      <p:sp>
        <p:nvSpPr>
          <p:cNvPr id="385" name="Google Shape;385;p36"/>
          <p:cNvSpPr/>
          <p:nvPr/>
        </p:nvSpPr>
        <p:spPr>
          <a:xfrm>
            <a:off x="685800" y="1447800"/>
            <a:ext cx="13811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AD66"/>
                </a:solidFill>
                <a:latin typeface="Verdana"/>
                <a:ea typeface="Verdana"/>
                <a:cs typeface="Verdana"/>
                <a:sym typeface="Verdana"/>
              </a:rPr>
              <a:t>Նույն էջում յուրաքանչյուր գործիք ունի հստակ դեր։</a:t>
            </a:r>
            <a:endParaRPr/>
          </a:p>
        </p:txBody>
      </p:sp>
      <p:sp>
        <p:nvSpPr>
          <p:cNvPr id="386" name="Google Shape;386;p36"/>
          <p:cNvSpPr/>
          <p:nvPr/>
        </p:nvSpPr>
        <p:spPr>
          <a:xfrm>
            <a:off x="714375" y="2476500"/>
            <a:ext cx="7143750" cy="471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2E8F0"/>
                </a:solidFill>
                <a:latin typeface="Verdana"/>
                <a:ea typeface="Verdana"/>
                <a:cs typeface="Verdana"/>
                <a:sym typeface="Verdana"/>
              </a:rPr>
              <a:t>.nav { display: flex; flex-wrap: wrap;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.cards { display: grid; gap: 16px;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position: relative;</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  display: flex; flex-direction: column;</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.badge { position: absolute; }</a:t>
            </a:r>
            <a:endParaRPr/>
          </a:p>
          <a:p>
            <a:pPr indent="0" lvl="0" marL="0" marR="0" rtl="0" algn="l">
              <a:spcBef>
                <a:spcPts val="0"/>
              </a:spcBef>
              <a:spcAft>
                <a:spcPts val="0"/>
              </a:spcAft>
              <a:buNone/>
            </a:pPr>
            <a:r>
              <a:rPr b="0" lang="en-US" sz="1875">
                <a:solidFill>
                  <a:srgbClr val="E2E8F0"/>
                </a:solidFill>
                <a:latin typeface="Verdana"/>
                <a:ea typeface="Verdana"/>
                <a:cs typeface="Verdana"/>
                <a:sym typeface="Verdana"/>
              </a:rPr>
              <a:t>.card a { margin-top: auto; }</a:t>
            </a:r>
            <a:endParaRPr/>
          </a:p>
        </p:txBody>
      </p:sp>
      <p:pic>
        <p:nvPicPr>
          <p:cNvPr id="387" name="Google Shape;387;p36"/>
          <p:cNvPicPr preferRelativeResize="0"/>
          <p:nvPr/>
        </p:nvPicPr>
        <p:blipFill rotWithShape="1">
          <a:blip r:embed="rId3">
            <a:alphaModFix/>
          </a:blip>
          <a:srcRect b="0" l="0" r="0" t="0"/>
          <a:stretch/>
        </p:blipFill>
        <p:spPr>
          <a:xfrm>
            <a:off x="8096250" y="2451398"/>
            <a:ext cx="6381750" cy="4241205"/>
          </a:xfrm>
          <a:prstGeom prst="rect">
            <a:avLst/>
          </a:prstGeom>
          <a:noFill/>
          <a:ln>
            <a:noFill/>
          </a:ln>
        </p:spPr>
      </p:pic>
      <p:sp>
        <p:nvSpPr>
          <p:cNvPr id="388" name="Google Shape;388;p36"/>
          <p:cNvSpPr/>
          <p:nvPr/>
        </p:nvSpPr>
        <p:spPr>
          <a:xfrm>
            <a:off x="714375" y="7543800"/>
            <a:ext cx="13477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C8D5E8"/>
                </a:solidFill>
                <a:latin typeface="Verdana"/>
                <a:ea typeface="Verdana"/>
                <a:cs typeface="Verdana"/>
                <a:sym typeface="Verdana"/>
              </a:rPr>
              <a:t>Միավորված օրինակում անջատել միայն display: grid-ը և նշել՝ ինչ փոխվեց։</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E36"/>
        </a:solidFill>
      </p:bgPr>
    </p:bg>
    <p:spTree>
      <p:nvGrpSpPr>
        <p:cNvPr id="393" name="Shape 393"/>
        <p:cNvGrpSpPr/>
        <p:nvPr/>
      </p:nvGrpSpPr>
      <p:grpSpPr>
        <a:xfrm>
          <a:off x="0" y="0"/>
          <a:ext cx="0" cy="0"/>
          <a:chOff x="0" y="0"/>
          <a:chExt cx="0" cy="0"/>
        </a:xfrm>
      </p:grpSpPr>
      <p:sp>
        <p:nvSpPr>
          <p:cNvPr id="394" name="Google Shape;394;p38"/>
          <p:cNvSpPr/>
          <p:nvPr/>
        </p:nvSpPr>
        <p:spPr>
          <a:xfrm>
            <a:off x="714375" y="523875"/>
            <a:ext cx="138112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8FAFC"/>
                </a:solidFill>
                <a:latin typeface="Verdana"/>
                <a:ea typeface="Verdana"/>
                <a:cs typeface="Verdana"/>
                <a:sym typeface="Verdana"/>
              </a:rPr>
              <a:t>Պաշտոնական աղբյուրներ</a:t>
            </a:r>
            <a:endParaRPr/>
          </a:p>
        </p:txBody>
      </p:sp>
      <p:sp>
        <p:nvSpPr>
          <p:cNvPr id="395" name="Google Shape;395;p38"/>
          <p:cNvSpPr/>
          <p:nvPr/>
        </p:nvSpPr>
        <p:spPr>
          <a:xfrm>
            <a:off x="762000" y="2000250"/>
            <a:ext cx="13525500" cy="476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C8D5E8"/>
                </a:solidFill>
                <a:latin typeface="Verdana"/>
                <a:ea typeface="Verdana"/>
                <a:cs typeface="Verdana"/>
                <a:sym typeface="Verdana"/>
              </a:rPr>
              <a:t>W3C CSS Positioned Layout</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W3C Flexible Box Layout</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W3C Grid Layout</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W3C Media Queries</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W3C Transitions և Animations</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W3C Transforms, Filter Effects, Multi-column</a:t>
            </a:r>
            <a:endParaRPr/>
          </a:p>
          <a:p>
            <a:pPr indent="0" lvl="0" marL="0" marR="0" rtl="0" algn="l">
              <a:spcBef>
                <a:spcPts val="0"/>
              </a:spcBef>
              <a:spcAft>
                <a:spcPts val="0"/>
              </a:spcAft>
              <a:buNone/>
            </a:pPr>
            <a:r>
              <a:rPr b="0" lang="en-US" sz="2550">
                <a:solidFill>
                  <a:srgbClr val="C8D5E8"/>
                </a:solidFill>
                <a:latin typeface="Verdana"/>
                <a:ea typeface="Verdana"/>
                <a:cs typeface="Verdana"/>
                <a:sym typeface="Verdana"/>
              </a:rPr>
              <a:t>Sass պաշտոնական ուղեցույց և փաստաթղթեր</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