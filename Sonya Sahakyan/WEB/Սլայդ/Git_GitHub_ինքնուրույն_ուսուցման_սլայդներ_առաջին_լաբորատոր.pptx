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6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Այս նյութը նախատեսված է Git չօգտագործած ուսանողների համար։ Դասի վերջում յուրաքանչյուր ուսանող կունենա տեղային պահոց, առաջին commit և GitHub-ում հասանելի repository։</a:t>
            </a:r>
          </a:p>
          <a:p>
            <a:r>
              <a:t>Աղբյուրներ՝</a:t>
            </a:r>
          </a:p>
          <a:p>
            <a:r>
              <a:t>https://git-scm.com/book/en/v2</a:t>
            </a:r>
          </a:p>
          <a:p>
            <a:r>
              <a:t>https://docs.github.com/en/get-started/git-basics/set-up-git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Ուսանողը նյութը կարող է անցնել քայլ առ քայլ։ Յուրաքանչյուր հրամանից հետո նա պետք է կարդա terminal-ի պատասխանը։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Git-ը կարելի է օգտագործել առանց GitHub-ի։ GitHub-ը Git-ի հիման վրա աշխատող հարթակ է և ունի repository-ների, համագործակցության և նախագծերի կառավարման գործիքներ։</a:t>
            </a:r>
          </a:p>
          <a:p>
            <a:r>
              <a:t>Աղբյուրներ՝</a:t>
            </a:r>
          </a:p>
          <a:p>
            <a:r>
              <a:t>https://git-scm.com/book/en/v2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Git-ը թույլ է տալիս պահել նախագծի տարբեր վիճակները՝ առանց նույն ֆայլի բազմաթիվ պատճեններ ստեղծելու։</a:t>
            </a:r>
          </a:p>
          <a:p>
            <a:r>
              <a:t>Աղբյուրներ՝</a:t>
            </a:r>
          </a:p>
          <a:p>
            <a:r>
              <a:t>https://git-scm.com/book/en/v2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Այս տերմինները բազմիցս կհանդիպեն terminal-ի հաղորդագրություններում։ Սկզբում կարևոր են repository, staging area և commit հասկացությունները։</a:t>
            </a:r>
          </a:p>
          <a:p>
            <a:r>
              <a:t>Աղբյուրներ՝</a:t>
            </a:r>
          </a:p>
          <a:p>
            <a:r>
              <a:t>https://git-scm.com/book/en/v2/Git-Basics-Recording-Changes-to-the-Repository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git add-ը չի ուղարկում ֆայլը GitHub։ Այն միայն պատրաստում է փոփոխությունը հաջորդ commit-ի համար։ git commit-ը պահում է այն տեղային repository-ում, իսկ git push-ը ուղարկում է remote repository։</a:t>
            </a:r>
          </a:p>
          <a:p>
            <a:r>
              <a:t>Աղբյուրներ՝</a:t>
            </a:r>
          </a:p>
          <a:p>
            <a:r>
              <a:t>https://git-scm.com/book/en/v2/Git-Basics-Recording-Changes-to-the-Repository</a:t>
            </a:r>
          </a:p>
          <a:p>
            <a:r>
              <a:t>https://docs.github.com/en/migrations/importing-source-code/using-the-command-line-to-import-source-code/adding-locally-hosted-code-to-github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git status-ը ուսանողի հիմնական կողմնորոշիչ հրամանն է։ Այն ցույց է տալիս branch-ը, untracked, modified և staged ֆայլերը։</a:t>
            </a:r>
          </a:p>
          <a:p>
            <a:r>
              <a:t>Աղբյուրներ՝</a:t>
            </a:r>
          </a:p>
          <a:p>
            <a:r>
              <a:t>https://git-scm.com/book/en/v2/Git-Basics-Recording-Changes-to-the-Repository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Այս դասում հրամանները ցուցադրվում են Git Bash-ի համար։ Նույն Git հրամանները կարելի է աշխատեցնել նաև VS Code Terminal-ում։</a:t>
            </a:r>
          </a:p>
          <a:p>
            <a:r>
              <a:t>Աղբյուրներ՝</a:t>
            </a:r>
          </a:p>
          <a:p>
            <a:r>
              <a:t>https://git-scm.com/install/windows</a:t>
            </a:r>
          </a:p>
          <a:p>
            <a:r>
              <a:t>https://docs.github.com/en/get-started/git-basics/set-up-git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Installer-ը հիմնականում կարելի է անցնել Next կոճակներով և պահպանել առաջարկվող ընտրությունները։ winget հրամանը այլընտրանք է, եթե Windows Package Manager-ը հասանելի է։</a:t>
            </a:r>
          </a:p>
          <a:p>
            <a:r>
              <a:t>Աղբյուրներ՝</a:t>
            </a:r>
          </a:p>
          <a:p>
            <a:r>
              <a:t>https://git-scm.com/install/windows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Տարբերակի համարը կարող է տարբերվել։ Կարևոր է, որ հրամանը վերադարձնի git version գրառումը։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Անունը և email-ը commit-ի անփոփոխ մաս են դառնում։ main անվանումը նախապես կարգավորելը նվազեցնում է branch-ի անվան հետ կապված սխալները։</a:t>
            </a:r>
          </a:p>
          <a:p>
            <a:r>
              <a:t>Աղբյուրներ՝</a:t>
            </a:r>
          </a:p>
          <a:p>
            <a:r>
              <a:t>https://git-scm.com/book/en/v2/Getting-Started-First-Time-Git-Setup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GitHub-ը command line մուտքի համար աջակցում է HTTPS և SSH։ Սկսնակների համար այս աշխատանքում օգտագործվում է HTTPS և Git Credential Manager կամ բրաուզերի մուտք։</a:t>
            </a:r>
          </a:p>
          <a:p>
            <a:r>
              <a:t>Աղբյուրներ՝</a:t>
            </a:r>
          </a:p>
          <a:p>
            <a:r>
              <a:t>https://docs.github.com/en/authentication/keeping-your-account-and-data-secure/about-authentication-to-github</a:t>
            </a:r>
          </a:p>
          <a:p>
            <a:r>
              <a:t>https://docs.github.com/en/get-started/git-basics/set-up-git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Եթե ուսանողը GitHub-ում ստեղծում է repository տեղային նախագծի համար, սկզբում չի ավելացնում README, .gitignore կամ license։ Այդպես տեղային և remote պատմությունները չեն բախվի առաջին push-ի ժամանակ։</a:t>
            </a:r>
          </a:p>
          <a:p>
            <a:r>
              <a:t>Աղբյուրներ՝</a:t>
            </a:r>
          </a:p>
          <a:p>
            <a:r>
              <a:t>https://docs.github.com/en/repositories/creating-and-managing-repositories/creating-a-new-repository</a:t>
            </a:r>
          </a:p>
          <a:p>
            <a:r>
              <a:t>https://docs.github.com/en/migrations/importing-source-code/using-the-command-line-to-import-source-code/adding-locally-hosted-code-to-github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Հաջորդ սլայդները լաբորատոր աշխատանքի քայլերն են։ Ուսանողը յուրաքանչյուր քայլից հետո կատարում է ստուգում։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Ֆայլը պետք է իրականում պահպանված լինի պանակում։ Browser-ում բացելուց հետո ուսանողը ստուգում է վերնագիրն ու պարբերությունը։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Git Bash-ում pwd-ը ցույց է տալիս ընթացիկ ուղին, իսկ ls-ը՝ պանակի պարունակությունը։ Windows-ի ուղին Git Bash-ում կարող է երևալ /c/Users/... ձևով։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git init-ը ընթացիկ պանակը դարձնում է repository։ Այն չի ուղարկում նախագիծը GitHub և չի ստեղծում commit։</a:t>
            </a:r>
          </a:p>
          <a:p>
            <a:r>
              <a:t>Աղբյուրներ՝</a:t>
            </a:r>
          </a:p>
          <a:p>
            <a:r>
              <a:t>https://docs.github.com/en/migrations/importing-source-code/using-the-command-line-to-import-source-code/adding-locally-hosted-code-to-github</a:t>
            </a:r>
          </a:p>
          <a:p>
            <a:r>
              <a:t>https://git-scm.com/book/en/v2/Git-Basics-Recording-Changes-to-the-Repository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Staging area-ն թույլ է տալիս commit-ի մեջ ներառել միայն ընտրված փոփոխությունները։ Այս աշխատանքի առաջին commit-ում ընտրվում է index.html ֆայլը։</a:t>
            </a:r>
          </a:p>
          <a:p>
            <a:r>
              <a:t>Աղբյուրներ՝</a:t>
            </a:r>
          </a:p>
          <a:p>
            <a:r>
              <a:t>https://git-scm.com/book/en/v2/Git-Basics-Recording-Changes-to-the-Repository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git commit -m հրամանի -m մասը թույլ է տալիս հաղորդագրությունը գրել նույն հրամանում։ Commit-ի մեջ մտնում են միայն staged փոփոխությունները։</a:t>
            </a:r>
          </a:p>
          <a:p>
            <a:r>
              <a:t>Աղբյուրներ՝</a:t>
            </a:r>
          </a:p>
          <a:p>
            <a:r>
              <a:t>https://git-scm.com/book/en/v2/Git-Basics-Recording-Changes-to-the-Repository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Hash-ի արժեքը յուրաքանչյուր ուսանողի մոտ տարբեր կլինի։ git log --oneline-ը հարմար է պատմությունը արագ դիտելու համար։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Տեղային commit արդեն կա, ուստի GitHub repository-ն ստեղծվում է դատարկ։ Եթե README ավելացվի, remote-ում կստեղծվի առանձին commit և առաջին push-ը կարող է մերժվել։</a:t>
            </a:r>
          </a:p>
          <a:p>
            <a:r>
              <a:t>Աղբյուրներ՝</a:t>
            </a:r>
          </a:p>
          <a:p>
            <a:r>
              <a:t>https://docs.github.com/en/repositories/creating-and-managing-repositories/creating-a-new-repository</a:t>
            </a:r>
          </a:p>
          <a:p>
            <a:r>
              <a:t>https://docs.github.com/en/migrations/importing-source-code/using-the-command-line-to-import-source-code/adding-locally-hosted-code-to-github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USERNAME-ը պետք է փոխարինել իրական GitHub username-ով կամ պարզապես պատճենել GitHub-ի առաջարկած URL-ը։ git remote -v-ը ստուգում է կապը։</a:t>
            </a:r>
          </a:p>
          <a:p>
            <a:r>
              <a:t>Աղբյուրներ՝</a:t>
            </a:r>
          </a:p>
          <a:p>
            <a:r>
              <a:t>https://docs.github.com/en/migrations/importing-source-code/using-the-command-line-to-import-source-code/adding-locally-hosted-code-to-github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GitHub-ը HTTPS-ի դեպքում խորհուրդ է տալիս credential helper, GitHub CLI կամ personal access token։ Git for Windows-ի հետ սովորաբար տեղադրվում է Git Credential Manager, որը կարող է բացել բրաուզերի մուտքը։</a:t>
            </a:r>
          </a:p>
          <a:p>
            <a:r>
              <a:t>Աղբյուրներ՝</a:t>
            </a:r>
          </a:p>
          <a:p>
            <a:r>
              <a:t>https://docs.github.com/en/authentication/keeping-your-account-and-data-secure/about-authentication-to-github</a:t>
            </a:r>
          </a:p>
          <a:p>
            <a:r>
              <a:t>https://docs.github.com/en/get-started/git-basics/set-up-git</a:t>
            </a:r>
          </a:p>
          <a:p>
            <a:r>
              <a:t>https://docs.github.com/en/migrations/importing-source-code/using-the-command-line-to-import-source-code/adding-locally-hosted-code-to-github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GitHub-ում file preview-ն ցույց է տալիս կոդը, ոչ թե պատրաստ վեբ էջը։ Վեբ էջը առանձին հրապարակելու համար հետագայում կարելի է սովորել GitHub Pages։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Այս ցիկլը կրկնվում է յուրաքանչյուր իմաստալից փոփոխությունից հետո։ Մինչև add-ը օգտակար է դիտել diff-ը, իսկ commit-ից առաջ՝ status-ը։</a:t>
            </a:r>
          </a:p>
          <a:p>
            <a:r>
              <a:t>Աղբյուրներ՝</a:t>
            </a:r>
          </a:p>
          <a:p>
            <a:r>
              <a:t>https://git-scm.com/book/en/v2/Git-Basics-Recording-Changes-to-the-Repository</a:t>
            </a:r>
          </a:p>
          <a:p>
            <a:r>
              <a:t>https://docs.github.com/en/get-started/using-git/pushing-commits-to-a-remote-repository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Առաջին լաբորատոր աշխատանքում օգտագործվում է git init, որովհետև նախագիծը նախ ստեղծվում է համակարգչում։ Հետագայում այլ համակարգչում նույն նախագիծը ստանալու համար օգտագործվում է clone։</a:t>
            </a:r>
          </a:p>
          <a:p>
            <a:r>
              <a:t>Աղբյուրներ՝</a:t>
            </a:r>
          </a:p>
          <a:p>
            <a:r>
              <a:t>https://git-scm.com/book/en/v2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git pull-ը կարող է ստեղծել միացման անհրաժեշտություն, եթե տեղային և remote փոփոխությունները տարբեր են։ Սկսնակների համար կարևոր է push-ից առաջ հասկանալ, թե արդյոք GitHub-ում ուրիշ փոփոխություն կա։</a:t>
            </a:r>
          </a:p>
          <a:p>
            <a:r>
              <a:t>Աղբյուրներ՝</a:t>
            </a:r>
          </a:p>
          <a:p>
            <a:r>
              <a:t>https://docs.github.com/en/get-started/using-git/pushing-commits-to-a-remote-repository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Առաջին լաբորատոր HTML ֆայլը գաղտնի տվյալ չպետք է պարունակի։ Հետագա նախագծերում .env և կախվածությունների մեծ պանակները սովորաբար ավելացվում են .gitignore-ում։</a:t>
            </a:r>
          </a:p>
          <a:p>
            <a:r>
              <a:t>Աղբյուրներ՝</a:t>
            </a:r>
          </a:p>
          <a:p>
            <a:r>
              <a:t>https://docs.github.com/en/get-started/using-git/pushing-commits-to-a-remote-repository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Սխալի հաղորդագրությունը պետք է կարդալ ամբողջությամբ։ Ամեն քայլից հետո git status և git remote -v հրամանները օգնում են գտնել խնդրի աղբյուրը։</a:t>
            </a:r>
          </a:p>
          <a:p>
            <a:r>
              <a:t>Աղբյուրներ՝</a:t>
            </a:r>
          </a:p>
          <a:p>
            <a:r>
              <a:t>https://docs.github.com/en/get-started/using-git/pushing-commits-to-a-remote-repository</a:t>
            </a:r>
          </a:p>
          <a:p>
            <a:r>
              <a:t>https://docs.github.com/en/authentication/keeping-your-account-and-data-secure/about-authentication-to-github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Այս սլայդը ամփոփում է միայն առաջին լաբորատոր աշխատանքի համար անհրաժեշտ հրամանները։ Հրամանները պետք է հասկանալ, ոչ պարզապես պատճենել։</a:t>
            </a:r>
          </a:p>
          <a:p>
            <a:r>
              <a:t>Աղբյուրներ՝</a:t>
            </a:r>
          </a:p>
          <a:p>
            <a:r>
              <a:t>https://git-scm.com/book/en/v2/Getting-Started-First-Time-Git-Setup</a:t>
            </a:r>
          </a:p>
          <a:p>
            <a:r>
              <a:t>https://git-scm.com/book/en/v2/Git-Basics-Recording-Changes-to-the-Repository</a:t>
            </a:r>
          </a:p>
          <a:p>
            <a:r>
              <a:t>https://docs.github.com/en/migrations/importing-source-code/using-the-command-line-to-import-source-code/adding-locally-hosted-code-to-github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ED4D60A-7DAE-4744-8548-24B88ED0D310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6667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  01  GIT ԵՎ GITHUB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C958411-0A48-4D0C-9AEE-0ECAFF3F5212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00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Git և GitHub սկսնակների համար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A0EA71-7A6A-4E1A-9948-AB6CBCF46559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11068050" cy="19050"/>
          </a:xfrm>
          <a:prstGeom prst="rect">
            <a:avLst/>
          </a:prstGeom>
          <a:solidFill>
            <a:srgbClr val="1B4057"/>
          </a:solidFill>
          <a:ln w="0">
            <a:noFill/>
          </a:ln>
        </p:spPr>
        <p:txBody>
          <a:bodyPr anchor="t">
            <a:noAutofit/>
          </a:bodyPr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59FBED-066E-471A-9F46-4BF283D23EFC}"/>
              </a:ext>
            </a:extLst>
          </p:cNvPr>
          <p:cNvSpPr>
            <a:spLocks noGrp="1"/>
          </p:cNvSpPr>
          <p:nvPr/>
        </p:nvSpPr>
        <p:spPr>
          <a:xfrm>
            <a:off x="714375" y="1666875"/>
            <a:ext cx="4095750" cy="1714500"/>
          </a:xfrm>
          <a:prstGeom prst="rect">
            <a:avLst/>
          </a:prstGeom>
          <a:solidFill>
            <a:srgbClr val="0C1D2D"/>
          </a:solidFill>
          <a:ln w="0">
            <a:noFill/>
          </a:ln>
        </p:spPr>
        <p:txBody>
          <a:bodyPr anchor="ctr">
            <a:noAutofit/>
          </a:bodyPr>
          <a:lstStyle/>
          <a:p>
            <a:pPr>
              <a:defRPr sz="615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615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rPr>
              <a:t>git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9CA2B1-DDF9-46CF-9897-315F7A0EE783}"/>
              </a:ext>
            </a:extLst>
          </p:cNvPr>
          <p:cNvSpPr>
            <a:spLocks noGrp="1"/>
          </p:cNvSpPr>
          <p:nvPr/>
        </p:nvSpPr>
        <p:spPr>
          <a:xfrm>
            <a:off x="5143500" y="1666875"/>
            <a:ext cx="6334125" cy="1714500"/>
          </a:xfrm>
          <a:prstGeom prst="rect">
            <a:avLst/>
          </a:prstGeom>
          <a:solidFill>
            <a:srgbClr val="112940"/>
          </a:solidFill>
          <a:ln w="0">
            <a:noFill/>
          </a:ln>
        </p:spPr>
        <p:txBody>
          <a:bodyPr anchor="ctr">
            <a:noAutofit/>
          </a:bodyPr>
          <a:lstStyle/>
          <a:p>
            <a:pPr>
              <a:defRPr sz="51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51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GitHub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4BBBD7-874E-47B0-8168-23784123420E}"/>
              </a:ext>
            </a:extLst>
          </p:cNvPr>
          <p:cNvSpPr>
            <a:spLocks noGrp="1"/>
          </p:cNvSpPr>
          <p:nvPr/>
        </p:nvSpPr>
        <p:spPr>
          <a:xfrm>
            <a:off x="1000125" y="3905250"/>
            <a:ext cx="1019175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00" b="1">
                <a:solidFill>
                  <a:srgbClr val="FFCC7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CC7A"/>
                </a:solidFill>
                <a:latin typeface="DejaVu Sans"/>
                <a:ea typeface="DejaVu Sans"/>
                <a:cs typeface="DejaVu Sans"/>
              </a:rPr>
              <a:t>Ինքնուրույն ուսուցում և առաջին լաբորատոր աշխատանք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0E1CD8-D083-4B13-A179-54A64F79440B}"/>
              </a:ext>
            </a:extLst>
          </p:cNvPr>
          <p:cNvSpPr>
            <a:spLocks noGrp="1"/>
          </p:cNvSpPr>
          <p:nvPr/>
        </p:nvSpPr>
        <p:spPr>
          <a:xfrm>
            <a:off x="1476375" y="4905375"/>
            <a:ext cx="92392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75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Արդյունքը՝ առաջին HTML ֆայլը պահված Git-ում և հրապարակված GitHub-ում</a:t>
            </a:r>
          </a:p>
        </p:txBody>
      </p:sp>
    </p:spTree>
    <p:extLst>
      <p:ext uri="{BB962C8B-B14F-4D97-AF65-F5344CB8AC3E}">
        <p14:creationId xmlns:p14="http://schemas.microsoft.com/office/powerpoint/2010/main" val="1172963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03FC762-7DD3-464E-887D-B49DDFB1DE2B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6667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  02  GIT ԵՎ GITHUB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C906D5-33E1-4F16-9830-D46C926A9C96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00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Ուսուցման արդյունքները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3C8C49-45D4-47F7-BD61-5B487234001B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11068050" cy="19050"/>
          </a:xfrm>
          <a:prstGeom prst="rect">
            <a:avLst/>
          </a:prstGeom>
          <a:solidFill>
            <a:srgbClr val="1B4057"/>
          </a:solidFill>
          <a:ln w="0">
            <a:noFill/>
          </a:ln>
        </p:spPr>
        <p:txBody>
          <a:bodyPr anchor="t">
            <a:noAutofit/>
          </a:bodyPr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7F7CD1-61CC-4016-A672-C5E068867F24}"/>
              </a:ext>
            </a:extLst>
          </p:cNvPr>
          <p:cNvSpPr>
            <a:spLocks noGrp="1"/>
          </p:cNvSpPr>
          <p:nvPr/>
        </p:nvSpPr>
        <p:spPr>
          <a:xfrm>
            <a:off x="904875" y="1571625"/>
            <a:ext cx="10382250" cy="3714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54000" indent="-127000">
              <a:spcAft>
                <a:spcPts val="1200"/>
              </a:spcAft>
              <a:buChar char="•"/>
              <a:defRPr sz="1725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բացատրել Git-ի և GitHub-ի տարբերությունը</a:t>
            </a:r>
          </a:p>
          <a:p>
            <a:pPr marL="254000" indent="-127000">
              <a:spcAft>
                <a:spcPts val="1200"/>
              </a:spcAft>
              <a:buChar char="•"/>
              <a:defRPr sz="1725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տեղադրել և կարգավորել Git-ը Windows-ում</a:t>
            </a:r>
          </a:p>
          <a:p>
            <a:pPr marL="254000" indent="-127000">
              <a:spcAft>
                <a:spcPts val="1200"/>
              </a:spcAft>
              <a:buChar char="•"/>
              <a:defRPr sz="1725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ստեղծել տեղային repository և հետևել ֆայլի վիճակին</a:t>
            </a:r>
          </a:p>
          <a:p>
            <a:pPr marL="254000" indent="-127000">
              <a:spcAft>
                <a:spcPts val="1200"/>
              </a:spcAft>
              <a:buChar char="•"/>
              <a:defRPr sz="1725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կատարել add, commit և դիտել պատմությունը</a:t>
            </a:r>
          </a:p>
          <a:p>
            <a:pPr marL="254000" indent="-127000">
              <a:spcAft>
                <a:spcPts val="1200"/>
              </a:spcAft>
              <a:buChar char="•"/>
              <a:defRPr sz="1725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կապել տեղային repository-ն GitHub-ի հետ</a:t>
            </a:r>
          </a:p>
          <a:p>
            <a:pPr marL="254000" indent="-127000">
              <a:spcAft>
                <a:spcPts val="1200"/>
              </a:spcAft>
              <a:buChar char="•"/>
              <a:defRPr sz="1725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կատարել առաջին push-ը և ստուգել արդյունքը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F5AFA9-E662-4CC8-8804-B00916C90EC5}"/>
              </a:ext>
            </a:extLst>
          </p:cNvPr>
          <p:cNvSpPr>
            <a:spLocks noGrp="1"/>
          </p:cNvSpPr>
          <p:nvPr/>
        </p:nvSpPr>
        <p:spPr>
          <a:xfrm>
            <a:off x="1238250" y="5476875"/>
            <a:ext cx="97155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Լաբորատոր աշխատանքի վերջնական ապացույցը GitHub repository-ի հղումն է</a:t>
            </a:r>
          </a:p>
        </p:txBody>
      </p:sp>
    </p:spTree>
    <p:extLst>
      <p:ext uri="{BB962C8B-B14F-4D97-AF65-F5344CB8AC3E}">
        <p14:creationId xmlns:p14="http://schemas.microsoft.com/office/powerpoint/2010/main" val="123144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C5C70F2-60F1-4669-92FB-774C6E9E931E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6667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  03  GIT ԵՎ GITHUB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1644C6-D066-47A0-94E4-CD253EB66B73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00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Git և GitHub տարբերությունը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F21745-0B77-4C9A-BF37-0B158A1F41DF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11068050" cy="19050"/>
          </a:xfrm>
          <a:prstGeom prst="rect">
            <a:avLst/>
          </a:prstGeom>
          <a:solidFill>
            <a:srgbClr val="1B4057"/>
          </a:solidFill>
          <a:ln w="0">
            <a:noFill/>
          </a:ln>
        </p:spPr>
        <p:txBody>
          <a:bodyPr anchor="t">
            <a:noAutofit/>
          </a:bodyPr>
          <a:lstStyle/>
          <a:p>
            <a:endParaRPr/>
          </a:p>
        </p:txBody>
      </p:sp>
      <p:graphicFrame>
        <p:nvGraphicFramePr>
          <p:cNvPr id="9" name="Table 8"/>
          <p:cNvGraphicFramePr/>
          <p:nvPr/>
        </p:nvGraphicFramePr>
        <p:xfrm>
          <a:off x="619125" y="1476375"/>
          <a:ext cx="10953750" cy="4000500"/>
        </p:xfrm>
        <a:graphic>
          <a:graphicData uri="http://schemas.openxmlformats.org/drawingml/2006/table">
            <a:tbl>
              <a:tblPr firstRow="1" bandRow="1"/>
              <a:tblGrid>
                <a:gridCol w="257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5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24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Հատկություն</a:t>
                      </a:r>
                    </a:p>
                  </a:txBody>
                  <a:tcPr anchor="ctr">
                    <a:solidFill>
                      <a:srgbClr val="1129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Git</a:t>
                      </a:r>
                    </a:p>
                  </a:txBody>
                  <a:tcPr anchor="ctr">
                    <a:solidFill>
                      <a:srgbClr val="1129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GitHub</a:t>
                      </a:r>
                    </a:p>
                  </a:txBody>
                  <a:tcPr anchor="ctr">
                    <a:solidFill>
                      <a:srgbClr val="1129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Տեսակ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տարբերակների վերահսկման ծրագիր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առցանց հարթակ Git repository-ների համար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Որտեղ է աշխատում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ուսանողի համակարգչում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համացանցում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Հիմնական նպատակը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պահել փոփոխությունների պատմությունը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պահել, տարածել և համագործակցել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Առանց ինտերնետի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տեղային commit հնարավոր է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push և pull չեն աշխատի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Հիմնական հրամաններ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init, add, commit, log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remote, push, pull, clone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06395A80-C84B-47FA-B267-69E008F0B87F}"/>
              </a:ext>
            </a:extLst>
          </p:cNvPr>
          <p:cNvSpPr>
            <a:spLocks noGrp="1"/>
          </p:cNvSpPr>
          <p:nvPr/>
        </p:nvSpPr>
        <p:spPr>
          <a:xfrm>
            <a:off x="1476375" y="5715000"/>
            <a:ext cx="923925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00" b="1">
                <a:solidFill>
                  <a:srgbClr val="FFCC7A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CC7A"/>
                </a:solidFill>
                <a:latin typeface="DejaVu Sans"/>
                <a:ea typeface="DejaVu Sans"/>
                <a:cs typeface="DejaVu Sans"/>
              </a:rPr>
              <a:t>Git-ը պահում է պատմությունը, GitHub-ը հասանելի է դարձնում այն առցանց</a:t>
            </a:r>
          </a:p>
        </p:txBody>
      </p:sp>
    </p:spTree>
    <p:extLst>
      <p:ext uri="{BB962C8B-B14F-4D97-AF65-F5344CB8AC3E}">
        <p14:creationId xmlns:p14="http://schemas.microsoft.com/office/powerpoint/2010/main" val="335294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4BB3C60-02E2-4B09-8FBA-5F7F458A2042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6667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  04  GIT ԵՎ GITHUB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960DA8-0A1D-4EF5-825D-575A05EABAC3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00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Ինչ խնդիր է լուծում տարբերակների վերահսկումը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4465D0-C871-436C-8D24-D7E879A27A8C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11068050" cy="19050"/>
          </a:xfrm>
          <a:prstGeom prst="rect">
            <a:avLst/>
          </a:prstGeom>
          <a:solidFill>
            <a:srgbClr val="1B4057"/>
          </a:solidFill>
          <a:ln w="0">
            <a:noFill/>
          </a:ln>
        </p:spPr>
        <p:txBody>
          <a:bodyPr anchor="t">
            <a:noAutofit/>
          </a:bodyPr>
          <a:lstStyle/>
          <a:p>
            <a:endParaRPr/>
          </a:p>
        </p:txBody>
      </p:sp>
      <p:graphicFrame>
        <p:nvGraphicFramePr>
          <p:cNvPr id="9" name="Table 8"/>
          <p:cNvGraphicFramePr/>
          <p:nvPr/>
        </p:nvGraphicFramePr>
        <p:xfrm>
          <a:off x="904875" y="1619250"/>
          <a:ext cx="10382250" cy="3238500"/>
        </p:xfrm>
        <a:graphic>
          <a:graphicData uri="http://schemas.openxmlformats.org/drawingml/2006/table">
            <a:tbl>
              <a:tblPr firstRow="1" bandRow="1"/>
              <a:tblGrid>
                <a:gridCol w="485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Առանց Git</a:t>
                      </a:r>
                    </a:p>
                  </a:txBody>
                  <a:tcPr anchor="ctr">
                    <a:solidFill>
                      <a:srgbClr val="1129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Git-ի միջոցով</a:t>
                      </a:r>
                    </a:p>
                  </a:txBody>
                  <a:tcPr anchor="ctr">
                    <a:solidFill>
                      <a:srgbClr val="1129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project_final.html, project_final2.html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մեկ նախագիծ և հստակ commit-ների պատմություն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փոփոխության հեղինակը չի երևում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commit-ը պահում է հեղինակին և ժամանակը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վերադարձը դժվար է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կարելի է գտնել նախորդ վիճակը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ֆայլերի փոխանակումը անկառավարելի է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remote repository-ն համաժամացնում է աշխատանքը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E757C694-D5CC-4327-92F6-98BF91F0C60C}"/>
              </a:ext>
            </a:extLst>
          </p:cNvPr>
          <p:cNvSpPr>
            <a:spLocks noGrp="1"/>
          </p:cNvSpPr>
          <p:nvPr/>
        </p:nvSpPr>
        <p:spPr>
          <a:xfrm>
            <a:off x="1619250" y="5286375"/>
            <a:ext cx="8953500" cy="714375"/>
          </a:xfrm>
          <a:prstGeom prst="rect">
            <a:avLst/>
          </a:prstGeom>
          <a:solidFill>
            <a:srgbClr val="0C1D2D"/>
          </a:solidFill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Commit-ը նախագծի իմաստալից պահված վիճակ է՝ կարճ նկարագրությամբ</a:t>
            </a:r>
          </a:p>
        </p:txBody>
      </p:sp>
    </p:spTree>
    <p:extLst>
      <p:ext uri="{BB962C8B-B14F-4D97-AF65-F5344CB8AC3E}">
        <p14:creationId xmlns:p14="http://schemas.microsoft.com/office/powerpoint/2010/main" val="926739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81922EA-B77A-4A85-A08E-B1DF3AAC4712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6667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  05  GIT ԵՎ GITHUB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25C8A6-7C89-4FF5-B36F-04EC0351DA91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00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Հիմնական հասկացություններ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A76BF3-6EAE-4F65-B386-5D8A1DF29CE8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11068050" cy="19050"/>
          </a:xfrm>
          <a:prstGeom prst="rect">
            <a:avLst/>
          </a:prstGeom>
          <a:solidFill>
            <a:srgbClr val="1B4057"/>
          </a:solidFill>
          <a:ln w="0">
            <a:noFill/>
          </a:ln>
        </p:spPr>
        <p:txBody>
          <a:bodyPr anchor="t">
            <a:noAutofit/>
          </a:bodyPr>
          <a:lstStyle/>
          <a:p>
            <a:endParaRPr/>
          </a:p>
        </p:txBody>
      </p:sp>
      <p:graphicFrame>
        <p:nvGraphicFramePr>
          <p:cNvPr id="8" name="Table 7"/>
          <p:cNvGraphicFramePr/>
          <p:nvPr/>
        </p:nvGraphicFramePr>
        <p:xfrm>
          <a:off x="1143000" y="1381125"/>
          <a:ext cx="9906000" cy="4476750"/>
        </p:xfrm>
        <a:graphic>
          <a:graphicData uri="http://schemas.openxmlformats.org/drawingml/2006/table">
            <a:tbl>
              <a:tblPr firstRow="1" bandRow="1"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9594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Տերմին</a:t>
                      </a:r>
                    </a:p>
                  </a:txBody>
                  <a:tcPr anchor="ctr">
                    <a:solidFill>
                      <a:srgbClr val="1129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Պարզ բացատրություն</a:t>
                      </a:r>
                    </a:p>
                  </a:txBody>
                  <a:tcPr anchor="ctr">
                    <a:solidFill>
                      <a:srgbClr val="1129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59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repository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նախագծի ֆայլերը և Git պատմությունը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959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working directory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ֆայլերը, որոնց վրա աշխատում ենք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959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staging area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հաջորդ commit-ի համար ընտրված փոփոխությունները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959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commit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պահված վիճակ՝ հաղորդագրությամբ և հեղինակով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959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branch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պատմության առանձին աշխատանքային ուղղություն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959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HEAD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ընթացիկ branch-ի վերջին commit-ի ցուցիչ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959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remote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առցանց repository-ի կապը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0276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1693A14-A26C-4722-BE8D-069241DA549F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6667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  06  GIT ԵՎ GITHUB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D76466-F61D-4BA5-AB55-859762409A89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00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Git-ի աշխատանքային չորս տարածքները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0223E8-CEB7-49D0-931B-6092E56102BA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11068050" cy="19050"/>
          </a:xfrm>
          <a:prstGeom prst="rect">
            <a:avLst/>
          </a:prstGeom>
          <a:solidFill>
            <a:srgbClr val="1B4057"/>
          </a:solidFill>
          <a:ln w="0">
            <a:noFill/>
          </a:ln>
        </p:spPr>
        <p:txBody>
          <a:bodyPr anchor="t">
            <a:noAutofit/>
          </a:bodyPr>
          <a:lstStyle/>
          <a:p>
            <a:endParaRPr/>
          </a:p>
        </p:txBody>
      </p:sp>
      <p:graphicFrame>
        <p:nvGraphicFramePr>
          <p:cNvPr id="9" name="Table 8"/>
          <p:cNvGraphicFramePr/>
          <p:nvPr/>
        </p:nvGraphicFramePr>
        <p:xfrm>
          <a:off x="714375" y="1571625"/>
          <a:ext cx="10763250" cy="3333750"/>
        </p:xfrm>
        <a:graphic>
          <a:graphicData uri="http://schemas.openxmlformats.org/drawingml/2006/table">
            <a:tbl>
              <a:tblPr firstRow="1" bandRow="1"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Տարածք</a:t>
                      </a:r>
                    </a:p>
                  </a:txBody>
                  <a:tcPr anchor="ctr">
                    <a:solidFill>
                      <a:srgbClr val="1129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Ինչ է պահվում</a:t>
                      </a:r>
                    </a:p>
                  </a:txBody>
                  <a:tcPr anchor="ctr">
                    <a:solidFill>
                      <a:srgbClr val="1129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Փոխանցող հրաման</a:t>
                      </a:r>
                    </a:p>
                  </a:txBody>
                  <a:tcPr anchor="ctr">
                    <a:solidFill>
                      <a:srgbClr val="1129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Working directory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ստեղծված և փոփոխված ֆայլեր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git add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Staging area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հաջորդ commit-ի ընտրված տարբերակ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git commit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Local repository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commit-ների տեղային պատմություն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git push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GitHub repository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առցանց պատճեն և համագործակցություն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git pull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C8764260-3895-42E4-B0AB-99D3AF03087D}"/>
              </a:ext>
            </a:extLst>
          </p:cNvPr>
          <p:cNvSpPr>
            <a:spLocks noGrp="1"/>
          </p:cNvSpPr>
          <p:nvPr/>
        </p:nvSpPr>
        <p:spPr>
          <a:xfrm>
            <a:off x="1238250" y="5334000"/>
            <a:ext cx="97155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650" b="1">
                <a:solidFill>
                  <a:srgbClr val="FFCC7A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CC7A"/>
                </a:solidFill>
                <a:latin typeface="DejaVu Sans"/>
                <a:ea typeface="DejaVu Sans"/>
                <a:cs typeface="DejaVu Sans"/>
              </a:rPr>
              <a:t>Ֆայլը GitHub ուղարկելուց առաջ անցնում է add և commit քայլերով</a:t>
            </a:r>
          </a:p>
        </p:txBody>
      </p:sp>
    </p:spTree>
    <p:extLst>
      <p:ext uri="{BB962C8B-B14F-4D97-AF65-F5344CB8AC3E}">
        <p14:creationId xmlns:p14="http://schemas.microsoft.com/office/powerpoint/2010/main" val="1782117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9356DA7-A411-4D83-8DAD-A5AACC8F8147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6667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  07  GIT ԵՎ GITHUB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258658-DAF0-4761-BC52-2EA8230FCFA2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00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Ֆայլի վիճակները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C5D37C-EA41-48EF-B024-349AAC54774D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11068050" cy="19050"/>
          </a:xfrm>
          <a:prstGeom prst="rect">
            <a:avLst/>
          </a:prstGeom>
          <a:solidFill>
            <a:srgbClr val="1B4057"/>
          </a:solidFill>
          <a:ln w="0">
            <a:noFill/>
          </a:ln>
        </p:spPr>
        <p:txBody>
          <a:bodyPr anchor="t">
            <a:noAutofit/>
          </a:bodyPr>
          <a:lstStyle/>
          <a:p>
            <a:endParaRPr/>
          </a:p>
        </p:txBody>
      </p:sp>
      <p:graphicFrame>
        <p:nvGraphicFramePr>
          <p:cNvPr id="9" name="Table 8"/>
          <p:cNvGraphicFramePr/>
          <p:nvPr/>
        </p:nvGraphicFramePr>
        <p:xfrm>
          <a:off x="762000" y="1619250"/>
          <a:ext cx="10668000" cy="3333750"/>
        </p:xfrm>
        <a:graphic>
          <a:graphicData uri="http://schemas.openxmlformats.org/drawingml/2006/table">
            <a:tbl>
              <a:tblPr firstRow="1" bandRow="1"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Վիճակ</a:t>
                      </a:r>
                    </a:p>
                  </a:txBody>
                  <a:tcPr anchor="ctr">
                    <a:solidFill>
                      <a:srgbClr val="1129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Իմաստ</a:t>
                      </a:r>
                    </a:p>
                  </a:txBody>
                  <a:tcPr anchor="ctr">
                    <a:solidFill>
                      <a:srgbClr val="1129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Ինչ անել</a:t>
                      </a:r>
                    </a:p>
                  </a:txBody>
                  <a:tcPr anchor="ctr">
                    <a:solidFill>
                      <a:srgbClr val="1129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untracked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Git-ը դեռ չի հետևում նոր ֆայլին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git add file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modified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հետևվող ֆայլը փոխվել է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դիտել diff, ապա add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staged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փոփոխությունը պատրաստ է commit-ի համար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git commit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committed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փոփոխությունը պահված է տեղային պատմության մեջ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push կամ շարունակել աշխատանքը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09ADB86E-061A-49AE-9D73-AB469BB3161F}"/>
              </a:ext>
            </a:extLst>
          </p:cNvPr>
          <p:cNvSpPr>
            <a:spLocks noGrp="1"/>
          </p:cNvSpPr>
          <p:nvPr/>
        </p:nvSpPr>
        <p:spPr>
          <a:xfrm>
            <a:off x="3143250" y="5286375"/>
            <a:ext cx="5905500" cy="666750"/>
          </a:xfrm>
          <a:prstGeom prst="rect">
            <a:avLst/>
          </a:prstGeom>
          <a:solidFill>
            <a:srgbClr val="0C1D2D"/>
          </a:solidFill>
          <a:ln w="9525">
            <a:solidFill>
              <a:srgbClr val="1B4057"/>
            </a:solidFill>
          </a:ln>
        </p:spPr>
        <p:txBody>
          <a:bodyPr anchor="t">
            <a:noAutofit/>
          </a:bodyPr>
          <a:lstStyle/>
          <a:p>
            <a:pPr>
              <a:defRPr sz="21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git status</a:t>
            </a:r>
          </a:p>
        </p:txBody>
      </p:sp>
    </p:spTree>
    <p:extLst>
      <p:ext uri="{BB962C8B-B14F-4D97-AF65-F5344CB8AC3E}">
        <p14:creationId xmlns:p14="http://schemas.microsoft.com/office/powerpoint/2010/main" val="2132334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6F6C206-14CE-4318-8E98-1FE67F1D9822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6667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  08  GIT ԵՎ GITHUB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0469BA-629A-413E-B24F-B431E490C5D1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00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Նախապատրաստում Windows համակարգում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2DCDF2-4CC5-4426-8705-3182BC03F7F4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11068050" cy="19050"/>
          </a:xfrm>
          <a:prstGeom prst="rect">
            <a:avLst/>
          </a:prstGeom>
          <a:solidFill>
            <a:srgbClr val="1B4057"/>
          </a:solidFill>
          <a:ln w="0">
            <a:noFill/>
          </a:ln>
        </p:spPr>
        <p:txBody>
          <a:bodyPr anchor="t">
            <a:noAutofit/>
          </a:bodyPr>
          <a:lstStyle/>
          <a:p>
            <a:endParaRPr/>
          </a:p>
        </p:txBody>
      </p:sp>
      <p:graphicFrame>
        <p:nvGraphicFramePr>
          <p:cNvPr id="9" name="Table 8"/>
          <p:cNvGraphicFramePr/>
          <p:nvPr/>
        </p:nvGraphicFramePr>
        <p:xfrm>
          <a:off x="1238250" y="1524000"/>
          <a:ext cx="9715500" cy="3429000"/>
        </p:xfrm>
        <a:graphic>
          <a:graphicData uri="http://schemas.openxmlformats.org/drawingml/2006/table">
            <a:tbl>
              <a:tblPr firstRow="1" bandRow="1"/>
              <a:tblGrid>
                <a:gridCol w="323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Անհրաժեշտը</a:t>
                      </a:r>
                    </a:p>
                  </a:txBody>
                  <a:tcPr anchor="ctr">
                    <a:solidFill>
                      <a:srgbClr val="1129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Նպատակ</a:t>
                      </a:r>
                    </a:p>
                  </a:txBody>
                  <a:tcPr anchor="ctr">
                    <a:solidFill>
                      <a:srgbClr val="1129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Git for Windows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Git հրամաններ և Git Bash terminal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Visual Studio Code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ֆայլերի ստեղծում և խմբագրում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GitHub հաշիվ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remote repository ստեղծում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աշխատող էլ. փոստ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հաշվի հաստատում և commit-ի email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բրաուզեր և ինտերնետ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ներբեռնում, մուտք և push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E7D5F2AF-CA53-4FBE-A67E-2B4B975655A5}"/>
              </a:ext>
            </a:extLst>
          </p:cNvPr>
          <p:cNvSpPr>
            <a:spLocks noGrp="1"/>
          </p:cNvSpPr>
          <p:nvPr/>
        </p:nvSpPr>
        <p:spPr>
          <a:xfrm>
            <a:off x="1571625" y="5334000"/>
            <a:ext cx="9048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42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Խորհուրդ՝ GitHub-ի հաշիվը ստեղծել նույն էլ. փոստով, որը կգրվի Git config-ում</a:t>
            </a:r>
          </a:p>
        </p:txBody>
      </p:sp>
    </p:spTree>
    <p:extLst>
      <p:ext uri="{BB962C8B-B14F-4D97-AF65-F5344CB8AC3E}">
        <p14:creationId xmlns:p14="http://schemas.microsoft.com/office/powerpoint/2010/main" val="9817135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D556DEE-85AE-40BC-8781-BEC8B8BF9B09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6667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  09  GIT ԵՎ GITHUB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0A1B3A-12EA-4DD3-AEDE-FAEC8BF447A7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00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Git-ի տեղադրում Windows-ում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656D19-CD99-4DA3-A8B7-99E06D5E2064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11068050" cy="19050"/>
          </a:xfrm>
          <a:prstGeom prst="rect">
            <a:avLst/>
          </a:prstGeom>
          <a:solidFill>
            <a:srgbClr val="1B4057"/>
          </a:solidFill>
          <a:ln w="0">
            <a:noFill/>
          </a:ln>
        </p:spPr>
        <p:txBody>
          <a:bodyPr anchor="t">
            <a:noAutofit/>
          </a:bodyPr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A615CB-959C-4E61-97AA-1AD17172BEC1}"/>
              </a:ext>
            </a:extLst>
          </p:cNvPr>
          <p:cNvSpPr>
            <a:spLocks noGrp="1"/>
          </p:cNvSpPr>
          <p:nvPr/>
        </p:nvSpPr>
        <p:spPr>
          <a:xfrm>
            <a:off x="762000" y="1476375"/>
            <a:ext cx="10668000" cy="3333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54000" indent="-127000">
              <a:spcAft>
                <a:spcPts val="1200"/>
              </a:spcAft>
              <a:buChar char="•"/>
              <a:def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բացել git-scm.com/install/windows պաշտոնական էջը</a:t>
            </a:r>
          </a:p>
          <a:p>
            <a:pPr marL="254000" indent="-127000">
              <a:spcAft>
                <a:spcPts val="1200"/>
              </a:spcAft>
              <a:buChar char="•"/>
              <a:def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ներբեռնել Windows x64 installer-ը, իսկ ARM սարքի դեպքում՝ ARM64 տարբերակը</a:t>
            </a:r>
          </a:p>
          <a:p>
            <a:pPr marL="254000" indent="-127000">
              <a:spcAft>
                <a:spcPts val="1200"/>
              </a:spcAft>
              <a:buChar char="•"/>
              <a:def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աշխատեցնել installer-ը</a:t>
            </a:r>
          </a:p>
          <a:p>
            <a:pPr marL="254000" indent="-127000">
              <a:spcAft>
                <a:spcPts val="1200"/>
              </a:spcAft>
              <a:buChar char="•"/>
              <a:def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սկսնակների համար պահպանել առաջարկվող կարգավորումները</a:t>
            </a:r>
          </a:p>
          <a:p>
            <a:pPr marL="254000" indent="-127000">
              <a:spcAft>
                <a:spcPts val="1200"/>
              </a:spcAft>
              <a:buChar char="•"/>
              <a:def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ավարտից հետո փակել և նորից բացել terminal-ը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65DF2F-6AAC-4808-945A-B229A6B1288C}"/>
              </a:ext>
            </a:extLst>
          </p:cNvPr>
          <p:cNvSpPr>
            <a:spLocks noGrp="1"/>
          </p:cNvSpPr>
          <p:nvPr/>
        </p:nvSpPr>
        <p:spPr>
          <a:xfrm>
            <a:off x="1762125" y="5191125"/>
            <a:ext cx="8667750" cy="666750"/>
          </a:xfrm>
          <a:prstGeom prst="rect">
            <a:avLst/>
          </a:prstGeom>
          <a:solidFill>
            <a:srgbClr val="0C1D2D"/>
          </a:solidFill>
          <a:ln w="9525">
            <a:solidFill>
              <a:srgbClr val="1B4057"/>
            </a:solidFill>
          </a:ln>
        </p:spPr>
        <p:txBody>
          <a:bodyPr anchor="t">
            <a:noAutofit/>
          </a:bodyPr>
          <a:lstStyle/>
          <a:p>
            <a:pPr>
              <a:defRPr sz="16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winget install --id Git.Git -e --source winget</a:t>
            </a:r>
          </a:p>
        </p:txBody>
      </p:sp>
    </p:spTree>
    <p:extLst>
      <p:ext uri="{BB962C8B-B14F-4D97-AF65-F5344CB8AC3E}">
        <p14:creationId xmlns:p14="http://schemas.microsoft.com/office/powerpoint/2010/main" val="859403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3B9653E-FCB0-4DBA-AEEF-46B7A4570492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6667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  10  GIT ԵՎ GITHUB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4BF87B-6E80-4EAF-A4CF-675194963CE3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00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Տեղադրման ստուգում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92AD5B-98FA-45B1-998F-BF5A34BE44DE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11068050" cy="19050"/>
          </a:xfrm>
          <a:prstGeom prst="rect">
            <a:avLst/>
          </a:prstGeom>
          <a:solidFill>
            <a:srgbClr val="1B4057"/>
          </a:solidFill>
          <a:ln w="0">
            <a:noFill/>
          </a:ln>
        </p:spPr>
        <p:txBody>
          <a:bodyPr anchor="t">
            <a:noAutofit/>
          </a:bodyPr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552D71-675C-470E-A969-135FBEC5C500}"/>
              </a:ext>
            </a:extLst>
          </p:cNvPr>
          <p:cNvSpPr>
            <a:spLocks noGrp="1"/>
          </p:cNvSpPr>
          <p:nvPr/>
        </p:nvSpPr>
        <p:spPr>
          <a:xfrm>
            <a:off x="1428750" y="1666875"/>
            <a:ext cx="9334500" cy="857250"/>
          </a:xfrm>
          <a:prstGeom prst="rect">
            <a:avLst/>
          </a:prstGeom>
          <a:solidFill>
            <a:srgbClr val="0C1D2D"/>
          </a:solidFill>
          <a:ln w="9525">
            <a:solidFill>
              <a:srgbClr val="1B4057"/>
            </a:solidFill>
          </a:ln>
        </p:spPr>
        <p:txBody>
          <a:bodyPr anchor="t">
            <a:noAutofit/>
          </a:bodyPr>
          <a:lstStyle/>
          <a:p>
            <a:pPr>
              <a:defRPr sz="24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4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git --version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C5C001-92E6-4AA7-A154-0CA33FE554DC}"/>
              </a:ext>
            </a:extLst>
          </p:cNvPr>
          <p:cNvSpPr>
            <a:spLocks noGrp="1"/>
          </p:cNvSpPr>
          <p:nvPr/>
        </p:nvSpPr>
        <p:spPr>
          <a:xfrm>
            <a:off x="1428750" y="2905125"/>
            <a:ext cx="9334500" cy="666750"/>
          </a:xfrm>
          <a:prstGeom prst="rect">
            <a:avLst/>
          </a:prstGeom>
          <a:solidFill>
            <a:srgbClr val="0C1D2D"/>
          </a:solidFill>
          <a:ln w="0">
            <a:noFill/>
          </a:ln>
        </p:spPr>
        <p:txBody>
          <a:bodyPr anchor="ctr">
            <a:noAutofit/>
          </a:bodyPr>
          <a:lstStyle/>
          <a:p>
            <a:pPr>
              <a:defRPr sz="1875" b="0">
                <a:solidFill>
                  <a:srgbClr val="71D49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71D49B"/>
                </a:solidFill>
                <a:latin typeface="DejaVu Sans Mono"/>
                <a:ea typeface="DejaVu Sans Mono"/>
                <a:cs typeface="DejaVu Sans Mono"/>
              </a:rPr>
              <a:t>Օրինակ պատասխան՝ git version 2.x.x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FA0A27-BBB5-42E9-AE9A-ECD647E344B3}"/>
              </a:ext>
            </a:extLst>
          </p:cNvPr>
          <p:cNvSpPr>
            <a:spLocks noGrp="1"/>
          </p:cNvSpPr>
          <p:nvPr/>
        </p:nvSpPr>
        <p:spPr>
          <a:xfrm>
            <a:off x="1809750" y="4000500"/>
            <a:ext cx="8572500" cy="1619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54000" indent="-127000">
              <a:spcAft>
                <a:spcPts val="1000"/>
              </a:spcAft>
              <a:buChar char="•"/>
              <a:defRPr sz="1575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եթե երևում է տարբերակը՝ Git-ը տեղադրված է</a:t>
            </a:r>
          </a:p>
          <a:p>
            <a:pPr marL="254000" indent="-127000">
              <a:spcAft>
                <a:spcPts val="1000"/>
              </a:spcAft>
              <a:buChar char="•"/>
              <a:defRPr sz="1575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եթե գրվում է command not found՝ նորից բացել terminal-ը</a:t>
            </a:r>
          </a:p>
          <a:p>
            <a:pPr marL="254000" indent="-127000">
              <a:spcAft>
                <a:spcPts val="1000"/>
              </a:spcAft>
              <a:buChar char="•"/>
              <a:defRPr sz="1575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եթե խնդիրը չի լուծվում՝ վերատեղադրել Git-ը և ստուգել PATH տարբերակը</a:t>
            </a:r>
          </a:p>
        </p:txBody>
      </p:sp>
    </p:spTree>
    <p:extLst>
      <p:ext uri="{BB962C8B-B14F-4D97-AF65-F5344CB8AC3E}">
        <p14:creationId xmlns:p14="http://schemas.microsoft.com/office/powerpoint/2010/main" val="16528299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B203861-19B5-4C06-950F-7F9F6C832D45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6667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  11  GIT ԵՎ GITHUB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1C375E-4EAB-4EB2-97CD-2290B6B35898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00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Առաջին կարգավորում user name և email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28FD85-FDF7-4217-91FF-39CD2185C727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11068050" cy="19050"/>
          </a:xfrm>
          <a:prstGeom prst="rect">
            <a:avLst/>
          </a:prstGeom>
          <a:solidFill>
            <a:srgbClr val="1B4057"/>
          </a:solidFill>
          <a:ln w="0">
            <a:noFill/>
          </a:ln>
        </p:spPr>
        <p:txBody>
          <a:bodyPr anchor="t">
            <a:noAutofit/>
          </a:bodyPr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A1F11E-98F2-489A-810E-31617B36D272}"/>
              </a:ext>
            </a:extLst>
          </p:cNvPr>
          <p:cNvSpPr>
            <a:spLocks noGrp="1"/>
          </p:cNvSpPr>
          <p:nvPr/>
        </p:nvSpPr>
        <p:spPr>
          <a:xfrm>
            <a:off x="904875" y="1571625"/>
            <a:ext cx="10382250" cy="1809750"/>
          </a:xfrm>
          <a:prstGeom prst="rect">
            <a:avLst/>
          </a:prstGeom>
          <a:solidFill>
            <a:srgbClr val="0C1D2D"/>
          </a:solidFill>
          <a:ln w="9525">
            <a:solidFill>
              <a:srgbClr val="1B4057"/>
            </a:solidFill>
          </a:ln>
        </p:spPr>
        <p:txBody>
          <a:bodyPr anchor="t">
            <a:noAutofit/>
          </a:bodyPr>
          <a:lstStyle/>
          <a:p>
            <a:pPr>
              <a:defRPr sz="18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git config --global user.name "Անուն Ազգանուն"</a:t>
            </a:r>
          </a:p>
          <a:p>
            <a:pPr>
              <a:defRPr sz="18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git config --global user.email "student@example.com"</a:t>
            </a:r>
          </a:p>
          <a:p>
            <a:pPr>
              <a:defRPr sz="18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git config --global init.defaultBranch main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061029-FB8C-415A-B7C6-B47F1572EBB7}"/>
              </a:ext>
            </a:extLst>
          </p:cNvPr>
          <p:cNvSpPr>
            <a:spLocks noGrp="1"/>
          </p:cNvSpPr>
          <p:nvPr/>
        </p:nvSpPr>
        <p:spPr>
          <a:xfrm>
            <a:off x="2381250" y="3857625"/>
            <a:ext cx="7429500" cy="666750"/>
          </a:xfrm>
          <a:prstGeom prst="rect">
            <a:avLst/>
          </a:prstGeom>
          <a:solidFill>
            <a:srgbClr val="0C1D2D"/>
          </a:solidFill>
          <a:ln w="9525">
            <a:solidFill>
              <a:srgbClr val="1B4057"/>
            </a:solidFill>
          </a:ln>
        </p:spPr>
        <p:txBody>
          <a:bodyPr anchor="t">
            <a:noAutofit/>
          </a:bodyPr>
          <a:lstStyle/>
          <a:p>
            <a:pPr>
              <a:defRPr sz="18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git config --global --list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44C5F4-915E-406F-9519-3DE44FE3FC16}"/>
              </a:ext>
            </a:extLst>
          </p:cNvPr>
          <p:cNvSpPr>
            <a:spLocks noGrp="1"/>
          </p:cNvSpPr>
          <p:nvPr/>
        </p:nvSpPr>
        <p:spPr>
          <a:xfrm>
            <a:off x="1333500" y="4905375"/>
            <a:ext cx="9525000" cy="1143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54000" indent="-127000">
              <a:spcAft>
                <a:spcPts val="700"/>
              </a:spcAft>
              <a:buChar char="•"/>
              <a:defRPr sz="1425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user.name-ը երևում է commit-ի հեղինակի դաշտում</a:t>
            </a:r>
          </a:p>
          <a:p>
            <a:pPr marL="254000" indent="-127000">
              <a:spcAft>
                <a:spcPts val="700"/>
              </a:spcAft>
              <a:buChar char="•"/>
              <a:defRPr sz="1425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user.email-ը կապվում է commit-ի հետ</a:t>
            </a:r>
          </a:p>
          <a:p>
            <a:pPr marL="254000" indent="-127000">
              <a:spcAft>
                <a:spcPts val="700"/>
              </a:spcAft>
              <a:buChar char="•"/>
              <a:defRPr sz="1425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--global-ը կարգավորումը կիրառում է տվյալ համակարգչի բոլոր repository-ների համար</a:t>
            </a:r>
          </a:p>
        </p:txBody>
      </p:sp>
    </p:spTree>
    <p:extLst>
      <p:ext uri="{BB962C8B-B14F-4D97-AF65-F5344CB8AC3E}">
        <p14:creationId xmlns:p14="http://schemas.microsoft.com/office/powerpoint/2010/main" val="1783526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E1E6A91-460F-454D-ABF0-725622A35E9A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6667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  12  GIT ԵՎ GITHUB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654422-26DF-405D-9C7E-FC81CAD5A053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00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GitHub հաշիվ և անվտանգ մուտք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02B9B4-A73E-4249-BD13-66F6D03F9499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11068050" cy="19050"/>
          </a:xfrm>
          <a:prstGeom prst="rect">
            <a:avLst/>
          </a:prstGeom>
          <a:solidFill>
            <a:srgbClr val="1B4057"/>
          </a:solidFill>
          <a:ln w="0">
            <a:noFill/>
          </a:ln>
        </p:spPr>
        <p:txBody>
          <a:bodyPr anchor="t">
            <a:noAutofit/>
          </a:bodyPr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E82119-0976-4643-AFDF-F765BFB88FD4}"/>
              </a:ext>
            </a:extLst>
          </p:cNvPr>
          <p:cNvSpPr>
            <a:spLocks noGrp="1"/>
          </p:cNvSpPr>
          <p:nvPr/>
        </p:nvSpPr>
        <p:spPr>
          <a:xfrm>
            <a:off x="714375" y="1428750"/>
            <a:ext cx="10763250" cy="3714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54000" indent="-127000">
              <a:spcAft>
                <a:spcPts val="1200"/>
              </a:spcAft>
              <a:buChar char="•"/>
              <a:defRPr sz="1575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ստեղծել հաշիվ github.com կայքում և հաստատել էլ. փոստը</a:t>
            </a:r>
          </a:p>
          <a:p>
            <a:pPr marL="254000" indent="-127000">
              <a:spcAft>
                <a:spcPts val="1200"/>
              </a:spcAft>
              <a:buChar char="•"/>
              <a:defRPr sz="1575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ընտրել հիշվող username, քանի որ այն repository-ի URL-ի մաս է</a:t>
            </a:r>
          </a:p>
          <a:p>
            <a:pPr marL="254000" indent="-127000">
              <a:spcAft>
                <a:spcPts val="1200"/>
              </a:spcAft>
              <a:buChar char="•"/>
              <a:defRPr sz="1575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միացնել երկքայլ նույնականացումը և պահել recovery codes-ը</a:t>
            </a:r>
          </a:p>
          <a:p>
            <a:pPr marL="254000" indent="-127000">
              <a:spcAft>
                <a:spcPts val="1200"/>
              </a:spcAft>
              <a:buChar char="•"/>
              <a:defRPr sz="1575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HTTPS push-ի ժամանակ օգտագործել բրաուզերի մուտք կամ Git Credential Manager</a:t>
            </a:r>
          </a:p>
          <a:p>
            <a:pPr marL="254000" indent="-127000">
              <a:spcAft>
                <a:spcPts val="1200"/>
              </a:spcAft>
              <a:buChar char="•"/>
              <a:defRPr sz="1575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երբ Git-ը հարցնում է password, GitHub-ի սովորական գաղտնաբառը չի ընդունվում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1C46A6-6E67-418F-B463-3CDA7AC176D4}"/>
              </a:ext>
            </a:extLst>
          </p:cNvPr>
          <p:cNvSpPr>
            <a:spLocks noGrp="1"/>
          </p:cNvSpPr>
          <p:nvPr/>
        </p:nvSpPr>
        <p:spPr>
          <a:xfrm>
            <a:off x="1381125" y="5429250"/>
            <a:ext cx="9429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75" b="1">
                <a:solidFill>
                  <a:srgbClr val="FF7B8B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F7B8B"/>
                </a:solidFill>
                <a:latin typeface="DejaVu Sans"/>
                <a:ea typeface="DejaVu Sans"/>
                <a:cs typeface="DejaVu Sans"/>
              </a:rPr>
              <a:t>Գաղտնաբառ, token կամ API key երբեք չի պահվում repository-ում</a:t>
            </a:r>
          </a:p>
        </p:txBody>
      </p:sp>
    </p:spTree>
    <p:extLst>
      <p:ext uri="{BB962C8B-B14F-4D97-AF65-F5344CB8AC3E}">
        <p14:creationId xmlns:p14="http://schemas.microsoft.com/office/powerpoint/2010/main" val="20767369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0CC34D1-CDF0-4CAC-A11E-AFF4133019BE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6667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  13  GIT ԵՎ GITHUB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3242E2-AC1C-42C5-83CF-E1D281BF4743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00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Repository-ի անուն և հասանելիություն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4BCA9D-238A-411B-AE72-C6FF581A13C0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11068050" cy="19050"/>
          </a:xfrm>
          <a:prstGeom prst="rect">
            <a:avLst/>
          </a:prstGeom>
          <a:solidFill>
            <a:srgbClr val="1B4057"/>
          </a:solidFill>
          <a:ln w="0">
            <a:noFill/>
          </a:ln>
        </p:spPr>
        <p:txBody>
          <a:bodyPr anchor="t">
            <a:noAutofit/>
          </a:bodyPr>
          <a:lstStyle/>
          <a:p>
            <a:endParaRPr/>
          </a:p>
        </p:txBody>
      </p:sp>
      <p:graphicFrame>
        <p:nvGraphicFramePr>
          <p:cNvPr id="8" name="Table 7"/>
          <p:cNvGraphicFramePr/>
          <p:nvPr/>
        </p:nvGraphicFramePr>
        <p:xfrm>
          <a:off x="1381125" y="1381125"/>
          <a:ext cx="9429750" cy="4476750"/>
        </p:xfrm>
        <a:graphic>
          <a:graphicData uri="http://schemas.openxmlformats.org/drawingml/2006/table">
            <a:tbl>
              <a:tblPr firstRow="1" bandRow="1"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9594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Դաշտ</a:t>
                      </a:r>
                    </a:p>
                  </a:txBody>
                  <a:tcPr anchor="ctr">
                    <a:solidFill>
                      <a:srgbClr val="1129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Լաբորատոր աշխատանքի ընտրություն</a:t>
                      </a:r>
                    </a:p>
                  </a:txBody>
                  <a:tcPr anchor="ctr">
                    <a:solidFill>
                      <a:srgbClr val="1129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59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Owner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ուսանողի GitHub հաշիվը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959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Repository name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git-first-lab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959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Description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My first Git and GitHub laboratory work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959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Visibility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Public կամ դասախոսի պահանջած Private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959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README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չնշել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959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.gitignore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չնշել առաջին ստեղծման պահին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959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License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չնշել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74033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0BA39F7-733E-40CB-968C-4F6D83315C03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6667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  14  ԼԱԲՈՐԱՏՈՐ ԱՇԽԱՏԱՆՔ 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98B5F0-5ED8-4DD1-8A1A-046718165C8B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00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Առաջին լաբորատոր աշխատանքի նպատակը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585CC7-C9E0-463F-8717-E7A4A09FD5AC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11068050" cy="19050"/>
          </a:xfrm>
          <a:prstGeom prst="rect">
            <a:avLst/>
          </a:prstGeom>
          <a:solidFill>
            <a:srgbClr val="1B4057"/>
          </a:solidFill>
          <a:ln w="0">
            <a:noFill/>
          </a:ln>
        </p:spPr>
        <p:txBody>
          <a:bodyPr anchor="t">
            <a:noAutofit/>
          </a:bodyPr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1E0FFF-C543-4678-B4EB-6E66435DDD6C}"/>
              </a:ext>
            </a:extLst>
          </p:cNvPr>
          <p:cNvSpPr>
            <a:spLocks noGrp="1"/>
          </p:cNvSpPr>
          <p:nvPr/>
        </p:nvSpPr>
        <p:spPr>
          <a:xfrm>
            <a:off x="714375" y="1524000"/>
            <a:ext cx="10763250" cy="857250"/>
          </a:xfrm>
          <a:prstGeom prst="rect">
            <a:avLst/>
          </a:prstGeom>
          <a:solidFill>
            <a:srgbClr val="0C1D2D"/>
          </a:solidFill>
          <a:ln w="0">
            <a:noFill/>
          </a:ln>
        </p:spPr>
        <p:txBody>
          <a:bodyPr anchor="ctr">
            <a:noAutofit/>
          </a:bodyPr>
          <a:lstStyle/>
          <a:p>
            <a:pPr>
              <a:defRPr sz="2100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Ստեղծել index.html ֆայլ, պահել առաջին commit-ը և ուղարկել GitHub</a:t>
            </a:r>
          </a:p>
        </p:txBody>
      </p:sp>
      <p:graphicFrame>
        <p:nvGraphicFramePr>
          <p:cNvPr id="10" name="Table 9"/>
          <p:cNvGraphicFramePr/>
          <p:nvPr/>
        </p:nvGraphicFramePr>
        <p:xfrm>
          <a:off x="2524125" y="2857500"/>
          <a:ext cx="7143750" cy="2667000"/>
        </p:xfrm>
        <a:graphic>
          <a:graphicData uri="http://schemas.openxmlformats.org/drawingml/2006/table">
            <a:tbl>
              <a:tblPr firstRow="1" bandRow="1"/>
              <a:tblGrid>
                <a:gridCol w="161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Փուլ</a:t>
                      </a:r>
                    </a:p>
                  </a:txBody>
                  <a:tcPr anchor="ctr">
                    <a:solidFill>
                      <a:srgbClr val="1129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Արդյունք</a:t>
                      </a:r>
                    </a:p>
                  </a:txBody>
                  <a:tcPr anchor="ctr">
                    <a:solidFill>
                      <a:srgbClr val="1129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տեղադրված և կարգավորված Git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git-first-lab տեղային պանակ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աշխատող index.html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առնվազն մեկ commit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GitHub-ում բացվող repository և ֆայլ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01315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A0D1ACB-D6CD-4753-A1D9-120F49BC8D08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6667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  15  ԼԱԲՈՐԱՏՈՐ ԱՇԽԱՏԱՆՔ 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FA5238-DF89-4F8C-AF23-F8FBE607D034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00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Քայլ 1  Նախագծի պանակ և HTML ֆայլ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F438F5-13EB-494C-A309-610D983201F0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11068050" cy="19050"/>
          </a:xfrm>
          <a:prstGeom prst="rect">
            <a:avLst/>
          </a:prstGeom>
          <a:solidFill>
            <a:srgbClr val="1B4057"/>
          </a:solidFill>
          <a:ln w="0">
            <a:noFill/>
          </a:ln>
        </p:spPr>
        <p:txBody>
          <a:bodyPr anchor="t">
            <a:noAutofit/>
          </a:bodyPr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1C3B45-0B53-4F4F-8DFB-1C31D0F8F4E5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4476750" cy="3238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54000" indent="-127000">
              <a:spcAft>
                <a:spcPts val="1300"/>
              </a:spcAft>
              <a:buChar char="•"/>
              <a:defRPr sz="1575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Documents պանակում ստեղծել git-first-lab պանակը</a:t>
            </a:r>
          </a:p>
          <a:p>
            <a:pPr marL="254000" indent="-127000">
              <a:spcAft>
                <a:spcPts val="1300"/>
              </a:spcAft>
              <a:buChar char="•"/>
              <a:defRPr sz="1575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VS Code-ով բացել հենց այդ պանակը</a:t>
            </a:r>
          </a:p>
          <a:p>
            <a:pPr marL="254000" indent="-127000">
              <a:spcAft>
                <a:spcPts val="1300"/>
              </a:spcAft>
              <a:buChar char="•"/>
              <a:defRPr sz="1575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ստեղծել index.html ֆայլը</a:t>
            </a:r>
          </a:p>
          <a:p>
            <a:pPr marL="254000" indent="-127000">
              <a:spcAft>
                <a:spcPts val="1300"/>
              </a:spcAft>
              <a:buChar char="•"/>
              <a:defRPr sz="1575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գրել պարզ HTML փաստաթուղթ և պահպանել Ctrl+S-ով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09D8AB-E4C6-4AE2-B186-233A12719E74}"/>
              </a:ext>
            </a:extLst>
          </p:cNvPr>
          <p:cNvSpPr>
            <a:spLocks noGrp="1"/>
          </p:cNvSpPr>
          <p:nvPr/>
        </p:nvSpPr>
        <p:spPr>
          <a:xfrm>
            <a:off x="5619750" y="1428750"/>
            <a:ext cx="5810250" cy="4333875"/>
          </a:xfrm>
          <a:prstGeom prst="rect">
            <a:avLst/>
          </a:prstGeom>
          <a:solidFill>
            <a:srgbClr val="0C1D2D"/>
          </a:solidFill>
          <a:ln w="9525">
            <a:solidFill>
              <a:srgbClr val="1B4057"/>
            </a:solidFill>
          </a:ln>
        </p:spPr>
        <p:txBody>
          <a:bodyPr anchor="t">
            <a:noAutofit/>
          </a:bodyPr>
          <a:lstStyle/>
          <a:p>
            <a:pPr>
              <a:defRPr sz="12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&lt;!doctype html&gt;</a:t>
            </a:r>
          </a:p>
          <a:p>
            <a:pPr>
              <a:defRPr sz="12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&lt;html lang="hy"&gt;</a:t>
            </a:r>
          </a:p>
          <a:p>
            <a:pPr>
              <a:defRPr sz="12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&lt;head&gt;</a:t>
            </a:r>
          </a:p>
          <a:p>
            <a:pPr>
              <a:defRPr sz="12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&lt;meta charset="utf-8"&gt;</a:t>
            </a:r>
          </a:p>
          <a:p>
            <a:pPr>
              <a:defRPr sz="12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&lt;title&gt;Առաջին Git աշխատանք&lt;/title&gt;</a:t>
            </a:r>
          </a:p>
          <a:p>
            <a:pPr>
              <a:defRPr sz="12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&lt;/head&gt;</a:t>
            </a:r>
          </a:p>
          <a:p>
            <a:pPr>
              <a:defRPr sz="12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&lt;body&gt;</a:t>
            </a:r>
          </a:p>
          <a:p>
            <a:pPr>
              <a:defRPr sz="12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&lt;h1&gt;Իմ առաջին commit-ը&lt;/h1&gt;</a:t>
            </a:r>
          </a:p>
          <a:p>
            <a:pPr>
              <a:defRPr sz="12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&lt;p&gt;Ֆայլը ստեղծել եմ Git լաբորատոր աշխատանքի համար։&lt;/p&gt;</a:t>
            </a:r>
          </a:p>
          <a:p>
            <a:pPr>
              <a:defRPr sz="12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&lt;/body&gt;</a:t>
            </a:r>
          </a:p>
          <a:p>
            <a:pPr>
              <a:defRPr sz="12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7877298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A56A6F8-8041-4AEF-B78E-190A27B86983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6667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  16  ԼԱԲՈՐԱՏՈՐ ԱՇԽԱՏԱՆՔ 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D34EA9-2AAE-4473-99D6-1C93F122E997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00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Քայլ 2  Terminal-ը ճիշտ պանակում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48BD22-4ACA-42F5-98EF-4B1D0E98496B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11068050" cy="19050"/>
          </a:xfrm>
          <a:prstGeom prst="rect">
            <a:avLst/>
          </a:prstGeom>
          <a:solidFill>
            <a:srgbClr val="1B4057"/>
          </a:solidFill>
          <a:ln w="0">
            <a:noFill/>
          </a:ln>
        </p:spPr>
        <p:txBody>
          <a:bodyPr anchor="t">
            <a:noAutofit/>
          </a:bodyPr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7D313F-F06F-400F-BB1D-03A8DA6B6C5E}"/>
              </a:ext>
            </a:extLst>
          </p:cNvPr>
          <p:cNvSpPr>
            <a:spLocks noGrp="1"/>
          </p:cNvSpPr>
          <p:nvPr/>
        </p:nvSpPr>
        <p:spPr>
          <a:xfrm>
            <a:off x="762000" y="1476375"/>
            <a:ext cx="4953000" cy="3048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54000" indent="-127000">
              <a:spcAft>
                <a:spcPts val="1200"/>
              </a:spcAft>
              <a:buChar char="•"/>
              <a:defRPr sz="1575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VS Code-ում բացել Terminal բաժինը</a:t>
            </a:r>
          </a:p>
          <a:p>
            <a:pPr marL="254000" indent="-127000">
              <a:spcAft>
                <a:spcPts val="1200"/>
              </a:spcAft>
              <a:buChar char="•"/>
              <a:defRPr sz="1575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կամ պանակում սեղմել աջ կոճակ և ընտրել Open Git Bash here</a:t>
            </a:r>
          </a:p>
          <a:p>
            <a:pPr marL="254000" indent="-127000">
              <a:spcAft>
                <a:spcPts val="1200"/>
              </a:spcAft>
              <a:buChar char="•"/>
              <a:defRPr sz="1575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ստուգել ընթացիկ պանակի անունը</a:t>
            </a:r>
          </a:p>
          <a:p>
            <a:pPr marL="254000" indent="-127000">
              <a:spcAft>
                <a:spcPts val="1200"/>
              </a:spcAft>
              <a:buChar char="•"/>
              <a:defRPr sz="1575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դիտել, որ index.html ֆայլը կա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1F0B53-9425-4F3A-A57F-8D757BC2F4DB}"/>
              </a:ext>
            </a:extLst>
          </p:cNvPr>
          <p:cNvSpPr>
            <a:spLocks noGrp="1"/>
          </p:cNvSpPr>
          <p:nvPr/>
        </p:nvSpPr>
        <p:spPr>
          <a:xfrm>
            <a:off x="6381750" y="1714500"/>
            <a:ext cx="4286250" cy="1238250"/>
          </a:xfrm>
          <a:prstGeom prst="rect">
            <a:avLst/>
          </a:prstGeom>
          <a:solidFill>
            <a:srgbClr val="0C1D2D"/>
          </a:solidFill>
          <a:ln w="9525">
            <a:solidFill>
              <a:srgbClr val="1B4057"/>
            </a:solidFill>
          </a:ln>
        </p:spPr>
        <p:txBody>
          <a:bodyPr anchor="t">
            <a:noAutofit/>
          </a:bodyPr>
          <a:lstStyle/>
          <a:p>
            <a:pPr>
              <a:defRPr sz="22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2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pwd</a:t>
            </a:r>
          </a:p>
          <a:p>
            <a:pPr>
              <a:defRPr sz="22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2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0FCF2F-1725-4FA2-8266-AC4A7BB837CA}"/>
              </a:ext>
            </a:extLst>
          </p:cNvPr>
          <p:cNvSpPr>
            <a:spLocks noGrp="1"/>
          </p:cNvSpPr>
          <p:nvPr/>
        </p:nvSpPr>
        <p:spPr>
          <a:xfrm>
            <a:off x="1714500" y="5095875"/>
            <a:ext cx="8763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75" b="1">
                <a:solidFill>
                  <a:srgbClr val="FF7B8B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F7B8B"/>
                </a:solidFill>
                <a:latin typeface="DejaVu Sans"/>
                <a:ea typeface="DejaVu Sans"/>
                <a:cs typeface="DejaVu Sans"/>
              </a:rPr>
              <a:t>Եթե terminal-ը բացվել է սխալ պանակում, Git repository-ն կստեղծվի սխալ տեղում</a:t>
            </a:r>
          </a:p>
        </p:txBody>
      </p:sp>
    </p:spTree>
    <p:extLst>
      <p:ext uri="{BB962C8B-B14F-4D97-AF65-F5344CB8AC3E}">
        <p14:creationId xmlns:p14="http://schemas.microsoft.com/office/powerpoint/2010/main" val="12464903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B316C6D-3B05-4093-82EB-30A78F32828E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6667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  17  ԼԱԲՈՐԱՏՈՐ ԱՇԽԱՏԱՆՔ 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EE5E72-0CF8-4D9F-BA8B-6FDD8C43D5D8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00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Քայլ 3  Repository-ի ստեղծում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400BAF-030B-44EB-A3D4-7E70505DAE72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11068050" cy="19050"/>
          </a:xfrm>
          <a:prstGeom prst="rect">
            <a:avLst/>
          </a:prstGeom>
          <a:solidFill>
            <a:srgbClr val="1B4057"/>
          </a:solidFill>
          <a:ln w="0">
            <a:noFill/>
          </a:ln>
        </p:spPr>
        <p:txBody>
          <a:bodyPr anchor="t">
            <a:noAutofit/>
          </a:bodyPr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23770F-3B01-446B-AA6E-00F9A1510EA9}"/>
              </a:ext>
            </a:extLst>
          </p:cNvPr>
          <p:cNvSpPr>
            <a:spLocks noGrp="1"/>
          </p:cNvSpPr>
          <p:nvPr/>
        </p:nvSpPr>
        <p:spPr>
          <a:xfrm>
            <a:off x="1571625" y="1619250"/>
            <a:ext cx="9048750" cy="1476375"/>
          </a:xfrm>
          <a:prstGeom prst="rect">
            <a:avLst/>
          </a:prstGeom>
          <a:solidFill>
            <a:srgbClr val="0C1D2D"/>
          </a:solidFill>
          <a:ln w="9525">
            <a:solidFill>
              <a:srgbClr val="1B4057"/>
            </a:solidFill>
          </a:ln>
        </p:spPr>
        <p:txBody>
          <a:bodyPr anchor="t">
            <a:noAutofit/>
          </a:bodyPr>
          <a:lstStyle/>
          <a:p>
            <a:pPr>
              <a:defRPr sz="23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3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git init</a:t>
            </a:r>
          </a:p>
          <a:p>
            <a:pPr>
              <a:defRPr sz="23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3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git status</a:t>
            </a:r>
          </a:p>
        </p:txBody>
      </p:sp>
      <p:graphicFrame>
        <p:nvGraphicFramePr>
          <p:cNvPr id="10" name="Table 9"/>
          <p:cNvGraphicFramePr/>
          <p:nvPr/>
        </p:nvGraphicFramePr>
        <p:xfrm>
          <a:off x="1047750" y="3619500"/>
          <a:ext cx="10096500" cy="2190750"/>
        </p:xfrm>
        <a:graphic>
          <a:graphicData uri="http://schemas.openxmlformats.org/drawingml/2006/table">
            <a:tbl>
              <a:tblPr firstRow="1" bandRow="1"/>
              <a:tblGrid>
                <a:gridCol w="495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76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Ինչ պետք է տեսնել</a:t>
                      </a:r>
                    </a:p>
                  </a:txBody>
                  <a:tcPr anchor="ctr">
                    <a:solidFill>
                      <a:srgbClr val="1129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Բացատրություն</a:t>
                      </a:r>
                    </a:p>
                  </a:txBody>
                  <a:tcPr anchor="ctr">
                    <a:solidFill>
                      <a:srgbClr val="1129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Initialized empty Git repository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.git թաքնված պանակը ստեղծվել է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On branch main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ընթացիկ branch-ի անունը main է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Untracked files: index.html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Git-ը տեսնում է նոր ֆայլը, բայց դեռ չի հետևում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52396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FBE5EC3-B1FB-4BE5-AE97-FC343B649F52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6667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  18  ԼԱԲՈՐԱՏՈՐ ԱՇԽԱՏԱՆՔ 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0F5242-1B82-48FD-BFD3-8AF07B10763C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00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Քայլ 4  Ֆայլի ավելացում staging area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38A2BF-B43F-48B7-A39A-3286B11E6FA2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11068050" cy="19050"/>
          </a:xfrm>
          <a:prstGeom prst="rect">
            <a:avLst/>
          </a:prstGeom>
          <a:solidFill>
            <a:srgbClr val="1B4057"/>
          </a:solidFill>
          <a:ln w="0">
            <a:noFill/>
          </a:ln>
        </p:spPr>
        <p:txBody>
          <a:bodyPr anchor="t">
            <a:noAutofit/>
          </a:bodyPr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9C3862-F398-4388-9984-78DF47162F3D}"/>
              </a:ext>
            </a:extLst>
          </p:cNvPr>
          <p:cNvSpPr>
            <a:spLocks noGrp="1"/>
          </p:cNvSpPr>
          <p:nvPr/>
        </p:nvSpPr>
        <p:spPr>
          <a:xfrm>
            <a:off x="1476375" y="1666875"/>
            <a:ext cx="9239250" cy="1476375"/>
          </a:xfrm>
          <a:prstGeom prst="rect">
            <a:avLst/>
          </a:prstGeom>
          <a:solidFill>
            <a:srgbClr val="0C1D2D"/>
          </a:solidFill>
          <a:ln w="9525">
            <a:solidFill>
              <a:srgbClr val="1B4057"/>
            </a:solidFill>
          </a:ln>
        </p:spPr>
        <p:txBody>
          <a:bodyPr anchor="t">
            <a:noAutofit/>
          </a:bodyPr>
          <a:lstStyle/>
          <a:p>
            <a:pPr>
              <a:defRPr sz="22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2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git add index.html</a:t>
            </a:r>
          </a:p>
          <a:p>
            <a:pPr>
              <a:defRPr sz="22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2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git status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80216D-2CE6-4DA4-B19B-199165C5B12E}"/>
              </a:ext>
            </a:extLst>
          </p:cNvPr>
          <p:cNvSpPr>
            <a:spLocks noGrp="1"/>
          </p:cNvSpPr>
          <p:nvPr/>
        </p:nvSpPr>
        <p:spPr>
          <a:xfrm>
            <a:off x="1476375" y="3524250"/>
            <a:ext cx="9239250" cy="762000"/>
          </a:xfrm>
          <a:prstGeom prst="rect">
            <a:avLst/>
          </a:prstGeom>
          <a:solidFill>
            <a:srgbClr val="0C1D2D"/>
          </a:solidFill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0">
                <a:solidFill>
                  <a:srgbClr val="71D49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71D49B"/>
                </a:solidFill>
                <a:latin typeface="DejaVu Sans Mono"/>
                <a:ea typeface="DejaVu Sans Mono"/>
                <a:cs typeface="DejaVu Sans Mono"/>
              </a:rPr>
              <a:t>Changes to be committed</a:t>
            </a:r>
          </a:p>
          <a:p>
            <a:pPr>
              <a:defRPr sz="1725" b="0">
                <a:solidFill>
                  <a:srgbClr val="71D49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71D49B"/>
                </a:solidFill>
                <a:latin typeface="DejaVu Sans Mono"/>
                <a:ea typeface="DejaVu Sans Mono"/>
                <a:cs typeface="DejaVu Sans Mono"/>
              </a:rPr>
              <a:t>new file: index.html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4D6D12-E55C-43D6-AEC2-A95BCBC0BA9A}"/>
              </a:ext>
            </a:extLst>
          </p:cNvPr>
          <p:cNvSpPr>
            <a:spLocks noGrp="1"/>
          </p:cNvSpPr>
          <p:nvPr/>
        </p:nvSpPr>
        <p:spPr>
          <a:xfrm>
            <a:off x="1476375" y="4762500"/>
            <a:ext cx="9239250" cy="1143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54000" indent="-127000">
              <a:spcAft>
                <a:spcPts val="700"/>
              </a:spcAft>
              <a:buChar char="•"/>
              <a:defRPr sz="1425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git add-ը ընտրում է ֆայլի տվյալ տարբերակը հաջորդ commit-ի համար</a:t>
            </a:r>
          </a:p>
          <a:p>
            <a:pPr marL="254000" indent="-127000">
              <a:spcAft>
                <a:spcPts val="700"/>
              </a:spcAft>
              <a:buChar char="•"/>
              <a:defRPr sz="1425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ֆայլը կարող է նորից փոխվել add-ից հետո</a:t>
            </a:r>
          </a:p>
          <a:p>
            <a:pPr marL="254000" indent="-127000">
              <a:spcAft>
                <a:spcPts val="700"/>
              </a:spcAft>
              <a:buChar char="•"/>
              <a:defRPr sz="1425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commit-ից առաջ միշտ ստուգել git status-ը</a:t>
            </a:r>
          </a:p>
        </p:txBody>
      </p:sp>
    </p:spTree>
    <p:extLst>
      <p:ext uri="{BB962C8B-B14F-4D97-AF65-F5344CB8AC3E}">
        <p14:creationId xmlns:p14="http://schemas.microsoft.com/office/powerpoint/2010/main" val="13772314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53F53FE-42AF-4800-BFFE-60E22683D841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6667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  19  ԼԱԲՈՐԱՏՈՐ ԱՇԽԱՏԱՆՔ 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5A7AED-98DF-40B2-B4B4-B5DADB6B0696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00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Քայլ 5  Առաջին commit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C502AC-2F1B-496A-B31C-FB824FEB6FE7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11068050" cy="19050"/>
          </a:xfrm>
          <a:prstGeom prst="rect">
            <a:avLst/>
          </a:prstGeom>
          <a:solidFill>
            <a:srgbClr val="1B4057"/>
          </a:solidFill>
          <a:ln w="0">
            <a:noFill/>
          </a:ln>
        </p:spPr>
        <p:txBody>
          <a:bodyPr anchor="t">
            <a:noAutofit/>
          </a:bodyPr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5CDC10-11BC-4E33-B9BE-D9D05573D491}"/>
              </a:ext>
            </a:extLst>
          </p:cNvPr>
          <p:cNvSpPr>
            <a:spLocks noGrp="1"/>
          </p:cNvSpPr>
          <p:nvPr/>
        </p:nvSpPr>
        <p:spPr>
          <a:xfrm>
            <a:off x="1143000" y="1762125"/>
            <a:ext cx="9906000" cy="857250"/>
          </a:xfrm>
          <a:prstGeom prst="rect">
            <a:avLst/>
          </a:prstGeom>
          <a:solidFill>
            <a:srgbClr val="0C1D2D"/>
          </a:solidFill>
          <a:ln w="9525">
            <a:solidFill>
              <a:srgbClr val="1B4057"/>
            </a:solidFill>
          </a:ln>
        </p:spPr>
        <p:txBody>
          <a:bodyPr anchor="t">
            <a:noAutofit/>
          </a:bodyPr>
          <a:lstStyle/>
          <a:p>
            <a:pPr>
              <a:defRPr sz="21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git commit -m "Add first HTML page"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5BE16D-F7E6-41A4-A1DC-FB2B7EAC4104}"/>
              </a:ext>
            </a:extLst>
          </p:cNvPr>
          <p:cNvSpPr>
            <a:spLocks noGrp="1"/>
          </p:cNvSpPr>
          <p:nvPr/>
        </p:nvSpPr>
        <p:spPr>
          <a:xfrm>
            <a:off x="1285875" y="3143250"/>
            <a:ext cx="9620250" cy="2095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54000" indent="-127000">
              <a:spcAft>
                <a:spcPts val="1100"/>
              </a:spcAft>
              <a:buChar char="•"/>
              <a:defRPr sz="1575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commit message-ը կարճ նկարագրում է կատարված փոփոխությունը</a:t>
            </a:r>
          </a:p>
          <a:p>
            <a:pPr marL="254000" indent="-127000">
              <a:spcAft>
                <a:spcPts val="1100"/>
              </a:spcAft>
              <a:buChar char="•"/>
              <a:defRPr sz="1575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Add first HTML page հաղորդագրությունը սկսվում է գործողություն նկարագրող բառով</a:t>
            </a:r>
          </a:p>
          <a:p>
            <a:pPr marL="254000" indent="-127000">
              <a:spcAft>
                <a:spcPts val="1100"/>
              </a:spcAft>
              <a:buChar char="•"/>
              <a:defRPr sz="1575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commit-ը պահվում է տեղային repository-ում</a:t>
            </a:r>
          </a:p>
          <a:p>
            <a:pPr marL="254000" indent="-127000">
              <a:spcAft>
                <a:spcPts val="1100"/>
              </a:spcAft>
              <a:buChar char="•"/>
              <a:defRPr sz="1575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commit-ից հետո git status-ը պետք է ցույց տա clean working tree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15F881-E512-4CC2-A495-EAE15DC1ED50}"/>
              </a:ext>
            </a:extLst>
          </p:cNvPr>
          <p:cNvSpPr>
            <a:spLocks noGrp="1"/>
          </p:cNvSpPr>
          <p:nvPr/>
        </p:nvSpPr>
        <p:spPr>
          <a:xfrm>
            <a:off x="3857625" y="5476875"/>
            <a:ext cx="4476750" cy="552450"/>
          </a:xfrm>
          <a:prstGeom prst="rect">
            <a:avLst/>
          </a:prstGeom>
          <a:solidFill>
            <a:srgbClr val="0C1D2D"/>
          </a:solidFill>
          <a:ln w="9525">
            <a:solidFill>
              <a:srgbClr val="1B4057"/>
            </a:solidFill>
          </a:ln>
        </p:spPr>
        <p:txBody>
          <a:bodyPr anchor="t">
            <a:noAutofit/>
          </a:bodyPr>
          <a:lstStyle/>
          <a:p>
            <a:pPr>
              <a:defRPr sz="18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git status</a:t>
            </a:r>
          </a:p>
        </p:txBody>
      </p:sp>
    </p:spTree>
    <p:extLst>
      <p:ext uri="{BB962C8B-B14F-4D97-AF65-F5344CB8AC3E}">
        <p14:creationId xmlns:p14="http://schemas.microsoft.com/office/powerpoint/2010/main" val="14263739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E07D1E5-A70E-4B0C-864D-B08F7B44CFFF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6667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  20  ԼԱԲՈՐԱՏՈՐ ԱՇԽԱՏԱՆՔ 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1C330D-2629-429B-BDED-E7365FAF0EB9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00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Քայլ 6  Commit-ի պատմության ստուգում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466E33-6728-451B-99CA-4D43F690BAA0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11068050" cy="19050"/>
          </a:xfrm>
          <a:prstGeom prst="rect">
            <a:avLst/>
          </a:prstGeom>
          <a:solidFill>
            <a:srgbClr val="1B4057"/>
          </a:solidFill>
          <a:ln w="0">
            <a:noFill/>
          </a:ln>
        </p:spPr>
        <p:txBody>
          <a:bodyPr anchor="t">
            <a:noAutofit/>
          </a:bodyPr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0F3969-CE5D-4F80-A657-841073AA71F5}"/>
              </a:ext>
            </a:extLst>
          </p:cNvPr>
          <p:cNvSpPr>
            <a:spLocks noGrp="1"/>
          </p:cNvSpPr>
          <p:nvPr/>
        </p:nvSpPr>
        <p:spPr>
          <a:xfrm>
            <a:off x="1524000" y="1714500"/>
            <a:ext cx="9144000" cy="809625"/>
          </a:xfrm>
          <a:prstGeom prst="rect">
            <a:avLst/>
          </a:prstGeom>
          <a:solidFill>
            <a:srgbClr val="0C1D2D"/>
          </a:solidFill>
          <a:ln w="9525">
            <a:solidFill>
              <a:srgbClr val="1B4057"/>
            </a:solidFill>
          </a:ln>
        </p:spPr>
        <p:txBody>
          <a:bodyPr anchor="t">
            <a:noAutofit/>
          </a:bodyPr>
          <a:lstStyle/>
          <a:p>
            <a:pPr>
              <a:defRPr sz="22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2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git log --oneline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4CF9E9-F306-444D-BEDF-7312822F3FBF}"/>
              </a:ext>
            </a:extLst>
          </p:cNvPr>
          <p:cNvSpPr>
            <a:spLocks noGrp="1"/>
          </p:cNvSpPr>
          <p:nvPr/>
        </p:nvSpPr>
        <p:spPr>
          <a:xfrm>
            <a:off x="1524000" y="2952750"/>
            <a:ext cx="9144000" cy="857250"/>
          </a:xfrm>
          <a:prstGeom prst="rect">
            <a:avLst/>
          </a:prstGeom>
          <a:solidFill>
            <a:srgbClr val="0C1D2D"/>
          </a:solidFill>
          <a:ln w="0">
            <a:noFill/>
          </a:ln>
        </p:spPr>
        <p:txBody>
          <a:bodyPr anchor="ctr">
            <a:noAutofit/>
          </a:bodyPr>
          <a:lstStyle/>
          <a:p>
            <a:pPr>
              <a:defRPr sz="2100" b="0">
                <a:solidFill>
                  <a:srgbClr val="71D49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0">
                <a:solidFill>
                  <a:srgbClr val="71D49B"/>
                </a:solidFill>
                <a:latin typeface="DejaVu Sans Mono"/>
                <a:ea typeface="DejaVu Sans Mono"/>
                <a:cs typeface="DejaVu Sans Mono"/>
              </a:rPr>
              <a:t>a1b2c3d Add first HTML page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24E775-8041-4E07-A4B2-88AFD4EC3D4A}"/>
              </a:ext>
            </a:extLst>
          </p:cNvPr>
          <p:cNvSpPr>
            <a:spLocks noGrp="1"/>
          </p:cNvSpPr>
          <p:nvPr/>
        </p:nvSpPr>
        <p:spPr>
          <a:xfrm>
            <a:off x="2095500" y="4333875"/>
            <a:ext cx="8001000" cy="1524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54000" indent="-127000">
              <a:spcAft>
                <a:spcPts val="800"/>
              </a:spcAft>
              <a:buChar char="•"/>
              <a:defRPr sz="150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ձախ կողմում commit-ի կարճ hash-ն է</a:t>
            </a:r>
          </a:p>
          <a:p>
            <a:pPr marL="254000" indent="-127000">
              <a:spcAft>
                <a:spcPts val="800"/>
              </a:spcAft>
              <a:buChar char="•"/>
              <a:defRPr sz="150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աջ կողմում commit message-ն է</a:t>
            </a:r>
          </a:p>
          <a:p>
            <a:pPr marL="254000" indent="-127000">
              <a:spcAft>
                <a:spcPts val="800"/>
              </a:spcAft>
              <a:buChar char="•"/>
              <a:defRPr sz="150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վերջին commit-ը ցուցակի վերևում է</a:t>
            </a:r>
          </a:p>
          <a:p>
            <a:pPr marL="254000" indent="-127000">
              <a:spcAft>
                <a:spcPts val="800"/>
              </a:spcAft>
              <a:buChar char="•"/>
              <a:defRPr sz="150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hash-ը յուրաքանչյուր commit-ի նույնականացուցիչն է</a:t>
            </a:r>
          </a:p>
        </p:txBody>
      </p:sp>
    </p:spTree>
    <p:extLst>
      <p:ext uri="{BB962C8B-B14F-4D97-AF65-F5344CB8AC3E}">
        <p14:creationId xmlns:p14="http://schemas.microsoft.com/office/powerpoint/2010/main" val="159570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2F2AB3E-3D72-4762-B558-D524A23E9C1C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6667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  21  ԼԱԲՈՐԱՏՈՐ ԱՇԽԱՏԱՆՔ 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7C479A-4E61-4F68-8A31-B084FB7B5F55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00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Քայլ 7  Դատարկ repository GitHub-ում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F49C80-6451-485D-B5B9-68745D796A25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11068050" cy="19050"/>
          </a:xfrm>
          <a:prstGeom prst="rect">
            <a:avLst/>
          </a:prstGeom>
          <a:solidFill>
            <a:srgbClr val="1B4057"/>
          </a:solidFill>
          <a:ln w="0">
            <a:noFill/>
          </a:ln>
        </p:spPr>
        <p:txBody>
          <a:bodyPr anchor="t">
            <a:noAutofit/>
          </a:bodyPr>
          <a:lstStyle/>
          <a:p>
            <a:endParaRPr/>
          </a:p>
        </p:txBody>
      </p:sp>
      <p:graphicFrame>
        <p:nvGraphicFramePr>
          <p:cNvPr id="9" name="Table 8"/>
          <p:cNvGraphicFramePr/>
          <p:nvPr/>
        </p:nvGraphicFramePr>
        <p:xfrm>
          <a:off x="1428750" y="1428750"/>
          <a:ext cx="9334500" cy="4000500"/>
        </p:xfrm>
        <a:graphic>
          <a:graphicData uri="http://schemas.openxmlformats.org/drawingml/2006/table">
            <a:tbl>
              <a:tblPr firstRow="1" bandRow="1"/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0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Քայլ</a:t>
                      </a:r>
                    </a:p>
                  </a:txBody>
                  <a:tcPr anchor="ctr">
                    <a:solidFill>
                      <a:srgbClr val="1129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Գործողություն</a:t>
                      </a:r>
                    </a:p>
                  </a:txBody>
                  <a:tcPr anchor="ctr">
                    <a:solidFill>
                      <a:srgbClr val="1129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GitHub-ում սեղմել New repository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գրել git-first-lab անունը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ընտրել Public կամ պահանջված Private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չընտրել README, .gitignore և License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սեղմել Create repository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պատճենել HTTPS URL-ը Quick Setup էջից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4FE66815-F3F0-4152-9F1E-C91EAEB3CBEE}"/>
              </a:ext>
            </a:extLst>
          </p:cNvPr>
          <p:cNvSpPr>
            <a:spLocks noGrp="1"/>
          </p:cNvSpPr>
          <p:nvPr/>
        </p:nvSpPr>
        <p:spPr>
          <a:xfrm>
            <a:off x="2095500" y="5715000"/>
            <a:ext cx="80010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75" b="0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rPr>
              <a:t>Օրինակ՝ https://github.com/USERNAME/git-first-lab.git</a:t>
            </a:r>
          </a:p>
        </p:txBody>
      </p:sp>
    </p:spTree>
    <p:extLst>
      <p:ext uri="{BB962C8B-B14F-4D97-AF65-F5344CB8AC3E}">
        <p14:creationId xmlns:p14="http://schemas.microsoft.com/office/powerpoint/2010/main" val="20832366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1AE546F-7666-4829-A64C-181EAE21EA13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6667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  22  ԼԱԲՈՐԱՏՈՐ ԱՇԽԱՏԱՆՔ 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AE0D41-8750-441A-A5B8-975E069E899D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00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Քայլ 8  origin remote-ի ավելացում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E73DE7-EF82-4546-8530-01331E6DA263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11068050" cy="19050"/>
          </a:xfrm>
          <a:prstGeom prst="rect">
            <a:avLst/>
          </a:prstGeom>
          <a:solidFill>
            <a:srgbClr val="1B4057"/>
          </a:solidFill>
          <a:ln w="0">
            <a:noFill/>
          </a:ln>
        </p:spPr>
        <p:txBody>
          <a:bodyPr anchor="t">
            <a:noAutofit/>
          </a:bodyPr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77F8CB-9C8F-40AA-B630-F7C62418629B}"/>
              </a:ext>
            </a:extLst>
          </p:cNvPr>
          <p:cNvSpPr>
            <a:spLocks noGrp="1"/>
          </p:cNvSpPr>
          <p:nvPr/>
        </p:nvSpPr>
        <p:spPr>
          <a:xfrm>
            <a:off x="619125" y="1571625"/>
            <a:ext cx="10953750" cy="1476375"/>
          </a:xfrm>
          <a:prstGeom prst="rect">
            <a:avLst/>
          </a:prstGeom>
          <a:solidFill>
            <a:srgbClr val="0C1D2D"/>
          </a:solidFill>
          <a:ln w="9525">
            <a:solidFill>
              <a:srgbClr val="1B4057"/>
            </a:solidFill>
          </a:ln>
        </p:spPr>
        <p:txBody>
          <a:bodyPr anchor="t">
            <a:noAutofit/>
          </a:bodyPr>
          <a:lstStyle/>
          <a:p>
            <a:pPr>
              <a:defRPr sz="16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git remote add origin https://github.com/USERNAME/git-first-lab.git</a:t>
            </a:r>
          </a:p>
          <a:p>
            <a:pPr>
              <a:defRPr sz="16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git remote -v</a:t>
            </a:r>
          </a:p>
        </p:txBody>
      </p:sp>
      <p:graphicFrame>
        <p:nvGraphicFramePr>
          <p:cNvPr id="10" name="Table 9"/>
          <p:cNvGraphicFramePr/>
          <p:nvPr/>
        </p:nvGraphicFramePr>
        <p:xfrm>
          <a:off x="2000250" y="3619500"/>
          <a:ext cx="8191500" cy="2190750"/>
        </p:xfrm>
        <a:graphic>
          <a:graphicData uri="http://schemas.openxmlformats.org/drawingml/2006/table">
            <a:tbl>
              <a:tblPr firstRow="1" bandRow="1"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7688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Անվանում</a:t>
                      </a:r>
                    </a:p>
                  </a:txBody>
                  <a:tcPr anchor="ctr">
                    <a:solidFill>
                      <a:srgbClr val="1129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Իմաստ</a:t>
                      </a:r>
                    </a:p>
                  </a:txBody>
                  <a:tcPr anchor="ctr">
                    <a:solidFill>
                      <a:srgbClr val="1129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origin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GitHub repository-ի ընդունված կարճ անունը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fetch URL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որտեղից Git-ը ստանում է փոփոխությունները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push URL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որտեղ Git-ը ուղարկում է commit-ները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2695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3ED7B01-4FEC-45A3-892D-6B688E88E499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6667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  23  ԼԱԲՈՐԱՏՈՐ ԱՇԽԱՏԱՆՔ 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D82D23-00E7-44E9-8F5C-461FEB234680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00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Քայլ 9  Առաջին push և նույնականացում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A4F531-5A47-4581-A73E-6F99C5BEAA4E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11068050" cy="19050"/>
          </a:xfrm>
          <a:prstGeom prst="rect">
            <a:avLst/>
          </a:prstGeom>
          <a:solidFill>
            <a:srgbClr val="1B4057"/>
          </a:solidFill>
          <a:ln w="0">
            <a:noFill/>
          </a:ln>
        </p:spPr>
        <p:txBody>
          <a:bodyPr anchor="t">
            <a:noAutofit/>
          </a:bodyPr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A97AE0-318F-4089-ACA4-AC9E1307B28E}"/>
              </a:ext>
            </a:extLst>
          </p:cNvPr>
          <p:cNvSpPr>
            <a:spLocks noGrp="1"/>
          </p:cNvSpPr>
          <p:nvPr/>
        </p:nvSpPr>
        <p:spPr>
          <a:xfrm>
            <a:off x="1619250" y="1666875"/>
            <a:ext cx="8953500" cy="809625"/>
          </a:xfrm>
          <a:prstGeom prst="rect">
            <a:avLst/>
          </a:prstGeom>
          <a:solidFill>
            <a:srgbClr val="0C1D2D"/>
          </a:solidFill>
          <a:ln w="9525">
            <a:solidFill>
              <a:srgbClr val="1B4057"/>
            </a:solidFill>
          </a:ln>
        </p:spPr>
        <p:txBody>
          <a:bodyPr anchor="t">
            <a:noAutofit/>
          </a:bodyPr>
          <a:lstStyle/>
          <a:p>
            <a:pPr>
              <a:defRPr sz="22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2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git push -u origin main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D1A087-61E2-47B2-BE1F-B5762EA38D58}"/>
              </a:ext>
            </a:extLst>
          </p:cNvPr>
          <p:cNvSpPr>
            <a:spLocks noGrp="1"/>
          </p:cNvSpPr>
          <p:nvPr/>
        </p:nvSpPr>
        <p:spPr>
          <a:xfrm>
            <a:off x="1190625" y="3048000"/>
            <a:ext cx="9810750" cy="2143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54000" indent="-127000">
              <a:spcAft>
                <a:spcPts val="1100"/>
              </a:spcAft>
              <a:buChar char="•"/>
              <a:defRPr sz="1575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առաջին push-ի ժամանակ կարող է բացվել GitHub-ի մուտքի պատուհան</a:t>
            </a:r>
          </a:p>
          <a:p>
            <a:pPr marL="254000" indent="-127000">
              <a:spcAft>
                <a:spcPts val="1100"/>
              </a:spcAft>
              <a:buChar char="•"/>
              <a:defRPr sz="1575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մուտք գործել այն հաշվով, որտեղ ստեղծվել է repository-ն</a:t>
            </a:r>
          </a:p>
          <a:p>
            <a:pPr marL="254000" indent="-127000">
              <a:spcAft>
                <a:spcPts val="1100"/>
              </a:spcAft>
              <a:buChar char="•"/>
              <a:defRPr sz="1575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-u-ը կապում է տեղային main branch-ը origin/main branch-ի հետ</a:t>
            </a:r>
          </a:p>
          <a:p>
            <a:pPr marL="254000" indent="-127000">
              <a:spcAft>
                <a:spcPts val="1100"/>
              </a:spcAft>
              <a:buChar char="•"/>
              <a:defRPr sz="1575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հաջորդ անգամ նույն branch-ից բավարար կլինի git push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E52D29-39A9-4C41-98FE-E80300219528}"/>
              </a:ext>
            </a:extLst>
          </p:cNvPr>
          <p:cNvSpPr>
            <a:spLocks noGrp="1"/>
          </p:cNvSpPr>
          <p:nvPr/>
        </p:nvSpPr>
        <p:spPr>
          <a:xfrm>
            <a:off x="1476375" y="5572125"/>
            <a:ext cx="92392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425" b="1">
                <a:solidFill>
                  <a:srgbClr val="FF7B8B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7B8B"/>
                </a:solidFill>
                <a:latin typeface="DejaVu Sans"/>
                <a:ea typeface="DejaVu Sans"/>
                <a:cs typeface="DejaVu Sans"/>
              </a:rPr>
              <a:t>Account password-ը terminal-ում GitHub authentication-ի համար չի օգտագործվում</a:t>
            </a:r>
          </a:p>
        </p:txBody>
      </p:sp>
    </p:spTree>
    <p:extLst>
      <p:ext uri="{BB962C8B-B14F-4D97-AF65-F5344CB8AC3E}">
        <p14:creationId xmlns:p14="http://schemas.microsoft.com/office/powerpoint/2010/main" val="19155566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911CF5C-F52A-4485-BD7E-AE3C7CB2150D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6667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  24  ԼԱԲՈՐԱՏՈՐ ԱՇԽԱՏԱՆՔ 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CC11155-BAD6-460C-9DE1-5D44C6F2A6A1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00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Քայլ 10  Արդյունքի ստուգում GitHub-ում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37AE2E-28D3-4968-A970-3E71F4532499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11068050" cy="19050"/>
          </a:xfrm>
          <a:prstGeom prst="rect">
            <a:avLst/>
          </a:prstGeom>
          <a:solidFill>
            <a:srgbClr val="1B4057"/>
          </a:solidFill>
          <a:ln w="0">
            <a:noFill/>
          </a:ln>
        </p:spPr>
        <p:txBody>
          <a:bodyPr anchor="t">
            <a:noAutofit/>
          </a:bodyPr>
          <a:lstStyle/>
          <a:p>
            <a:endParaRPr/>
          </a:p>
        </p:txBody>
      </p:sp>
      <p:graphicFrame>
        <p:nvGraphicFramePr>
          <p:cNvPr id="9" name="Table 8"/>
          <p:cNvGraphicFramePr/>
          <p:nvPr/>
        </p:nvGraphicFramePr>
        <p:xfrm>
          <a:off x="1333500" y="1524000"/>
          <a:ext cx="9525000" cy="3619500"/>
        </p:xfrm>
        <a:graphic>
          <a:graphicData uri="http://schemas.openxmlformats.org/drawingml/2006/table">
            <a:tbl>
              <a:tblPr firstRow="1" bandRow="1"/>
              <a:tblGrid>
                <a:gridCol w="3905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1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32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Ստուգում</a:t>
                      </a:r>
                    </a:p>
                  </a:txBody>
                  <a:tcPr anchor="ctr">
                    <a:solidFill>
                      <a:srgbClr val="1129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Սպասվող արդյունք</a:t>
                      </a:r>
                    </a:p>
                  </a:txBody>
                  <a:tcPr anchor="ctr">
                    <a:solidFill>
                      <a:srgbClr val="1129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repository-ի գլխավոր էջ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երևում է index.html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Commits բաժին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երևում է Add first HTML page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branch ընտրիչ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ընտրված է main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index.html ֆայլ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բացվում է HTML կոդը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URL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պարունակում է ճիշտ username և repository անունը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71F59AC1-8539-4695-8787-39DCC6D37DE8}"/>
              </a:ext>
            </a:extLst>
          </p:cNvPr>
          <p:cNvSpPr>
            <a:spLocks noGrp="1"/>
          </p:cNvSpPr>
          <p:nvPr/>
        </p:nvSpPr>
        <p:spPr>
          <a:xfrm>
            <a:off x="1619250" y="5476875"/>
            <a:ext cx="89535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650" b="1">
                <a:solidFill>
                  <a:srgbClr val="71D49B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71D49B"/>
                </a:solidFill>
                <a:latin typeface="DejaVu Sans"/>
                <a:ea typeface="DejaVu Sans"/>
                <a:cs typeface="DejaVu Sans"/>
              </a:rPr>
              <a:t>Եթե ֆայլը երևում է GitHub-ում, առաջին push-ը հաջող է</a:t>
            </a:r>
          </a:p>
        </p:txBody>
      </p:sp>
    </p:spTree>
    <p:extLst>
      <p:ext uri="{BB962C8B-B14F-4D97-AF65-F5344CB8AC3E}">
        <p14:creationId xmlns:p14="http://schemas.microsoft.com/office/powerpoint/2010/main" val="3200022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D5E55E5-C943-4B2B-BACD-A37F04EC5920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6667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  25  GIT ԵՎ GITHUB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7F08E69-56DE-44CB-9B34-F8EE91370FB5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00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Երկրորդ փոփոխության ամբողջ ցիկլը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E1DB37-348B-464C-AEC1-61865549DD9D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11068050" cy="19050"/>
          </a:xfrm>
          <a:prstGeom prst="rect">
            <a:avLst/>
          </a:prstGeom>
          <a:solidFill>
            <a:srgbClr val="1B4057"/>
          </a:solidFill>
          <a:ln w="0">
            <a:noFill/>
          </a:ln>
        </p:spPr>
        <p:txBody>
          <a:bodyPr anchor="t">
            <a:noAutofit/>
          </a:bodyPr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F98DC3-5BA6-438A-8F58-B3550679BD1F}"/>
              </a:ext>
            </a:extLst>
          </p:cNvPr>
          <p:cNvSpPr>
            <a:spLocks noGrp="1"/>
          </p:cNvSpPr>
          <p:nvPr/>
        </p:nvSpPr>
        <p:spPr>
          <a:xfrm>
            <a:off x="1285875" y="1476375"/>
            <a:ext cx="9620250" cy="2857500"/>
          </a:xfrm>
          <a:prstGeom prst="rect">
            <a:avLst/>
          </a:prstGeom>
          <a:solidFill>
            <a:srgbClr val="0C1D2D"/>
          </a:solidFill>
          <a:ln w="9525">
            <a:solidFill>
              <a:srgbClr val="1B4057"/>
            </a:solidFill>
          </a:ln>
        </p:spPr>
        <p:txBody>
          <a:bodyPr anchor="t">
            <a:noAutofit/>
          </a:bodyPr>
          <a:lstStyle/>
          <a:p>
            <a:pPr>
              <a:defRPr sz="18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# 1. փոխել index.html-ը և պահպանել</a:t>
            </a:r>
          </a:p>
          <a:p>
            <a:pPr>
              <a:defRPr sz="18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git status</a:t>
            </a:r>
          </a:p>
          <a:p>
            <a:pPr>
              <a:defRPr sz="18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git diff</a:t>
            </a:r>
          </a:p>
          <a:p>
            <a:pPr>
              <a:defRPr sz="18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git add index.html</a:t>
            </a:r>
          </a:p>
          <a:p>
            <a:pPr>
              <a:defRPr sz="18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git commit -m "Update page content"</a:t>
            </a:r>
          </a:p>
          <a:p>
            <a:pPr>
              <a:defRPr sz="18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git push</a:t>
            </a:r>
          </a:p>
        </p:txBody>
      </p:sp>
      <p:graphicFrame>
        <p:nvGraphicFramePr>
          <p:cNvPr id="10" name="Table 9"/>
          <p:cNvGraphicFramePr/>
          <p:nvPr/>
        </p:nvGraphicFramePr>
        <p:xfrm>
          <a:off x="1476375" y="4667250"/>
          <a:ext cx="9239250" cy="1476375"/>
        </p:xfrm>
        <a:graphic>
          <a:graphicData uri="http://schemas.openxmlformats.org/drawingml/2006/table">
            <a:tbl>
              <a:tblPr firstRow="1" bandRow="1"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063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Հրաման</a:t>
                      </a:r>
                    </a:p>
                  </a:txBody>
                  <a:tcPr anchor="ctr">
                    <a:solidFill>
                      <a:srgbClr val="1129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Հարց, որին պատասխանում է</a:t>
                      </a:r>
                    </a:p>
                  </a:txBody>
                  <a:tcPr anchor="ctr">
                    <a:solidFill>
                      <a:srgbClr val="1129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063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DCE7F2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git status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ո՞ր ֆայլերն են փոխվել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063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DCE7F2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git diff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ի՞նչ է փոխվել տողերի մակարդակով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063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DCE7F2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git add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ի՞նչ է մտնելու commit-ի մեջ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063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DCE7F2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git commit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ինչպե՞ս է փոփոխությունը պահպանվում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063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DCE7F2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git push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ինչպե՞ս է commit-ը հասնում GitHub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15416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CE3D486-83C3-47F9-A1BE-801006793E3B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6667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  26  GIT ԵՎ GITHUB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F3F0CE-17A9-4FCD-B552-EAECC7F20176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00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git init և git clone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18ADFD-C369-4573-A293-3E577649DAC3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11068050" cy="19050"/>
          </a:xfrm>
          <a:prstGeom prst="rect">
            <a:avLst/>
          </a:prstGeom>
          <a:solidFill>
            <a:srgbClr val="1B4057"/>
          </a:solidFill>
          <a:ln w="0">
            <a:noFill/>
          </a:ln>
        </p:spPr>
        <p:txBody>
          <a:bodyPr anchor="t">
            <a:noAutofit/>
          </a:bodyPr>
          <a:lstStyle/>
          <a:p>
            <a:endParaRPr/>
          </a:p>
        </p:txBody>
      </p:sp>
      <p:graphicFrame>
        <p:nvGraphicFramePr>
          <p:cNvPr id="10" name="Table 9"/>
          <p:cNvGraphicFramePr/>
          <p:nvPr/>
        </p:nvGraphicFramePr>
        <p:xfrm>
          <a:off x="762000" y="1714500"/>
          <a:ext cx="10668000" cy="2286000"/>
        </p:xfrm>
        <a:graphic>
          <a:graphicData uri="http://schemas.openxmlformats.org/drawingml/2006/table">
            <a:tbl>
              <a:tblPr firstRow="1" bandRow="1"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Գործողություն</a:t>
                      </a:r>
                    </a:p>
                  </a:txBody>
                  <a:tcPr anchor="ctr">
                    <a:solidFill>
                      <a:srgbClr val="1129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Երբ կիրառել</a:t>
                      </a:r>
                    </a:p>
                  </a:txBody>
                  <a:tcPr anchor="ctr">
                    <a:solidFill>
                      <a:srgbClr val="1129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Արդյունք</a:t>
                      </a:r>
                    </a:p>
                  </a:txBody>
                  <a:tcPr anchor="ctr">
                    <a:solidFill>
                      <a:srgbClr val="1129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git init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պանակը արդեն համակարգչում է և Git պատմություն չունի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ստեղծվում է նոր տեղային repository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git clone URL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repository-ն արդեն կա GitHub-ում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ներբեռնվում են ֆայլերը, պատմությունը և origin կապը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5FF9B02A-2ABB-4FA2-8BD3-5E30E08584C6}"/>
              </a:ext>
            </a:extLst>
          </p:cNvPr>
          <p:cNvSpPr>
            <a:spLocks noGrp="1"/>
          </p:cNvSpPr>
          <p:nvPr/>
        </p:nvSpPr>
        <p:spPr>
          <a:xfrm>
            <a:off x="1714500" y="4762500"/>
            <a:ext cx="8763000" cy="714375"/>
          </a:xfrm>
          <a:prstGeom prst="rect">
            <a:avLst/>
          </a:prstGeom>
          <a:solidFill>
            <a:srgbClr val="0C1D2D"/>
          </a:solidFill>
          <a:ln w="9525">
            <a:solidFill>
              <a:srgbClr val="1B4057"/>
            </a:solidFill>
          </a:ln>
        </p:spPr>
        <p:txBody>
          <a:bodyPr anchor="t">
            <a:noAutofit/>
          </a:bodyPr>
          <a:lstStyle/>
          <a:p>
            <a:pPr>
              <a:defRPr sz="16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git clone https://github.com/USERNAME/project.git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550CD7-3E52-4A26-94E0-8B3C42835AAB}"/>
              </a:ext>
            </a:extLst>
          </p:cNvPr>
          <p:cNvSpPr>
            <a:spLocks noGrp="1"/>
          </p:cNvSpPr>
          <p:nvPr/>
        </p:nvSpPr>
        <p:spPr>
          <a:xfrm>
            <a:off x="1952625" y="5715000"/>
            <a:ext cx="82867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350" b="1">
                <a:solidFill>
                  <a:srgbClr val="FFCC7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CC7A"/>
                </a:solidFill>
                <a:latin typeface="DejaVu Sans"/>
                <a:ea typeface="DejaVu Sans"/>
                <a:cs typeface="DejaVu Sans"/>
              </a:rPr>
              <a:t>Նույն նախագծի համար init և clone քայլերը միասին չեն պահանջվում</a:t>
            </a:r>
          </a:p>
        </p:txBody>
      </p:sp>
    </p:spTree>
    <p:extLst>
      <p:ext uri="{BB962C8B-B14F-4D97-AF65-F5344CB8AC3E}">
        <p14:creationId xmlns:p14="http://schemas.microsoft.com/office/powerpoint/2010/main" val="6534277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F7E24F-D33E-4B93-BD10-379E4228925D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6667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  27  GIT ԵՎ GITHUB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7C0784-873C-4A4F-96F5-AF835E540295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00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fetch, pull և push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A43D53-76C6-4C54-BE18-4C8DA31296CA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11068050" cy="19050"/>
          </a:xfrm>
          <a:prstGeom prst="rect">
            <a:avLst/>
          </a:prstGeom>
          <a:solidFill>
            <a:srgbClr val="1B4057"/>
          </a:solidFill>
          <a:ln w="0">
            <a:noFill/>
          </a:ln>
        </p:spPr>
        <p:txBody>
          <a:bodyPr anchor="t">
            <a:noAutofit/>
          </a:bodyPr>
          <a:lstStyle/>
          <a:p>
            <a:endParaRPr/>
          </a:p>
        </p:txBody>
      </p:sp>
      <p:graphicFrame>
        <p:nvGraphicFramePr>
          <p:cNvPr id="9" name="Table 8"/>
          <p:cNvGraphicFramePr/>
          <p:nvPr/>
        </p:nvGraphicFramePr>
        <p:xfrm>
          <a:off x="666750" y="1714500"/>
          <a:ext cx="10858500" cy="2667000"/>
        </p:xfrm>
        <a:graphic>
          <a:graphicData uri="http://schemas.openxmlformats.org/drawingml/2006/table">
            <a:tbl>
              <a:tblPr firstRow="1" bandRow="1"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Հրաման</a:t>
                      </a:r>
                    </a:p>
                  </a:txBody>
                  <a:tcPr anchor="ctr">
                    <a:solidFill>
                      <a:srgbClr val="1129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Ուղղություն</a:t>
                      </a:r>
                    </a:p>
                  </a:txBody>
                  <a:tcPr anchor="ctr">
                    <a:solidFill>
                      <a:srgbClr val="1129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Ինչ է անում</a:t>
                      </a:r>
                    </a:p>
                  </a:txBody>
                  <a:tcPr anchor="ctr">
                    <a:solidFill>
                      <a:srgbClr val="1129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git fetch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GitHub → local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բերում է remote տեղեկությունը՝ առանց միացնելու ընթացիկ աշխատանքին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git pull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GitHub → working directory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բերում և միացնում է փոփոխությունները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git push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local commits → GitHub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ուղարկում է տեղային commit-ները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FA36E32D-4878-4989-83B7-96426225248B}"/>
              </a:ext>
            </a:extLst>
          </p:cNvPr>
          <p:cNvSpPr>
            <a:spLocks noGrp="1"/>
          </p:cNvSpPr>
          <p:nvPr/>
        </p:nvSpPr>
        <p:spPr>
          <a:xfrm>
            <a:off x="1333500" y="4953000"/>
            <a:ext cx="9525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Համագործակցության ժամանակ աշխատանքը սովորաբար սկսվում է git pull-ով և ավարտվում git push-ով</a:t>
            </a:r>
          </a:p>
        </p:txBody>
      </p:sp>
    </p:spTree>
    <p:extLst>
      <p:ext uri="{BB962C8B-B14F-4D97-AF65-F5344CB8AC3E}">
        <p14:creationId xmlns:p14="http://schemas.microsoft.com/office/powerpoint/2010/main" val="13650126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17E8C8E-67EF-4D31-8CFB-60031C9F648C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6667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  28  GIT ԵՎ GITHUB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61DF77-1695-429F-9C14-1EDE8DE3E730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00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.gitignore և գաղտնի տվյալներ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3DDB54-6ABE-452F-81E2-E0564B227964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11068050" cy="19050"/>
          </a:xfrm>
          <a:prstGeom prst="rect">
            <a:avLst/>
          </a:prstGeom>
          <a:solidFill>
            <a:srgbClr val="1B4057"/>
          </a:solidFill>
          <a:ln w="0">
            <a:noFill/>
          </a:ln>
        </p:spPr>
        <p:txBody>
          <a:bodyPr anchor="t">
            <a:noAutofit/>
          </a:bodyPr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BE23B6-24B1-496E-9D53-C3D16FEB8559}"/>
              </a:ext>
            </a:extLst>
          </p:cNvPr>
          <p:cNvSpPr>
            <a:spLocks noGrp="1"/>
          </p:cNvSpPr>
          <p:nvPr/>
        </p:nvSpPr>
        <p:spPr>
          <a:xfrm>
            <a:off x="857250" y="1571625"/>
            <a:ext cx="4095750" cy="2857500"/>
          </a:xfrm>
          <a:prstGeom prst="rect">
            <a:avLst/>
          </a:prstGeom>
          <a:solidFill>
            <a:srgbClr val="0C1D2D"/>
          </a:solidFill>
          <a:ln w="9525">
            <a:solidFill>
              <a:srgbClr val="1B4057"/>
            </a:solidFill>
          </a:ln>
        </p:spPr>
        <p:txBody>
          <a:bodyPr anchor="t">
            <a:noAutofit/>
          </a:bodyPr>
          <a:lstStyle/>
          <a:p>
            <a:pPr>
              <a:defRPr sz="21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# .gitignore</a:t>
            </a:r>
          </a:p>
          <a:p>
            <a:pPr>
              <a:defRPr sz="21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.env</a:t>
            </a:r>
          </a:p>
          <a:p>
            <a:pPr>
              <a:defRPr sz="21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node_modules/</a:t>
            </a:r>
          </a:p>
          <a:p>
            <a:pPr>
              <a:defRPr sz="21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.vscode/</a:t>
            </a:r>
          </a:p>
          <a:p>
            <a:pPr>
              <a:defRPr sz="21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*.log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235C45-4976-4549-B910-BD87D2602667}"/>
              </a:ext>
            </a:extLst>
          </p:cNvPr>
          <p:cNvSpPr>
            <a:spLocks noGrp="1"/>
          </p:cNvSpPr>
          <p:nvPr/>
        </p:nvSpPr>
        <p:spPr>
          <a:xfrm>
            <a:off x="5619750" y="1571625"/>
            <a:ext cx="5810250" cy="3048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54000" indent="-127000">
              <a:spcAft>
                <a:spcPts val="1100"/>
              </a:spcAft>
              <a:buChar char="•"/>
              <a:defRPr sz="150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.gitignore-ը նշում է ֆայլեր և պանակներ, որոնց Git-ը չպետք է հետևի</a:t>
            </a:r>
          </a:p>
          <a:p>
            <a:pPr marL="254000" indent="-127000">
              <a:spcAft>
                <a:spcPts val="1100"/>
              </a:spcAft>
              <a:buChar char="•"/>
              <a:defRPr sz="150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գաղտնաբառերը, token-ները և API key-երը չեն commit-վում</a:t>
            </a:r>
          </a:p>
          <a:p>
            <a:pPr marL="254000" indent="-127000">
              <a:spcAft>
                <a:spcPts val="1100"/>
              </a:spcAft>
              <a:buChar char="•"/>
              <a:defRPr sz="150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արդեն commit արված գաղտնիքի համար միայն .gitignore ավելացնելը բավարար չէ</a:t>
            </a:r>
          </a:p>
          <a:p>
            <a:pPr marL="254000" indent="-127000">
              <a:spcAft>
                <a:spcPts val="1100"/>
              </a:spcAft>
              <a:buChar char="•"/>
              <a:defRPr sz="150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GitHub-ը կարող է արգելափակել push-ը, եթե հայտնաբերի աջակցվող գաղտնիք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5378F4-3459-4453-A53B-09D87BB1D15D}"/>
              </a:ext>
            </a:extLst>
          </p:cNvPr>
          <p:cNvSpPr>
            <a:spLocks noGrp="1"/>
          </p:cNvSpPr>
          <p:nvPr/>
        </p:nvSpPr>
        <p:spPr>
          <a:xfrm>
            <a:off x="1476375" y="5334000"/>
            <a:ext cx="92392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75" b="1">
                <a:solidFill>
                  <a:srgbClr val="FF7B8B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F7B8B"/>
                </a:solidFill>
                <a:latin typeface="DejaVu Sans"/>
                <a:ea typeface="DejaVu Sans"/>
                <a:cs typeface="DejaVu Sans"/>
              </a:rPr>
              <a:t>Public repository-ի ամբողջ պարունակությունը հասանելի է համացանցում</a:t>
            </a:r>
          </a:p>
        </p:txBody>
      </p:sp>
    </p:spTree>
    <p:extLst>
      <p:ext uri="{BB962C8B-B14F-4D97-AF65-F5344CB8AC3E}">
        <p14:creationId xmlns:p14="http://schemas.microsoft.com/office/powerpoint/2010/main" val="16884618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D48521B-AB12-4428-AD36-AB550F280317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6667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  29  GIT ԵՎ GITHUB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5D7AF2-1205-4060-8E68-51FB6FC293F6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00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Հաճախ հանդիպող սխալներ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06105E-CE5B-4E4E-A399-349FD9C9FDC9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11068050" cy="19050"/>
          </a:xfrm>
          <a:prstGeom prst="rect">
            <a:avLst/>
          </a:prstGeom>
          <a:solidFill>
            <a:srgbClr val="1B4057"/>
          </a:solidFill>
          <a:ln w="0">
            <a:noFill/>
          </a:ln>
        </p:spPr>
        <p:txBody>
          <a:bodyPr anchor="t">
            <a:noAutofit/>
          </a:bodyPr>
          <a:lstStyle/>
          <a:p>
            <a:endParaRPr/>
          </a:p>
        </p:txBody>
      </p:sp>
      <p:graphicFrame>
        <p:nvGraphicFramePr>
          <p:cNvPr id="8" name="Table 7"/>
          <p:cNvGraphicFramePr/>
          <p:nvPr/>
        </p:nvGraphicFramePr>
        <p:xfrm>
          <a:off x="428625" y="1381125"/>
          <a:ext cx="11334750" cy="4524376"/>
        </p:xfrm>
        <a:graphic>
          <a:graphicData uri="http://schemas.openxmlformats.org/drawingml/2006/table">
            <a:tbl>
              <a:tblPr firstRow="1" bandRow="1"/>
              <a:tblGrid>
                <a:gridCol w="2905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1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5547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Հաղորդագրություն</a:t>
                      </a:r>
                    </a:p>
                  </a:txBody>
                  <a:tcPr anchor="ctr">
                    <a:solidFill>
                      <a:srgbClr val="1129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Պատճառ</a:t>
                      </a:r>
                    </a:p>
                  </a:txBody>
                  <a:tcPr anchor="ctr">
                    <a:solidFill>
                      <a:srgbClr val="1129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Լուծում</a:t>
                      </a:r>
                    </a:p>
                  </a:txBody>
                  <a:tcPr anchor="ctr">
                    <a:solidFill>
                      <a:srgbClr val="1129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547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not a git repository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terminal-ը repository-ի ներսում չէ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cd ճիշտ պանակ և git status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547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Author identity unknown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name կամ email կարգավորված չէ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git config --global user.name / user.email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547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nothing to commit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staged փոփոխություն չկա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ստուգել status և add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547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remote origin already exists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origin արդեն ավելացված է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git remote -v կամ remote set-url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5547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src refspec main does not match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commit չկա կամ branch-ը main չէ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կատարել commit և ստուգել git branch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5547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Authentication failed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սխալ հաշիվ կամ հին credential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նորից մուտք գործել GitHub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5547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non-fast-forward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remote-ում կան չբերված commit-ներ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git pull, լուծել տարբերությունները, նորից push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29878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67AC656-C475-42DA-A8A5-25DFD3AD43AF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6667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dirty="0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  3</a:t>
            </a:r>
            <a:r>
              <a:rPr lang="ru-RU" sz="975" b="1" dirty="0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0</a:t>
            </a:r>
            <a:r>
              <a:rPr sz="975" b="1" dirty="0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  GIT ԵՎ GITHUB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67786E-3108-4695-A94C-CF6F523A2575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00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Առաջին աշխատանքի հրամանների հուշաթերթ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F991F6-8990-4A1E-9772-63125D3877BD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11068050" cy="19050"/>
          </a:xfrm>
          <a:prstGeom prst="rect">
            <a:avLst/>
          </a:prstGeom>
          <a:solidFill>
            <a:srgbClr val="1B4057"/>
          </a:solidFill>
          <a:ln w="0">
            <a:noFill/>
          </a:ln>
        </p:spPr>
        <p:txBody>
          <a:bodyPr anchor="t">
            <a:noAutofit/>
          </a:bodyPr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14112D-C6AF-4E56-9C89-B618CE21B4A5}"/>
              </a:ext>
            </a:extLst>
          </p:cNvPr>
          <p:cNvSpPr>
            <a:spLocks noGrp="1"/>
          </p:cNvSpPr>
          <p:nvPr/>
        </p:nvSpPr>
        <p:spPr>
          <a:xfrm>
            <a:off x="1000125" y="1381125"/>
            <a:ext cx="10191750" cy="4524375"/>
          </a:xfrm>
          <a:prstGeom prst="rect">
            <a:avLst/>
          </a:prstGeom>
          <a:solidFill>
            <a:srgbClr val="0C1D2D"/>
          </a:solidFill>
          <a:ln w="9525">
            <a:solidFill>
              <a:srgbClr val="1B4057"/>
            </a:solidFill>
          </a:ln>
        </p:spPr>
        <p:txBody>
          <a:bodyPr anchor="t">
            <a:noAutofit/>
          </a:bodyPr>
          <a:lstStyle/>
          <a:p>
            <a:pPr>
              <a:defRPr sz="15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git --version</a:t>
            </a:r>
          </a:p>
          <a:p>
            <a:pPr>
              <a:defRPr sz="15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git config --global user.name "Անուն Ազգանուն"</a:t>
            </a:r>
          </a:p>
          <a:p>
            <a:pPr>
              <a:defRPr sz="15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git config --global user.email "email@example.com"</a:t>
            </a:r>
          </a:p>
          <a:p>
            <a:pPr>
              <a:defRPr sz="15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git config --global init.defaultBranch main</a:t>
            </a:r>
          </a:p>
          <a:p>
            <a:endParaRPr sz="1500" b="0">
              <a:solidFill>
                <a:srgbClr val="D5F3EF"/>
              </a:solidFill>
              <a:latin typeface="DejaVu Sans Mono"/>
              <a:ea typeface="DejaVu Sans Mono"/>
              <a:cs typeface="DejaVu Sans Mono"/>
            </a:endParaRPr>
          </a:p>
          <a:p>
            <a:pPr>
              <a:defRPr sz="15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git init</a:t>
            </a:r>
          </a:p>
          <a:p>
            <a:pPr>
              <a:defRPr sz="15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git status</a:t>
            </a:r>
          </a:p>
          <a:p>
            <a:pPr>
              <a:defRPr sz="15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git add index.html</a:t>
            </a:r>
          </a:p>
          <a:p>
            <a:pPr>
              <a:defRPr sz="15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git commit -m "Add first HTML page"</a:t>
            </a:r>
          </a:p>
          <a:p>
            <a:pPr>
              <a:defRPr sz="15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git log --oneline</a:t>
            </a:r>
          </a:p>
          <a:p>
            <a:endParaRPr sz="1500" b="0">
              <a:solidFill>
                <a:srgbClr val="D5F3EF"/>
              </a:solidFill>
              <a:latin typeface="DejaVu Sans Mono"/>
              <a:ea typeface="DejaVu Sans Mono"/>
              <a:cs typeface="DejaVu Sans Mono"/>
            </a:endParaRPr>
          </a:p>
          <a:p>
            <a:pPr>
              <a:defRPr sz="15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git remote add origin REMOTE-URL</a:t>
            </a:r>
          </a:p>
          <a:p>
            <a:pPr>
              <a:defRPr sz="15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git remote -v</a:t>
            </a:r>
          </a:p>
          <a:p>
            <a:pPr>
              <a:defRPr sz="15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git push -u origin main</a:t>
            </a:r>
          </a:p>
        </p:txBody>
      </p:sp>
    </p:spTree>
    <p:extLst>
      <p:ext uri="{BB962C8B-B14F-4D97-AF65-F5344CB8AC3E}">
        <p14:creationId xmlns:p14="http://schemas.microsoft.com/office/powerpoint/2010/main" val="65513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3101</Words>
  <Application>Microsoft Office PowerPoint</Application>
  <DocSecurity>0</DocSecurity>
  <PresentationFormat>Widescreen</PresentationFormat>
  <Paragraphs>489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Calibri</vt:lpstr>
      <vt:lpstr>DejaVu Sans</vt:lpstr>
      <vt:lpstr>DejaVu Sans Mono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poghosyan sona</cp:lastModifiedBy>
  <cp:revision>1</cp:revision>
  <dcterms:created xsi:type="dcterms:W3CDTF">2026-09-13T21:44:02Z</dcterms:created>
  <dcterms:modified xsi:type="dcterms:W3CDTF">2026-09-14T04:10:08Z</dcterms:modified>
</cp:coreProperties>
</file>