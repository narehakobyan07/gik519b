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61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Դասը</a:t>
            </a:r>
            <a:r>
              <a:rPr dirty="0"/>
              <a:t> </a:t>
            </a:r>
            <a:r>
              <a:rPr dirty="0" err="1"/>
              <a:t>շարունակում</a:t>
            </a:r>
            <a:r>
              <a:rPr dirty="0"/>
              <a:t> է </a:t>
            </a:r>
            <a:r>
              <a:rPr dirty="0" err="1"/>
              <a:t>վեբի</a:t>
            </a:r>
            <a:r>
              <a:rPr dirty="0"/>
              <a:t> </a:t>
            </a:r>
            <a:r>
              <a:rPr dirty="0" err="1"/>
              <a:t>հիմունքները</a:t>
            </a:r>
            <a:r>
              <a:rPr dirty="0"/>
              <a:t> և </a:t>
            </a:r>
            <a:r>
              <a:rPr dirty="0" err="1"/>
              <a:t>կենտրոնանում</a:t>
            </a:r>
            <a:r>
              <a:rPr dirty="0"/>
              <a:t> է HTML </a:t>
            </a:r>
            <a:r>
              <a:rPr dirty="0" err="1"/>
              <a:t>փաստաթղթի</a:t>
            </a:r>
            <a:r>
              <a:rPr dirty="0"/>
              <a:t> </a:t>
            </a:r>
            <a:r>
              <a:rPr dirty="0" err="1"/>
              <a:t>վրա</a:t>
            </a:r>
            <a:r>
              <a:rPr dirty="0"/>
              <a:t>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Բացատրել</a:t>
            </a:r>
            <a:r>
              <a:rPr dirty="0"/>
              <a:t> </a:t>
            </a:r>
            <a:r>
              <a:rPr dirty="0" err="1"/>
              <a:t>երեք</a:t>
            </a:r>
            <a:r>
              <a:rPr dirty="0"/>
              <a:t> </a:t>
            </a:r>
            <a:r>
              <a:rPr dirty="0" err="1"/>
              <a:t>տեխնոլոգիաների</a:t>
            </a:r>
            <a:r>
              <a:rPr dirty="0"/>
              <a:t> </a:t>
            </a:r>
            <a:r>
              <a:rPr dirty="0" err="1"/>
              <a:t>դերերը</a:t>
            </a:r>
            <a:r>
              <a:rPr dirty="0"/>
              <a:t> </a:t>
            </a:r>
            <a:r>
              <a:rPr dirty="0" err="1"/>
              <a:t>մեկ</a:t>
            </a:r>
            <a:r>
              <a:rPr dirty="0"/>
              <a:t> </a:t>
            </a:r>
            <a:r>
              <a:rPr dirty="0" err="1"/>
              <a:t>էջի</a:t>
            </a:r>
            <a:r>
              <a:rPr dirty="0"/>
              <a:t> </a:t>
            </a:r>
            <a:r>
              <a:rPr dirty="0" err="1"/>
              <a:t>օրինակով</a:t>
            </a:r>
            <a:r>
              <a:rPr dirty="0"/>
              <a:t>։ HTML-ը </a:t>
            </a:r>
            <a:r>
              <a:rPr dirty="0" err="1"/>
              <a:t>չպետք</a:t>
            </a:r>
            <a:r>
              <a:rPr dirty="0"/>
              <a:t> է </a:t>
            </a:r>
            <a:r>
              <a:rPr dirty="0" err="1"/>
              <a:t>օգտագործել</a:t>
            </a:r>
            <a:r>
              <a:rPr dirty="0"/>
              <a:t> </a:t>
            </a:r>
            <a:r>
              <a:rPr dirty="0" err="1"/>
              <a:t>միայն</a:t>
            </a:r>
            <a:r>
              <a:rPr dirty="0"/>
              <a:t> </a:t>
            </a:r>
            <a:r>
              <a:rPr dirty="0" err="1"/>
              <a:t>արտաքին</a:t>
            </a:r>
            <a:r>
              <a:rPr dirty="0"/>
              <a:t> </a:t>
            </a:r>
            <a:r>
              <a:rPr dirty="0" err="1"/>
              <a:t>տեսք</a:t>
            </a:r>
            <a:r>
              <a:rPr dirty="0"/>
              <a:t> </a:t>
            </a:r>
            <a:r>
              <a:rPr dirty="0" err="1"/>
              <a:t>ստանալու</a:t>
            </a:r>
            <a:r>
              <a:rPr dirty="0"/>
              <a:t> </a:t>
            </a:r>
            <a:r>
              <a:rPr dirty="0" err="1"/>
              <a:t>համար</a:t>
            </a:r>
            <a:r>
              <a:rPr dirty="0"/>
              <a:t>։</a:t>
            </a:r>
          </a:p>
          <a:p>
            <a:r>
              <a:rPr dirty="0" err="1"/>
              <a:t>Աղբյուրներ</a:t>
            </a:r>
            <a:r>
              <a:rPr dirty="0"/>
              <a:t>՝</a:t>
            </a:r>
          </a:p>
          <a:p>
            <a:r>
              <a:rPr dirty="0"/>
              <a:t>https://html.spec.whatwg.org/dev/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Կոդը</a:t>
            </a:r>
            <a:r>
              <a:rPr dirty="0"/>
              <a:t> </a:t>
            </a:r>
            <a:r>
              <a:rPr dirty="0" err="1"/>
              <a:t>կարդալ</a:t>
            </a:r>
            <a:r>
              <a:rPr dirty="0"/>
              <a:t> </a:t>
            </a:r>
            <a:r>
              <a:rPr dirty="0" err="1"/>
              <a:t>վերևից</a:t>
            </a:r>
            <a:r>
              <a:rPr dirty="0"/>
              <a:t> </a:t>
            </a:r>
            <a:r>
              <a:rPr dirty="0" err="1"/>
              <a:t>ներքև</a:t>
            </a:r>
            <a:r>
              <a:rPr dirty="0"/>
              <a:t> և </a:t>
            </a:r>
            <a:r>
              <a:rPr dirty="0" err="1"/>
              <a:t>ցույց</a:t>
            </a:r>
            <a:r>
              <a:rPr dirty="0"/>
              <a:t> </a:t>
            </a:r>
            <a:r>
              <a:rPr dirty="0" err="1"/>
              <a:t>տալ</a:t>
            </a:r>
            <a:r>
              <a:rPr dirty="0"/>
              <a:t> </a:t>
            </a:r>
            <a:r>
              <a:rPr dirty="0" err="1"/>
              <a:t>բացվող</a:t>
            </a:r>
            <a:r>
              <a:rPr dirty="0"/>
              <a:t> </a:t>
            </a:r>
            <a:r>
              <a:rPr dirty="0" err="1"/>
              <a:t>ու</a:t>
            </a:r>
            <a:r>
              <a:rPr dirty="0"/>
              <a:t> </a:t>
            </a:r>
            <a:r>
              <a:rPr dirty="0" err="1"/>
              <a:t>փակվող</a:t>
            </a:r>
            <a:r>
              <a:rPr dirty="0"/>
              <a:t> </a:t>
            </a:r>
            <a:r>
              <a:rPr dirty="0" err="1"/>
              <a:t>թեգերը</a:t>
            </a:r>
            <a:r>
              <a:rPr dirty="0"/>
              <a:t>։</a:t>
            </a:r>
          </a:p>
          <a:p>
            <a:r>
              <a:rPr dirty="0" err="1"/>
              <a:t>Աղբյուրներ</a:t>
            </a:r>
            <a:r>
              <a:rPr dirty="0"/>
              <a:t>՝</a:t>
            </a:r>
          </a:p>
          <a:p>
            <a:r>
              <a:rPr dirty="0"/>
              <a:t>https://html.spec.whatwg.org/multipage/semantics.html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Մետատվյալները սովորաբար չեն ցուցադրվում էջի հիմնական բովանդակության մեջ, բայց ազդում են բրաուզերի և որոնման համակարգերի աշխատանքի վրա։</a:t>
            </a:r>
          </a:p>
          <a:p>
            <a:r>
              <a:t>Աղբյուրներ՝</a:t>
            </a:r>
          </a:p>
          <a:p>
            <a:r>
              <a:t>https://html.spec.whatwg.org/multipage/semantics.html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 տարրի օրինակով ցույց տալ բացվող թեգը, հատկանիշները, տեքստային բովանդակությունը և փակվող թեգը։ Ամբողջ գրառումը մեկ HTML տարր է։</a:t>
            </a:r>
          </a:p>
          <a:p>
            <a:r>
              <a:t>Աղբյուրներ՝</a:t>
            </a:r>
          </a:p>
          <a:p>
            <a:r>
              <a:t>https://html.spec.whatwg.org/dev/dom.html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h1-ից h6 մակարդակները ձևավորում են փաստաթղթի վերնագրային կառուցվածքը։ Արտաքին տեսքը փոխվում է CSS-ով։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 և i թեգերը հիմնականում տարբերակում են տեքստի արտաքին տեսքը։ strong և em թեգերը փոխանցում են իմաստային կարևորություն կամ շեշտադրում։ mark, small, del, ins, sub և sup թեգերը կիրառվում են իրենց հատուկ իմաստներով։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Ցուցակի</a:t>
            </a:r>
            <a:r>
              <a:rPr dirty="0"/>
              <a:t> </a:t>
            </a:r>
            <a:r>
              <a:rPr dirty="0" err="1"/>
              <a:t>տեսակը</a:t>
            </a:r>
            <a:r>
              <a:rPr dirty="0"/>
              <a:t> </a:t>
            </a:r>
            <a:r>
              <a:rPr dirty="0" err="1"/>
              <a:t>ընտրել</a:t>
            </a:r>
            <a:r>
              <a:rPr dirty="0"/>
              <a:t> </a:t>
            </a:r>
            <a:r>
              <a:rPr dirty="0" err="1"/>
              <a:t>ըստ</a:t>
            </a:r>
            <a:r>
              <a:rPr dirty="0"/>
              <a:t> </a:t>
            </a:r>
            <a:r>
              <a:rPr dirty="0" err="1"/>
              <a:t>բովանդակության</a:t>
            </a:r>
            <a:r>
              <a:rPr dirty="0"/>
              <a:t>։ </a:t>
            </a:r>
            <a:r>
              <a:rPr dirty="0" err="1"/>
              <a:t>Քայլերի</a:t>
            </a:r>
            <a:r>
              <a:rPr dirty="0"/>
              <a:t> </a:t>
            </a:r>
            <a:r>
              <a:rPr dirty="0" err="1"/>
              <a:t>հերթականության</a:t>
            </a:r>
            <a:r>
              <a:rPr dirty="0"/>
              <a:t> </a:t>
            </a:r>
            <a:r>
              <a:rPr dirty="0" err="1"/>
              <a:t>դեպքում</a:t>
            </a:r>
            <a:r>
              <a:rPr dirty="0"/>
              <a:t> </a:t>
            </a:r>
            <a:r>
              <a:rPr dirty="0" err="1"/>
              <a:t>օգտագործել</a:t>
            </a:r>
            <a:r>
              <a:rPr dirty="0"/>
              <a:t> </a:t>
            </a:r>
            <a:r>
              <a:rPr dirty="0" err="1"/>
              <a:t>ol</a:t>
            </a:r>
            <a:r>
              <a:rPr dirty="0"/>
              <a:t>, </a:t>
            </a:r>
            <a:r>
              <a:rPr dirty="0" err="1"/>
              <a:t>իսկ</a:t>
            </a:r>
            <a:r>
              <a:rPr dirty="0"/>
              <a:t> </a:t>
            </a:r>
            <a:r>
              <a:rPr dirty="0" err="1"/>
              <a:t>հավասարարժեք</a:t>
            </a:r>
            <a:r>
              <a:rPr dirty="0"/>
              <a:t> </a:t>
            </a:r>
            <a:r>
              <a:rPr dirty="0" err="1"/>
              <a:t>կետերի</a:t>
            </a:r>
            <a:r>
              <a:rPr dirty="0"/>
              <a:t> </a:t>
            </a:r>
            <a:r>
              <a:rPr dirty="0" err="1"/>
              <a:t>դեպքում</a:t>
            </a:r>
            <a:r>
              <a:rPr dirty="0"/>
              <a:t>՝ </a:t>
            </a:r>
            <a:r>
              <a:rPr dirty="0" err="1"/>
              <a:t>ul</a:t>
            </a:r>
            <a:r>
              <a:rPr dirty="0"/>
              <a:t>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thead և tbody տարրերը բաժանում են աղյուսակի տրամաբանական հատվածները։ th տարրերը օգնում են նաև օժանդակ տեխնոլոգիաներին հասկանալ տվյալների կապը։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Հարաբերական հասցեները հարմար են նույն նախագծի ֆայլերի համար։ Բացարձակ հասցեները անհրաժեշտ են արտաքին ռեսուրսների դեպքում։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Alt տեքստը կարևոր է, երբ պատկերը չի բեռնվում կամ էջն օգտագործվում է էկրանի ընթերցիչով։</a:t>
            </a:r>
          </a:p>
          <a:p>
            <a:r>
              <a:t>Աղբյուրներ՝</a:t>
            </a:r>
          </a:p>
          <a:p>
            <a:r>
              <a:t>https://www.w3.org/WAI/WCAG22/Techniques/html/H37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Ենթագրերը օգնում են լսողության սահմանափակում ունեցող օգտատերերին և այն մարդկանց, որոնք տեսանյութը դիտում են առանց ձայնի։</a:t>
            </a:r>
          </a:p>
          <a:p>
            <a:r>
              <a:t>Աղբյուրներ՝</a:t>
            </a:r>
          </a:p>
          <a:p>
            <a:r>
              <a:t>https://developer.mozilla.org/en-US/docs/Web/Media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Իմաստաբանական տարրը նկարագրում է բովանդակության դերը։ div-ը կիրառվում է, երբ ավելի համապատասխան իմաստաբանական տարր չկա։</a:t>
            </a:r>
          </a:p>
          <a:p>
            <a:r>
              <a:t>Աղբյուրներ՝</a:t>
            </a:r>
          </a:p>
          <a:p>
            <a:r>
              <a:t>https://www.w3.org/WAI/tutorials/page-structure/regions/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Հասանելիությունը սկսվում է իմաստաբանական և ստանդարտ HTML-ից։ Ստուգել էջը նաև միայն ստեղնաշարով։</a:t>
            </a:r>
          </a:p>
          <a:p>
            <a:r>
              <a:t>Աղբյուրներ՝</a:t>
            </a:r>
          </a:p>
          <a:p>
            <a:r>
              <a:t>https://www.w3.org/WAI/WCAG22/Techniques/html/H37</a:t>
            </a:r>
          </a:p>
          <a:p>
            <a:r>
              <a:t>https://www.w3.org/WAI/tutorials/page-structure/regions/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XML-ը ընդարձակվող նշագրման լեզու է, ոչ թե HTML-ի փոխարինող։ XHTML-ը պահանջում է XML-ի խիստ շարահյուսություն։</a:t>
            </a:r>
          </a:p>
          <a:p>
            <a:r>
              <a:t>Աղբյուրներ՝</a:t>
            </a:r>
          </a:p>
          <a:p>
            <a:r>
              <a:t>https://html.spec.whatwg.org/dev/xhtml.html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Առաջադրանքը</a:t>
            </a:r>
            <a:r>
              <a:rPr dirty="0"/>
              <a:t> </a:t>
            </a:r>
            <a:r>
              <a:rPr dirty="0" err="1"/>
              <a:t>միավորում</a:t>
            </a:r>
            <a:r>
              <a:rPr dirty="0"/>
              <a:t> է </a:t>
            </a:r>
            <a:r>
              <a:rPr dirty="0" err="1"/>
              <a:t>դասի</a:t>
            </a:r>
            <a:r>
              <a:rPr dirty="0"/>
              <a:t> </a:t>
            </a:r>
            <a:r>
              <a:rPr dirty="0" err="1"/>
              <a:t>բոլոր</a:t>
            </a:r>
            <a:r>
              <a:rPr dirty="0"/>
              <a:t> </a:t>
            </a:r>
            <a:r>
              <a:rPr dirty="0" err="1"/>
              <a:t>բաժինները</a:t>
            </a:r>
            <a:r>
              <a:rPr dirty="0"/>
              <a:t>։ </a:t>
            </a:r>
            <a:r>
              <a:rPr dirty="0" err="1"/>
              <a:t>Կարելի</a:t>
            </a:r>
            <a:r>
              <a:rPr dirty="0"/>
              <a:t> է </a:t>
            </a:r>
            <a:r>
              <a:rPr dirty="0" err="1"/>
              <a:t>սկսել</a:t>
            </a:r>
            <a:r>
              <a:rPr dirty="0"/>
              <a:t> </a:t>
            </a:r>
            <a:r>
              <a:rPr dirty="0" err="1"/>
              <a:t>դասարանում</a:t>
            </a:r>
            <a:r>
              <a:rPr dirty="0"/>
              <a:t> և </a:t>
            </a:r>
            <a:r>
              <a:rPr dirty="0" err="1"/>
              <a:t>ավարտել</a:t>
            </a:r>
            <a:r>
              <a:rPr dirty="0"/>
              <a:t> </a:t>
            </a:r>
            <a:r>
              <a:rPr dirty="0" err="1"/>
              <a:t>որպես</a:t>
            </a:r>
            <a:r>
              <a:rPr dirty="0"/>
              <a:t> </a:t>
            </a:r>
            <a:r>
              <a:rPr dirty="0" err="1"/>
              <a:t>ինքնուրույն</a:t>
            </a:r>
            <a:r>
              <a:rPr dirty="0"/>
              <a:t> </a:t>
            </a:r>
            <a:r>
              <a:rPr dirty="0" err="1"/>
              <a:t>աշխատանք</a:t>
            </a:r>
            <a:r>
              <a:rPr dirty="0"/>
              <a:t>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D6E93F6-CCCF-4D67-85EB-F302AE5EDD3F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01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F3ED8F-BAB3-4EF5-9435-C31BF0DA7721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HTML փաստաթղթից մինչև հասանելի վեբ էջ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F28BD5-A34E-4F8F-ADFF-0210BD24F3A8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B0DAFB-37CA-4E4B-B9A4-490A474151F7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5334000" cy="1952625"/>
          </a:xfrm>
          <a:prstGeom prst="rect">
            <a:avLst/>
          </a:prstGeom>
          <a:solidFill>
            <a:srgbClr val="0C1D2D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292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92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&lt;html&gt;</a:t>
            </a:r>
          </a:p>
          <a:p>
            <a:pPr>
              <a:defRPr sz="292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92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  բովանդակություն</a:t>
            </a:r>
          </a:p>
          <a:p>
            <a:pPr>
              <a:defRPr sz="292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92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&lt;/html&gt;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70B56E-633D-490C-9A59-7A4406982BF8}"/>
              </a:ext>
            </a:extLst>
          </p:cNvPr>
          <p:cNvSpPr>
            <a:spLocks noGrp="1"/>
          </p:cNvSpPr>
          <p:nvPr/>
        </p:nvSpPr>
        <p:spPr>
          <a:xfrm>
            <a:off x="6572250" y="1571625"/>
            <a:ext cx="4762500" cy="2762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10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փաստաթղթի</a:t>
            </a:r>
            <a:r>
              <a:rPr sz="165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կառուցվածք</a:t>
            </a:r>
            <a:endParaRPr sz="1650" b="0" dirty="0">
              <a:solidFill>
                <a:srgbClr val="DCE7F2"/>
              </a:solidFill>
              <a:latin typeface="DejaVu Sans"/>
              <a:ea typeface="DejaVu Sans"/>
              <a:cs typeface="DejaVu Sans"/>
            </a:endParaRPr>
          </a:p>
          <a:p>
            <a:pPr marL="254000" indent="-127000">
              <a:spcAft>
                <a:spcPts val="10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վերնագրային</a:t>
            </a:r>
            <a:r>
              <a:rPr sz="165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և </a:t>
            </a:r>
            <a:r>
              <a:rPr sz="165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տեքստային</a:t>
            </a:r>
            <a:r>
              <a:rPr sz="165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թեգեր</a:t>
            </a:r>
            <a:endParaRPr sz="1650" b="0" dirty="0">
              <a:solidFill>
                <a:srgbClr val="DCE7F2"/>
              </a:solidFill>
              <a:latin typeface="DejaVu Sans"/>
              <a:ea typeface="DejaVu Sans"/>
              <a:cs typeface="DejaVu Sans"/>
            </a:endParaRPr>
          </a:p>
          <a:p>
            <a:pPr marL="254000" indent="-127000">
              <a:spcAft>
                <a:spcPts val="10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ցուցակներ</a:t>
            </a:r>
            <a:r>
              <a:rPr sz="165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և </a:t>
            </a:r>
            <a:r>
              <a:rPr sz="165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աղյուսակներ</a:t>
            </a:r>
            <a:endParaRPr sz="1650" b="0" dirty="0">
              <a:solidFill>
                <a:srgbClr val="DCE7F2"/>
              </a:solidFill>
              <a:latin typeface="DejaVu Sans"/>
              <a:ea typeface="DejaVu Sans"/>
              <a:cs typeface="DejaVu Sans"/>
            </a:endParaRPr>
          </a:p>
          <a:p>
            <a:pPr marL="254000" indent="-127000">
              <a:spcAft>
                <a:spcPts val="10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հղումներ</a:t>
            </a:r>
            <a:r>
              <a:rPr sz="165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և </a:t>
            </a:r>
            <a:r>
              <a:rPr sz="165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մեդիա</a:t>
            </a:r>
            <a:endParaRPr sz="1650" b="0" dirty="0">
              <a:solidFill>
                <a:srgbClr val="DCE7F2"/>
              </a:solidFill>
              <a:latin typeface="DejaVu Sans"/>
              <a:ea typeface="DejaVu Sans"/>
              <a:cs typeface="DejaVu Sans"/>
            </a:endParaRPr>
          </a:p>
          <a:p>
            <a:pPr marL="254000" indent="-127000">
              <a:spcAft>
                <a:spcPts val="10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իմաստաբանություն</a:t>
            </a:r>
            <a:r>
              <a:rPr sz="165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և </a:t>
            </a:r>
            <a:r>
              <a:rPr sz="165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հասանելիություն</a:t>
            </a:r>
            <a:endParaRPr sz="1650" b="0" dirty="0">
              <a:solidFill>
                <a:srgbClr val="DCE7F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D758E0-4CD3-46CB-B492-8588D3EC95AE}"/>
              </a:ext>
            </a:extLst>
          </p:cNvPr>
          <p:cNvSpPr>
            <a:spLocks noGrp="1"/>
          </p:cNvSpPr>
          <p:nvPr/>
        </p:nvSpPr>
        <p:spPr>
          <a:xfrm>
            <a:off x="1238250" y="5191125"/>
            <a:ext cx="9715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1">
                <a:solidFill>
                  <a:srgbClr val="FFCC7A"/>
                </a:solidFill>
                <a:latin typeface="DejaVu Sans"/>
                <a:ea typeface="DejaVu Sans"/>
                <a:cs typeface="DejaVu Sans"/>
              </a:defRPr>
            </a:pPr>
            <a:endParaRPr sz="1725" b="1" dirty="0">
              <a:solidFill>
                <a:srgbClr val="FFCC7A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52A41764-FE1B-89B2-DF44-24B6E9D59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" y="4646450"/>
            <a:ext cx="1055185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HTML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ֆայլի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անվանումը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HTML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փաստաթուղթը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պահվում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է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.html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ընդլայնմամբ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՝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file_name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&gt;.html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ձևաչափով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որտեղ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file_name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-ը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ֆայլի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անունն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է։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Օրինակ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՝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index.html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about.html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։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Ֆայլի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անվան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մեջ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&lt; 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նշանները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չեն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գրվում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։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Բրաուզերը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բացում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է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ֆայլը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և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ցուցադրում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որպես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վեբ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էջ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։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17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C52E16D-9F32-4E31-BC86-3B717717692E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02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22723B-5EBD-4CDF-9798-209E4D3A23AF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HTML-ի նշանակությունը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DA23CA-BB29-4100-A189-36A8635DEA34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8CA155-51B7-4039-8FBC-48CE57AE5B4A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10477500" cy="857250"/>
          </a:xfrm>
          <a:prstGeom prst="rect">
            <a:avLst/>
          </a:prstGeom>
          <a:solidFill>
            <a:srgbClr val="0C1D2D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HTML-ը նկարագրում է բովանդակության կառուցվածքն ու իմաստը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82246C-0BC8-445C-BDD2-7F270893214B}"/>
              </a:ext>
            </a:extLst>
          </p:cNvPr>
          <p:cNvSpPr>
            <a:spLocks noGrp="1"/>
          </p:cNvSpPr>
          <p:nvPr/>
        </p:nvSpPr>
        <p:spPr>
          <a:xfrm>
            <a:off x="1285875" y="2857500"/>
            <a:ext cx="2381250" cy="57150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0611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06111F"/>
                </a:solidFill>
                <a:latin typeface="DejaVu Sans Mono"/>
                <a:ea typeface="DejaVu Sans Mono"/>
                <a:cs typeface="DejaVu Sans Mono"/>
              </a:rPr>
              <a:t>HTML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9EC463-E6E7-43B4-AA14-A6C01423FDC3}"/>
              </a:ext>
            </a:extLst>
          </p:cNvPr>
          <p:cNvSpPr>
            <a:spLocks noGrp="1"/>
          </p:cNvSpPr>
          <p:nvPr/>
        </p:nvSpPr>
        <p:spPr>
          <a:xfrm>
            <a:off x="3905250" y="2857500"/>
            <a:ext cx="7000875" cy="571500"/>
          </a:xfrm>
          <a:prstGeom prst="rect">
            <a:avLst/>
          </a:prstGeom>
          <a:solidFill>
            <a:srgbClr val="112940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կառուցվածք և իմաստ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828047-A255-4733-93A7-432B752C67FA}"/>
              </a:ext>
            </a:extLst>
          </p:cNvPr>
          <p:cNvSpPr>
            <a:spLocks noGrp="1"/>
          </p:cNvSpPr>
          <p:nvPr/>
        </p:nvSpPr>
        <p:spPr>
          <a:xfrm>
            <a:off x="1285875" y="3667125"/>
            <a:ext cx="2381250" cy="571500"/>
          </a:xfrm>
          <a:prstGeom prst="rect">
            <a:avLst/>
          </a:prstGeom>
          <a:solidFill>
            <a:srgbClr val="56A5FF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0611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06111F"/>
                </a:solidFill>
                <a:latin typeface="DejaVu Sans Mono"/>
                <a:ea typeface="DejaVu Sans Mono"/>
                <a:cs typeface="DejaVu Sans Mono"/>
              </a:rPr>
              <a:t>CSS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7360D-8F57-418B-9307-018DB6109594}"/>
              </a:ext>
            </a:extLst>
          </p:cNvPr>
          <p:cNvSpPr>
            <a:spLocks noGrp="1"/>
          </p:cNvSpPr>
          <p:nvPr/>
        </p:nvSpPr>
        <p:spPr>
          <a:xfrm>
            <a:off x="3905250" y="3667125"/>
            <a:ext cx="7000875" cy="571500"/>
          </a:xfrm>
          <a:prstGeom prst="rect">
            <a:avLst/>
          </a:prstGeom>
          <a:solidFill>
            <a:srgbClr val="112940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արտաքին տեսք և դասավորություն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7A777F-D848-4894-AF75-0104E353B8C2}"/>
              </a:ext>
            </a:extLst>
          </p:cNvPr>
          <p:cNvSpPr>
            <a:spLocks noGrp="1"/>
          </p:cNvSpPr>
          <p:nvPr/>
        </p:nvSpPr>
        <p:spPr>
          <a:xfrm>
            <a:off x="1285875" y="4476750"/>
            <a:ext cx="2381250" cy="571500"/>
          </a:xfrm>
          <a:prstGeom prst="rect">
            <a:avLst/>
          </a:prstGeom>
          <a:solidFill>
            <a:srgbClr val="FFCC7A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0611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06111F"/>
                </a:solidFill>
                <a:latin typeface="DejaVu Sans Mono"/>
                <a:ea typeface="DejaVu Sans Mono"/>
                <a:cs typeface="DejaVu Sans Mono"/>
              </a:rPr>
              <a:t>JavaScript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563825-E028-4032-9D40-937710965DCC}"/>
              </a:ext>
            </a:extLst>
          </p:cNvPr>
          <p:cNvSpPr>
            <a:spLocks noGrp="1"/>
          </p:cNvSpPr>
          <p:nvPr/>
        </p:nvSpPr>
        <p:spPr>
          <a:xfrm>
            <a:off x="3905250" y="4476750"/>
            <a:ext cx="7000875" cy="571500"/>
          </a:xfrm>
          <a:prstGeom prst="rect">
            <a:avLst/>
          </a:prstGeom>
          <a:solidFill>
            <a:srgbClr val="112940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վարք և փոխազդեցություն</a:t>
            </a:r>
          </a:p>
        </p:txBody>
      </p:sp>
    </p:spTree>
    <p:extLst>
      <p:ext uri="{BB962C8B-B14F-4D97-AF65-F5344CB8AC3E}">
        <p14:creationId xmlns:p14="http://schemas.microsoft.com/office/powerpoint/2010/main" val="1991442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A5BCB8A-D23B-4138-9FBF-DA99339871BD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03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BC8C68-ABFB-4A08-A184-9DA0E9597ED6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HTML փաստաթղթի հիմնական կառուցվածքը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81BEC8-2CCF-448B-87C7-32DBF231B7EE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EF3F09-4862-4058-8DD6-392A845F52AE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5810250" cy="4619625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&lt;!doctype html&gt;</a:t>
            </a:r>
          </a:p>
          <a:p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&lt;html lang="hy"&gt;</a:t>
            </a:r>
          </a:p>
          <a:p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&lt;head&gt;</a:t>
            </a:r>
          </a:p>
          <a:p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&lt;meta charset="utf-8"&gt;</a:t>
            </a:r>
          </a:p>
          <a:p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&lt;title&gt;Իմ էջը&lt;/title&gt;</a:t>
            </a:r>
          </a:p>
          <a:p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&lt;/head&gt;</a:t>
            </a:r>
          </a:p>
          <a:p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&lt;body&gt;</a:t>
            </a:r>
          </a:p>
          <a:p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&lt;h1&gt;Բարի գալուստ&lt;/h1&gt;</a:t>
            </a:r>
          </a:p>
          <a:p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&lt;/body&gt;</a:t>
            </a:r>
          </a:p>
          <a:p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&lt;/html&gt;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CF6E46-F2AF-4788-8F70-30641FBC42C6}"/>
              </a:ext>
            </a:extLst>
          </p:cNvPr>
          <p:cNvSpPr>
            <a:spLocks noGrp="1"/>
          </p:cNvSpPr>
          <p:nvPr/>
        </p:nvSpPr>
        <p:spPr>
          <a:xfrm>
            <a:off x="6905625" y="1619250"/>
            <a:ext cx="4476750" cy="3714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12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doctype-ը ընտրում է ժամանակակից HTML ռեժիմը</a:t>
            </a:r>
          </a:p>
          <a:p>
            <a:pPr marL="254000" indent="-127000">
              <a:spcAft>
                <a:spcPts val="12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html-ը փաստաթղթի արմատն է</a:t>
            </a:r>
          </a:p>
          <a:p>
            <a:pPr marL="254000" indent="-127000">
              <a:spcAft>
                <a:spcPts val="12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head-ը պահում է մետատվյալները</a:t>
            </a:r>
          </a:p>
          <a:p>
            <a:pPr marL="254000" indent="-127000">
              <a:spcAft>
                <a:spcPts val="12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body-ն պարունակում է երևացող բովանդակությունը</a:t>
            </a:r>
          </a:p>
          <a:p>
            <a:pPr marL="254000" indent="-127000">
              <a:spcAft>
                <a:spcPts val="1200"/>
              </a:spcAft>
              <a:buChar char="•"/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lang-ը նշում է էջի լեզուն</a:t>
            </a:r>
          </a:p>
        </p:txBody>
      </p:sp>
    </p:spTree>
    <p:extLst>
      <p:ext uri="{BB962C8B-B14F-4D97-AF65-F5344CB8AC3E}">
        <p14:creationId xmlns:p14="http://schemas.microsoft.com/office/powerpoint/2010/main" val="1298986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AC779E-4839-45C9-8462-C084CA54E203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04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FC9C3B-B2C5-41F5-A4C0-0907C9F90EA2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Մետատվյալներ head բաժնում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FB60CC-88CA-4883-940C-24EA4823EEB7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199C93-3027-4E82-91BB-70855A8F1646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6858000" cy="4333875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&lt;head&gt;</a:t>
            </a:r>
          </a:p>
          <a:p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&lt;meta charset="utf-8"&gt;</a:t>
            </a:r>
          </a:p>
          <a:p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&lt;meta name="viewport"</a:t>
            </a:r>
          </a:p>
          <a:p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content="width=device-width, initial-scale=1"&gt;</a:t>
            </a:r>
          </a:p>
          <a:p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&lt;meta name="description"</a:t>
            </a:r>
          </a:p>
          <a:p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content="HTML դասընթաց"&gt;</a:t>
            </a:r>
          </a:p>
          <a:p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&lt;title&gt;HTML հիմունքներ&lt;/title&gt;</a:t>
            </a:r>
          </a:p>
          <a:p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&lt;link rel="stylesheet" href="css/style.css"&gt;</a:t>
            </a:r>
          </a:p>
          <a:p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&lt;/head&gt;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0DADC4-A25B-492F-A4C3-BC3CCF4A6E91}"/>
              </a:ext>
            </a:extLst>
          </p:cNvPr>
          <p:cNvSpPr>
            <a:spLocks noGrp="1"/>
          </p:cNvSpPr>
          <p:nvPr/>
        </p:nvSpPr>
        <p:spPr>
          <a:xfrm>
            <a:off x="7810500" y="1619250"/>
            <a:ext cx="3524250" cy="3333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11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charset՝ նիշերի կոդավորում</a:t>
            </a:r>
          </a:p>
          <a:p>
            <a:pPr marL="254000" indent="-127000">
              <a:spcAft>
                <a:spcPts val="11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viewport՝ շարժական էկրանի չափ</a:t>
            </a:r>
          </a:p>
          <a:p>
            <a:pPr marL="254000" indent="-127000">
              <a:spcAft>
                <a:spcPts val="11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description՝ էջի կարճ նկարագրություն</a:t>
            </a:r>
          </a:p>
          <a:p>
            <a:pPr marL="254000" indent="-127000">
              <a:spcAft>
                <a:spcPts val="11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title՝ ներդիրի և որոնման արդյունքի վերնագիր</a:t>
            </a:r>
          </a:p>
          <a:p>
            <a:pPr marL="254000" indent="-127000">
              <a:spcAft>
                <a:spcPts val="11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link՝ արտաքին ռեսուրսի կապ</a:t>
            </a:r>
          </a:p>
        </p:txBody>
      </p:sp>
    </p:spTree>
    <p:extLst>
      <p:ext uri="{BB962C8B-B14F-4D97-AF65-F5344CB8AC3E}">
        <p14:creationId xmlns:p14="http://schemas.microsoft.com/office/powerpoint/2010/main" val="257771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4D5BC07-D4B9-4C1A-8D0F-26E4797D9F32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05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2A4DC2-DC8E-426C-8AB4-D07D652262AF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Տարր, թեգ և հատկանիշ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BBC79B-C777-4D67-AB5F-6DAFA3FF0E58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C45064-59CF-46C5-971A-8B6C982107AE}"/>
              </a:ext>
            </a:extLst>
          </p:cNvPr>
          <p:cNvSpPr>
            <a:spLocks noGrp="1"/>
          </p:cNvSpPr>
          <p:nvPr/>
        </p:nvSpPr>
        <p:spPr>
          <a:xfrm>
            <a:off x="1000125" y="1666875"/>
            <a:ext cx="10191750" cy="952500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21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&lt;p class="intro" lang="hy"&gt;Սա պարբերություն է։&lt;/p&gt;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1190625" y="3143250"/>
          <a:ext cx="9810750" cy="2619375"/>
        </p:xfrm>
        <a:graphic>
          <a:graphicData uri="http://schemas.openxmlformats.org/drawingml/2006/table">
            <a:tbl>
              <a:tblPr firstRow="1" bandRow="1"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Մաս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Օրինակ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Դեր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բացվող թեգ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&lt;p ...&gt;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սկսում է պարբերությունը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հատկանիշներ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class="intro"  lang="hy"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նկարագրում են տարրը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բովանդակություն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Սա պարբերություն է։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էջում երևացող տեքստ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փակվող թեգ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&lt;/p&gt;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ավարտում է պարբերությունը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9321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0CD2131-C0E3-4471-8C76-EC36F1459D45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0</a:t>
            </a:r>
            <a:r>
              <a:rPr lang="ru-RU"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6</a:t>
            </a:r>
            <a:r>
              <a:rPr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09C39D-AEF0-46A7-A1F5-B8955063D090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Վերնագրային թեգեր h1–h6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B86BEB-A1EE-472D-9686-DC839A13B5AC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C1A40C-E52C-459D-A797-9640A1AB54BC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6572250" cy="3429000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&lt;h1&gt;Դասընթացի վերնագիր&lt;/h1&gt;</a:t>
            </a:r>
          </a:p>
          <a:p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&lt;h2&gt;Առաջին բաժին&lt;/h2&gt;</a:t>
            </a:r>
          </a:p>
          <a:p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&lt;h3&gt;Բաժնի ենթաթեմա&lt;/h3&gt;</a:t>
            </a:r>
          </a:p>
          <a:p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&lt;h4&gt;Լրացուցիչ բաժանում&lt;/h4&gt;</a:t>
            </a:r>
          </a:p>
          <a:p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&lt;h5&gt;Մանր ենթաբաժին&lt;/h5&gt;</a:t>
            </a:r>
          </a:p>
          <a:p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&lt;h6&gt;Ամենացածր մակարդակ&lt;/h6&gt;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B32297-76B7-48CE-ABD6-39649A39D1EB}"/>
              </a:ext>
            </a:extLst>
          </p:cNvPr>
          <p:cNvSpPr>
            <a:spLocks noGrp="1"/>
          </p:cNvSpPr>
          <p:nvPr/>
        </p:nvSpPr>
        <p:spPr>
          <a:xfrm>
            <a:off x="7667625" y="1666875"/>
            <a:ext cx="3667125" cy="2857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13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h1-ը էջի հիմնական վերնագիրն է</a:t>
            </a:r>
          </a:p>
          <a:p>
            <a:pPr marL="254000" indent="-127000">
              <a:spcAft>
                <a:spcPts val="13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h2–h6 թեգերը ստեղծում են ենթաբաժիններ</a:t>
            </a:r>
          </a:p>
          <a:p>
            <a:pPr marL="254000" indent="-127000">
              <a:spcAft>
                <a:spcPts val="13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մակարդակները պահպանում են տրամաբանական հերթականություն</a:t>
            </a:r>
          </a:p>
          <a:p>
            <a:pPr marL="254000" indent="-127000">
              <a:spcAft>
                <a:spcPts val="13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վերնագրի տեսքը փոխվում է CSS-ով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F42F67-2C43-476A-BD73-B35432A4A950}"/>
              </a:ext>
            </a:extLst>
          </p:cNvPr>
          <p:cNvSpPr>
            <a:spLocks noGrp="1"/>
          </p:cNvSpPr>
          <p:nvPr/>
        </p:nvSpPr>
        <p:spPr>
          <a:xfrm>
            <a:off x="1190625" y="50482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1">
                <a:solidFill>
                  <a:srgbClr val="FFCC7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CC7A"/>
                </a:solidFill>
                <a:latin typeface="DejaVu Sans"/>
                <a:ea typeface="DejaVu Sans"/>
                <a:cs typeface="DejaVu Sans"/>
              </a:rPr>
              <a:t>Վերնագրի մակարդակը ընտրում ենք ըստ կառուցվածքի, ոչ ըստ տառաչափի</a:t>
            </a:r>
          </a:p>
        </p:txBody>
      </p:sp>
    </p:spTree>
    <p:extLst>
      <p:ext uri="{BB962C8B-B14F-4D97-AF65-F5344CB8AC3E}">
        <p14:creationId xmlns:p14="http://schemas.microsoft.com/office/powerpoint/2010/main" val="1146404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1B3D36-A606-4521-BE08-3A69773F67A1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0</a:t>
            </a:r>
            <a:r>
              <a:rPr lang="ru-RU"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7</a:t>
            </a:r>
            <a:r>
              <a:rPr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FF22ED-F084-4E94-8D8A-3648652C1C34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Տեքստային թեգեր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A51009-0AA1-44AA-800D-ED5FED3ECF73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graphicFrame>
        <p:nvGraphicFramePr>
          <p:cNvPr id="11" name="Table 10"/>
          <p:cNvGraphicFramePr/>
          <p:nvPr/>
        </p:nvGraphicFramePr>
        <p:xfrm>
          <a:off x="571500" y="1428750"/>
          <a:ext cx="5286375" cy="2952750"/>
        </p:xfrm>
        <a:graphic>
          <a:graphicData uri="http://schemas.openxmlformats.org/drawingml/2006/table">
            <a:tbl>
              <a:tblPr firstRow="1" bandRow="1"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Թեգ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Նշանակություն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&lt;b&gt;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թավ տեսք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&lt;strong&gt;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կարևոր բովանդակություն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&lt;i&gt;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շեղատառ տեսք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&lt;em&gt;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իմաստային շեշտադրում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&lt;mark&gt;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նշված հատված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/>
          <p:nvPr/>
        </p:nvGraphicFramePr>
        <p:xfrm>
          <a:off x="6334125" y="1428750"/>
          <a:ext cx="5286375" cy="2952750"/>
        </p:xfrm>
        <a:graphic>
          <a:graphicData uri="http://schemas.openxmlformats.org/drawingml/2006/table">
            <a:tbl>
              <a:tblPr firstRow="1" bandRow="1"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Թեգ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Նշանակություն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&lt;small&gt;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փոքր տեքստ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&lt;del&gt;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ջնջված բովանդակություն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&lt;ins&gt;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ավելացված բովանդակություն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&lt;sub&gt;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ստորին ինդեքս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&lt;sup&gt;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վերին ինդեքս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FE6CF7A-00AE-4C40-9337-45ECD79D051E}"/>
              </a:ext>
            </a:extLst>
          </p:cNvPr>
          <p:cNvSpPr>
            <a:spLocks noGrp="1"/>
          </p:cNvSpPr>
          <p:nvPr/>
        </p:nvSpPr>
        <p:spPr>
          <a:xfrm>
            <a:off x="857250" y="4667250"/>
            <a:ext cx="10477500" cy="1143000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2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&lt;p&gt;&lt;b&gt;Թավ&lt;/b&gt;  &lt;strong&gt;Կարևոր&lt;/strong&gt;  &lt;i&gt;Շեղատառ&lt;/i&gt;  &lt;em&gt;Շեշտված&lt;/em&gt;&lt;/p&gt;</a:t>
            </a:r>
          </a:p>
          <a:p>
            <a:pPr>
              <a:defRPr sz="12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&lt;p&gt;&lt;mark&gt;Նշված&lt;/mark&gt;  &lt;small&gt;Փոքր&lt;/small&gt;  &lt;del&gt;Հին&lt;/del&gt;  &lt;ins&gt;Նոր&lt;/ins&gt;&lt;/p&gt;</a:t>
            </a:r>
          </a:p>
          <a:p>
            <a:pPr>
              <a:defRPr sz="12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&lt;p&gt;H&lt;sub&gt;2&lt;/sub&gt;O և x&lt;sup&gt;2&lt;/sup&gt;&lt;/p&gt;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55AE8E-6C8C-4A45-AF01-C34835147AAC}"/>
              </a:ext>
            </a:extLst>
          </p:cNvPr>
          <p:cNvSpPr>
            <a:spLocks noGrp="1"/>
          </p:cNvSpPr>
          <p:nvPr/>
        </p:nvSpPr>
        <p:spPr>
          <a:xfrm>
            <a:off x="1143000" y="6000750"/>
            <a:ext cx="9906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b և i՝ տեսք  •  strong և em՝ իմաստային կարևորություն ու շեշտադրում</a:t>
            </a:r>
          </a:p>
        </p:txBody>
      </p:sp>
    </p:spTree>
    <p:extLst>
      <p:ext uri="{BB962C8B-B14F-4D97-AF65-F5344CB8AC3E}">
        <p14:creationId xmlns:p14="http://schemas.microsoft.com/office/powerpoint/2010/main" val="1465507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057EBCF-1CB5-4256-B0DC-C18144525769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0</a:t>
            </a:r>
            <a:r>
              <a:rPr lang="ru-RU"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8</a:t>
            </a:r>
            <a:r>
              <a:rPr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A73519-276F-4112-99CB-A1C3A3C70BD0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Ցուցակներ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62CAF2-5746-48E7-9D77-CAC8EAA33022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57AF27-6D6E-4856-9188-020E4AD829D7}"/>
              </a:ext>
            </a:extLst>
          </p:cNvPr>
          <p:cNvSpPr>
            <a:spLocks noGrp="1"/>
          </p:cNvSpPr>
          <p:nvPr/>
        </p:nvSpPr>
        <p:spPr>
          <a:xfrm>
            <a:off x="714375" y="1428750"/>
            <a:ext cx="4476750" cy="4095750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 dirty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</a:t>
            </a:r>
            <a:r>
              <a:rPr sz="1650" b="0" dirty="0" err="1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ul</a:t>
            </a:r>
            <a:r>
              <a:rPr sz="1650" b="0" dirty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&gt;</a:t>
            </a:r>
          </a:p>
          <a:p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 dirty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&lt;li&gt;HTML&lt;/li&gt;</a:t>
            </a:r>
          </a:p>
          <a:p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 dirty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&lt;li&gt;CSS&lt;/li&gt;</a:t>
            </a:r>
          </a:p>
          <a:p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 dirty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&lt;/</a:t>
            </a:r>
            <a:r>
              <a:rPr sz="1650" b="0" dirty="0" err="1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ul</a:t>
            </a:r>
            <a:r>
              <a:rPr sz="1650" b="0" dirty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&gt;</a:t>
            </a:r>
          </a:p>
          <a:p>
            <a:endParaRPr sz="1650" b="0" dirty="0">
              <a:solidFill>
                <a:srgbClr val="D5F3EF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 dirty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</a:t>
            </a:r>
            <a:r>
              <a:rPr sz="1650" b="0" dirty="0" err="1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ol</a:t>
            </a:r>
            <a:r>
              <a:rPr sz="1650" b="0" dirty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&gt;</a:t>
            </a:r>
          </a:p>
          <a:p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 dirty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&lt;li&gt;</a:t>
            </a:r>
            <a:r>
              <a:rPr sz="1650" b="0" dirty="0" err="1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Բացել</a:t>
            </a:r>
            <a:r>
              <a:rPr sz="1650" b="0" dirty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 b="0" dirty="0" err="1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խմբագիրը</a:t>
            </a:r>
            <a:r>
              <a:rPr sz="1650" b="0" dirty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&lt;/li&gt;</a:t>
            </a:r>
          </a:p>
          <a:p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 dirty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&lt;li&gt;</a:t>
            </a:r>
            <a:r>
              <a:rPr sz="1650" b="0" dirty="0" err="1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Ստեղծել</a:t>
            </a:r>
            <a:r>
              <a:rPr sz="1650" b="0" dirty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index.html&lt;/li&gt;</a:t>
            </a:r>
          </a:p>
          <a:p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 dirty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&lt;/</a:t>
            </a:r>
            <a:r>
              <a:rPr sz="1650" b="0" dirty="0" err="1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ol</a:t>
            </a:r>
            <a:r>
              <a:rPr sz="1650" b="0" dirty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3C2654-4A84-4FEC-AD14-207924D1B3DB}"/>
              </a:ext>
            </a:extLst>
          </p:cNvPr>
          <p:cNvSpPr>
            <a:spLocks noGrp="1"/>
          </p:cNvSpPr>
          <p:nvPr/>
        </p:nvSpPr>
        <p:spPr>
          <a:xfrm>
            <a:off x="5953125" y="1428750"/>
            <a:ext cx="5334000" cy="2857500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&lt;dl&gt;</a:t>
            </a:r>
          </a:p>
          <a:p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&lt;dt&gt;HTML&lt;/dt&gt;</a:t>
            </a:r>
          </a:p>
          <a:p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&lt;dd&gt;Նշագրման լեզու&lt;/dd&gt;</a:t>
            </a:r>
          </a:p>
          <a:p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&lt;dt&gt;CSS&lt;/dt&gt;</a:t>
            </a:r>
          </a:p>
          <a:p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&lt;dd&gt;Ոճերի լեզու&lt;/dd&gt;</a:t>
            </a:r>
          </a:p>
          <a:p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&lt;/dl&gt;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851296-66B7-447F-87B9-08170098E358}"/>
              </a:ext>
            </a:extLst>
          </p:cNvPr>
          <p:cNvSpPr>
            <a:spLocks noGrp="1"/>
          </p:cNvSpPr>
          <p:nvPr/>
        </p:nvSpPr>
        <p:spPr>
          <a:xfrm>
            <a:off x="6096000" y="4762500"/>
            <a:ext cx="5048250" cy="762000"/>
          </a:xfrm>
          <a:prstGeom prst="rect">
            <a:avLst/>
          </a:prstGeom>
          <a:solidFill>
            <a:srgbClr val="112940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ul՝ չհամարակալված</a:t>
            </a:r>
          </a:p>
          <a:p>
            <a:pPr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ol՝ համարակալված</a:t>
            </a:r>
          </a:p>
          <a:p>
            <a:pPr>
              <a:def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dl՝ տերմին և բացատրություն</a:t>
            </a:r>
          </a:p>
        </p:txBody>
      </p:sp>
    </p:spTree>
    <p:extLst>
      <p:ext uri="{BB962C8B-B14F-4D97-AF65-F5344CB8AC3E}">
        <p14:creationId xmlns:p14="http://schemas.microsoft.com/office/powerpoint/2010/main" val="764612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682220-05A6-422E-B3FF-78F127CA032E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</a:t>
            </a:r>
            <a:r>
              <a:rPr lang="ru-RU"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09</a:t>
            </a:r>
            <a:r>
              <a:rPr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18FC1C-870F-4838-9D30-6E444C01B886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Աղյուսակներ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976D54-92B3-4E41-A9EF-2128A3D80D14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DA4944-8AC2-4B71-BFA9-4D5EE5EE0FC3}"/>
              </a:ext>
            </a:extLst>
          </p:cNvPr>
          <p:cNvSpPr>
            <a:spLocks noGrp="1"/>
          </p:cNvSpPr>
          <p:nvPr/>
        </p:nvSpPr>
        <p:spPr>
          <a:xfrm>
            <a:off x="523875" y="1381125"/>
            <a:ext cx="5810250" cy="4476750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&lt;table&gt;</a:t>
            </a:r>
          </a:p>
          <a:p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&lt;caption&gt;Գնահատականներ&lt;/caption&gt;</a:t>
            </a:r>
          </a:p>
          <a:p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&lt;thead&gt;</a:t>
            </a:r>
          </a:p>
          <a:p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&lt;tr&gt;&lt;th&gt;Ուսանող&lt;/th&gt;&lt;th&gt;Միավոր&lt;/th&gt;&lt;/tr&gt;</a:t>
            </a:r>
          </a:p>
          <a:p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&lt;/thead&gt;</a:t>
            </a:r>
          </a:p>
          <a:p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&lt;tbody&gt;</a:t>
            </a:r>
          </a:p>
          <a:p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&lt;tr&gt;&lt;td&gt;Անի&lt;/td&gt;&lt;td&gt;18&lt;/td&gt;&lt;/tr&gt;</a:t>
            </a:r>
          </a:p>
          <a:p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&lt;/tbody&gt;</a:t>
            </a:r>
          </a:p>
          <a:p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&lt;/table&gt;</a:t>
            </a:r>
          </a:p>
        </p:txBody>
      </p:sp>
      <p:graphicFrame>
        <p:nvGraphicFramePr>
          <p:cNvPr id="11" name="Table 10"/>
          <p:cNvGraphicFramePr/>
          <p:nvPr/>
        </p:nvGraphicFramePr>
        <p:xfrm>
          <a:off x="6953250" y="1524000"/>
          <a:ext cx="4333875" cy="3429000"/>
        </p:xfrm>
        <a:graphic>
          <a:graphicData uri="http://schemas.openxmlformats.org/drawingml/2006/table">
            <a:tbl>
              <a:tblPr firstRow="1" bandRow="1"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Տարր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Նշանակություն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table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աղյուսակի սահման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caption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աղյուսակի վերնագիր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տող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վերնագրային բջիջ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td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տվյալների բջիջ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805D147A-F05A-4C1D-9C36-11AE92374AFC}"/>
              </a:ext>
            </a:extLst>
          </p:cNvPr>
          <p:cNvSpPr>
            <a:spLocks noGrp="1"/>
          </p:cNvSpPr>
          <p:nvPr/>
        </p:nvSpPr>
        <p:spPr>
          <a:xfrm>
            <a:off x="6858000" y="5286375"/>
            <a:ext cx="4476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1">
                <a:solidFill>
                  <a:srgbClr val="FFCC7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CC7A"/>
                </a:solidFill>
                <a:latin typeface="DejaVu Sans"/>
                <a:ea typeface="DejaVu Sans"/>
                <a:cs typeface="DejaVu Sans"/>
              </a:rPr>
              <a:t>Աղյուսակը տվյալների համար է, ոչ էջի դասավորության</a:t>
            </a:r>
          </a:p>
        </p:txBody>
      </p:sp>
    </p:spTree>
    <p:extLst>
      <p:ext uri="{BB962C8B-B14F-4D97-AF65-F5344CB8AC3E}">
        <p14:creationId xmlns:p14="http://schemas.microsoft.com/office/powerpoint/2010/main" val="343831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D841D3A-0660-48AC-A3D6-8E8199BEFF1C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1</a:t>
            </a:r>
            <a:r>
              <a:rPr lang="ru-RU"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0</a:t>
            </a:r>
            <a:r>
              <a:rPr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6B6A14-5C9A-466E-8882-C285DB00F53C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Հղումներ և հասցեներ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696146-5599-449F-B025-FEC7C0CE56CF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7D6AA3-4FD4-4905-9337-B6D0D915C3B3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7239000" cy="2857500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&lt;a href="https://example.com/docs"&gt;Բացարձակ հասցե&lt;/a&gt;</a:t>
            </a:r>
          </a:p>
          <a:p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&lt;a href="lessons/html.html"&gt;Հարաբերական հասցե&lt;/a&gt;</a:t>
            </a:r>
          </a:p>
          <a:p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&lt;a href="../index.html"&gt;Մեկ մակարդակ վերև&lt;/a&gt;</a:t>
            </a:r>
          </a:p>
          <a:p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&lt;a href="#media"&gt;Նույն էջի բաժին&lt;/a&gt;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05EABC-E4ED-466D-A23B-0B0980C0DDE2}"/>
              </a:ext>
            </a:extLst>
          </p:cNvPr>
          <p:cNvSpPr>
            <a:spLocks noGrp="1"/>
          </p:cNvSpPr>
          <p:nvPr/>
        </p:nvSpPr>
        <p:spPr>
          <a:xfrm>
            <a:off x="8334375" y="1666875"/>
            <a:ext cx="3095625" cy="2857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13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բացարձակ URL-ը ներառում է scheme և host</a:t>
            </a:r>
          </a:p>
          <a:p>
            <a:pPr marL="254000" indent="-127000">
              <a:spcAft>
                <a:spcPts val="13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հարաբերական հասցեն հաշվվում է ընթացիկ փաստաթղթից</a:t>
            </a:r>
          </a:p>
          <a:p>
            <a:pPr marL="254000" indent="-127000">
              <a:spcAft>
                <a:spcPts val="13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href-ը նշում է նպատակակետը</a:t>
            </a:r>
          </a:p>
          <a:p>
            <a:pPr marL="254000" indent="-127000">
              <a:spcAft>
                <a:spcPts val="13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հղման տեքստը պետք է նկարագրի նպատակը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52D4CD-8A31-4AC9-A095-DFE6D39863D8}"/>
              </a:ext>
            </a:extLst>
          </p:cNvPr>
          <p:cNvSpPr>
            <a:spLocks noGrp="1"/>
          </p:cNvSpPr>
          <p:nvPr/>
        </p:nvSpPr>
        <p:spPr>
          <a:xfrm>
            <a:off x="1428750" y="5000625"/>
            <a:ext cx="93345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«Կարդալ ավելին HTML հղումների մասին» ավելի հստակ է, քան «սեղմեք այստեղ»</a:t>
            </a:r>
          </a:p>
        </p:txBody>
      </p:sp>
    </p:spTree>
    <p:extLst>
      <p:ext uri="{BB962C8B-B14F-4D97-AF65-F5344CB8AC3E}">
        <p14:creationId xmlns:p14="http://schemas.microsoft.com/office/powerpoint/2010/main" val="314613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069C9D-4D01-43F4-A78F-FB0F14649AD6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1</a:t>
            </a:r>
            <a:r>
              <a:rPr lang="ru-RU"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1</a:t>
            </a:r>
            <a:r>
              <a:rPr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AB8C46-539E-4100-9E0C-EF6C5DD4848F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Պատկերներ և այլընտրանքային տեքստ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EED813-43F5-4E15-93A6-4017D55D3F4C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881664-D4FD-46D0-BA72-56747F9193FC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5905500" cy="2857500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&lt;img</a:t>
            </a:r>
          </a:p>
          <a:p>
            <a:pPr>
              <a:def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src="images/library.jpg"</a:t>
            </a:r>
          </a:p>
          <a:p>
            <a:pPr>
              <a:def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alt="Ուսանողները աշխատում են գրադարանում"</a:t>
            </a:r>
          </a:p>
          <a:p>
            <a:pPr>
              <a:def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width="640"</a:t>
            </a:r>
          </a:p>
          <a:p>
            <a:pPr>
              <a:def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height="360"</a:t>
            </a:r>
          </a:p>
          <a:p>
            <a:pPr>
              <a:def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72E8AE-691E-4BA7-B018-607F8CA9650A}"/>
              </a:ext>
            </a:extLst>
          </p:cNvPr>
          <p:cNvSpPr>
            <a:spLocks noGrp="1"/>
          </p:cNvSpPr>
          <p:nvPr/>
        </p:nvSpPr>
        <p:spPr>
          <a:xfrm>
            <a:off x="7096125" y="1619250"/>
            <a:ext cx="4286250" cy="2952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12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src-ը նշում է պատկերի հասցեն</a:t>
            </a:r>
          </a:p>
          <a:p>
            <a:pPr marL="254000" indent="-127000">
              <a:spcAft>
                <a:spcPts val="12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alt-ը փոխանցում է պատկերի իմաստը</a:t>
            </a:r>
          </a:p>
          <a:p>
            <a:pPr marL="254000" indent="-127000">
              <a:spcAft>
                <a:spcPts val="12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width և height-ը պահում են էջի կայուն դասավորությունը</a:t>
            </a:r>
          </a:p>
          <a:p>
            <a:pPr marL="254000" indent="-127000">
              <a:spcAft>
                <a:spcPts val="12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դեկորատիվ պատկերի համար օգտագործվում է alt=""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FC4B2B-A809-4B5C-96C0-425C8A32AE71}"/>
              </a:ext>
            </a:extLst>
          </p:cNvPr>
          <p:cNvSpPr>
            <a:spLocks noGrp="1"/>
          </p:cNvSpPr>
          <p:nvPr/>
        </p:nvSpPr>
        <p:spPr>
          <a:xfrm>
            <a:off x="1190625" y="5095875"/>
            <a:ext cx="9810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650" b="1">
                <a:solidFill>
                  <a:srgbClr val="FFCC7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CC7A"/>
                </a:solidFill>
                <a:latin typeface="DejaVu Sans"/>
                <a:ea typeface="DejaVu Sans"/>
                <a:cs typeface="DejaVu Sans"/>
              </a:rPr>
              <a:t>Alt տեքստը նկարագրում է պատկերի նպատակը տվյալ էջում</a:t>
            </a:r>
          </a:p>
        </p:txBody>
      </p:sp>
    </p:spTree>
    <p:extLst>
      <p:ext uri="{BB962C8B-B14F-4D97-AF65-F5344CB8AC3E}">
        <p14:creationId xmlns:p14="http://schemas.microsoft.com/office/powerpoint/2010/main" val="1736321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FF1C7D4-4DAF-4625-A299-496B719F0483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1</a:t>
            </a:r>
            <a:r>
              <a:rPr lang="ru-RU"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2</a:t>
            </a:r>
            <a:r>
              <a:rPr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69FF9C-7730-4FC7-89B0-A86CD65B9164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Ձայն, տեսանյութ և ենթագրեր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0E754E-A993-49BB-8DA9-248F713A5124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065692-DFD2-4B84-A2BC-1A2A016110A0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6667500" cy="3905250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&lt;video controls width="640"&gt;</a:t>
            </a:r>
          </a:p>
          <a:p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&lt;source src="lesson.mp4" type="video/mp4"&gt;</a:t>
            </a:r>
          </a:p>
          <a:p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&lt;track kind="captions"</a:t>
            </a:r>
          </a:p>
          <a:p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 src="lesson-hy.vtt"</a:t>
            </a:r>
          </a:p>
          <a:p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 srclang="hy" label="Հայերեն"&gt;</a:t>
            </a:r>
          </a:p>
          <a:p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&lt;/video&gt;</a:t>
            </a:r>
          </a:p>
          <a:p>
            <a:endParaRPr sz="1425" b="0">
              <a:solidFill>
                <a:srgbClr val="D5F3EF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&lt;audio controls src="intro.mp3"&gt;&lt;/audio&gt;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657561-4563-4E64-ABC5-9DD9315B3CD5}"/>
              </a:ext>
            </a:extLst>
          </p:cNvPr>
          <p:cNvSpPr>
            <a:spLocks noGrp="1"/>
          </p:cNvSpPr>
          <p:nvPr/>
        </p:nvSpPr>
        <p:spPr>
          <a:xfrm>
            <a:off x="7715250" y="1666875"/>
            <a:ext cx="3619500" cy="3048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1200"/>
              </a:spcAft>
              <a:buChar char="•"/>
              <a:defRPr sz="14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controls-ը ցուցադրում է կառավարման կոճակները</a:t>
            </a:r>
          </a:p>
          <a:p>
            <a:pPr marL="254000" indent="-127000">
              <a:spcAft>
                <a:spcPts val="1200"/>
              </a:spcAft>
              <a:buChar char="•"/>
              <a:defRPr sz="14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source-ը թույլ է տալիս նշել մեդիա ֆայլը և տեսակը</a:t>
            </a:r>
          </a:p>
          <a:p>
            <a:pPr marL="254000" indent="-127000">
              <a:spcAft>
                <a:spcPts val="1200"/>
              </a:spcAft>
              <a:buChar char="•"/>
              <a:defRPr sz="14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track-ը միացնում է WebVTT ենթագրերը</a:t>
            </a:r>
          </a:p>
          <a:p>
            <a:pPr marL="254000" indent="-127000">
              <a:spcAft>
                <a:spcPts val="1200"/>
              </a:spcAft>
              <a:buChar char="•"/>
              <a:defRPr sz="14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captions-ը նաև փոխանցում է խոսքից բացի կարևոր ձայները</a:t>
            </a:r>
          </a:p>
        </p:txBody>
      </p:sp>
    </p:spTree>
    <p:extLst>
      <p:ext uri="{BB962C8B-B14F-4D97-AF65-F5344CB8AC3E}">
        <p14:creationId xmlns:p14="http://schemas.microsoft.com/office/powerpoint/2010/main" val="856152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EBD3CD-6FAB-4684-9C53-2B17E6CDF8D3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1</a:t>
            </a:r>
            <a:r>
              <a:rPr lang="ru-RU"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3</a:t>
            </a:r>
            <a:r>
              <a:rPr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A6680C-29E2-4E22-B28A-3F1F1FE554FF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HTML-ի իմաստաբանական կառուցվածքը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2FEBF2-D024-41EC-9A54-D6391C376B69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D63207-806E-4416-9941-AF791E478672}"/>
              </a:ext>
            </a:extLst>
          </p:cNvPr>
          <p:cNvSpPr>
            <a:spLocks noGrp="1"/>
          </p:cNvSpPr>
          <p:nvPr/>
        </p:nvSpPr>
        <p:spPr>
          <a:xfrm>
            <a:off x="714375" y="1428750"/>
            <a:ext cx="4762500" cy="4333875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&lt;header&gt;...&lt;/header&gt;</a:t>
            </a:r>
          </a:p>
          <a:p>
            <a:pPr>
              <a:def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&lt;nav&gt;...&lt;/nav&gt;</a:t>
            </a:r>
          </a:p>
          <a:p>
            <a:pPr>
              <a:def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&lt;main&gt;</a:t>
            </a:r>
          </a:p>
          <a:p>
            <a:pPr>
              <a:def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&lt;article&gt;</a:t>
            </a:r>
          </a:p>
          <a:p>
            <a:pPr>
              <a:def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&lt;section&gt;...&lt;/section&gt;</a:t>
            </a:r>
          </a:p>
          <a:p>
            <a:pPr>
              <a:def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&lt;/article&gt;</a:t>
            </a:r>
          </a:p>
          <a:p>
            <a:pPr>
              <a:def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&lt;aside&gt;...&lt;/aside&gt;</a:t>
            </a:r>
          </a:p>
          <a:p>
            <a:pPr>
              <a:def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&lt;/main&gt;</a:t>
            </a:r>
          </a:p>
          <a:p>
            <a:pPr>
              <a:def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&lt;footer&gt;...&lt;/footer&gt;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9DA47C-1DAC-4AEE-AD14-6FF3FEA52295}"/>
              </a:ext>
            </a:extLst>
          </p:cNvPr>
          <p:cNvSpPr>
            <a:spLocks noGrp="1"/>
          </p:cNvSpPr>
          <p:nvPr/>
        </p:nvSpPr>
        <p:spPr>
          <a:xfrm>
            <a:off x="6191250" y="1476375"/>
            <a:ext cx="4857750" cy="685800"/>
          </a:xfrm>
          <a:prstGeom prst="rect">
            <a:avLst/>
          </a:prstGeom>
          <a:solidFill>
            <a:srgbClr val="112940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header  |  կայքի կամ բաժնի վերնամաս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76F376-B3D7-4E65-8743-C7DD1B06079C}"/>
              </a:ext>
            </a:extLst>
          </p:cNvPr>
          <p:cNvSpPr>
            <a:spLocks noGrp="1"/>
          </p:cNvSpPr>
          <p:nvPr/>
        </p:nvSpPr>
        <p:spPr>
          <a:xfrm>
            <a:off x="6191250" y="2305050"/>
            <a:ext cx="4857750" cy="685800"/>
          </a:xfrm>
          <a:prstGeom prst="rect">
            <a:avLst/>
          </a:prstGeom>
          <a:solidFill>
            <a:srgbClr val="0C1D2D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1">
                <a:solidFill>
                  <a:srgbClr val="56A5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56A5FF"/>
                </a:solidFill>
                <a:latin typeface="DejaVu Sans"/>
                <a:ea typeface="DejaVu Sans"/>
                <a:cs typeface="DejaVu Sans"/>
              </a:rPr>
              <a:t>nav  |  հիմնական նավարկում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1AD260-9136-4F20-B8B8-140827BCF813}"/>
              </a:ext>
            </a:extLst>
          </p:cNvPr>
          <p:cNvSpPr>
            <a:spLocks noGrp="1"/>
          </p:cNvSpPr>
          <p:nvPr/>
        </p:nvSpPr>
        <p:spPr>
          <a:xfrm>
            <a:off x="6191250" y="3133725"/>
            <a:ext cx="4857750" cy="685800"/>
          </a:xfrm>
          <a:prstGeom prst="rect">
            <a:avLst/>
          </a:prstGeom>
          <a:solidFill>
            <a:srgbClr val="112940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main  |  էջի հիմնական բովանդակություն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CA75E0-6EC8-4835-A0F1-FD61ACB998C1}"/>
              </a:ext>
            </a:extLst>
          </p:cNvPr>
          <p:cNvSpPr>
            <a:spLocks noGrp="1"/>
          </p:cNvSpPr>
          <p:nvPr/>
        </p:nvSpPr>
        <p:spPr>
          <a:xfrm>
            <a:off x="6191250" y="3962400"/>
            <a:ext cx="4857750" cy="685800"/>
          </a:xfrm>
          <a:prstGeom prst="rect">
            <a:avLst/>
          </a:prstGeom>
          <a:solidFill>
            <a:srgbClr val="0C1D2D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1">
                <a:solidFill>
                  <a:srgbClr val="56A5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56A5FF"/>
                </a:solidFill>
                <a:latin typeface="DejaVu Sans"/>
                <a:ea typeface="DejaVu Sans"/>
                <a:cs typeface="DejaVu Sans"/>
              </a:rPr>
              <a:t>article / section  |  իմաստային բաժիններ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6ACA42-D6C9-4985-912C-A8FDFF914B66}"/>
              </a:ext>
            </a:extLst>
          </p:cNvPr>
          <p:cNvSpPr>
            <a:spLocks noGrp="1"/>
          </p:cNvSpPr>
          <p:nvPr/>
        </p:nvSpPr>
        <p:spPr>
          <a:xfrm>
            <a:off x="6191250" y="4791075"/>
            <a:ext cx="4857750" cy="685800"/>
          </a:xfrm>
          <a:prstGeom prst="rect">
            <a:avLst/>
          </a:prstGeom>
          <a:solidFill>
            <a:srgbClr val="112940"/>
          </a:solidFill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footer  |  եզրափակիչ տեղեկություն</a:t>
            </a:r>
          </a:p>
        </p:txBody>
      </p:sp>
    </p:spTree>
    <p:extLst>
      <p:ext uri="{BB962C8B-B14F-4D97-AF65-F5344CB8AC3E}">
        <p14:creationId xmlns:p14="http://schemas.microsoft.com/office/powerpoint/2010/main" val="1587424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64BF25C-F07F-45F8-A342-678C100AEB3C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1</a:t>
            </a:r>
            <a:r>
              <a:rPr lang="ru-RU"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4</a:t>
            </a:r>
            <a:r>
              <a:rPr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B29F47-23FE-40CB-960C-A3CCBA3E2AF5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Հասանելիության հիմունքները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49098D-3568-40B7-98D1-D95326819243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graphicFrame>
        <p:nvGraphicFramePr>
          <p:cNvPr id="9" name="Table 8"/>
          <p:cNvGraphicFramePr/>
          <p:nvPr/>
        </p:nvGraphicFramePr>
        <p:xfrm>
          <a:off x="1047750" y="1381125"/>
          <a:ext cx="10096500" cy="4286247"/>
        </p:xfrm>
        <a:graphic>
          <a:graphicData uri="http://schemas.openxmlformats.org/drawingml/2006/table">
            <a:tbl>
              <a:tblPr firstRow="1" bandRow="1"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2321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Սկզբունք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HTML լուծում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Էջի լեզու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&lt;html lang="hy"&gt;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Կառուցվածք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տրամաբանական h1–h6 և landmarks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Պատկեր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իմաստալից alt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Հղում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նպատակը նկարագրող տեքստ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Ստեղնաշար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ինտերակտիվ տարրերի բնական հերթականություն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Մեդիա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ենթագրեր և տեքստային այլընտրանք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9CF4681-5466-4D61-B5F8-49EE1A4C2457}"/>
              </a:ext>
            </a:extLst>
          </p:cNvPr>
          <p:cNvSpPr>
            <a:spLocks noGrp="1"/>
          </p:cNvSpPr>
          <p:nvPr/>
        </p:nvSpPr>
        <p:spPr>
          <a:xfrm>
            <a:off x="1285875" y="5810250"/>
            <a:ext cx="9620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425" b="1">
                <a:solidFill>
                  <a:srgbClr val="FFCC7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CC7A"/>
                </a:solidFill>
                <a:latin typeface="DejaVu Sans"/>
                <a:ea typeface="DejaVu Sans"/>
                <a:cs typeface="DejaVu Sans"/>
              </a:rPr>
              <a:t>Սկզբում օգտագործեք ճիշտ HTML տարրը, ապա միայն անհրաժեշտության դեպքում ավելացրեք ARIA</a:t>
            </a:r>
          </a:p>
        </p:txBody>
      </p:sp>
    </p:spTree>
    <p:extLst>
      <p:ext uri="{BB962C8B-B14F-4D97-AF65-F5344CB8AC3E}">
        <p14:creationId xmlns:p14="http://schemas.microsoft.com/office/powerpoint/2010/main" val="685086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DA1DF1C-5F41-4688-BB36-BBFE2394288D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</a:t>
            </a:r>
            <a:r>
              <a:rPr lang="ru-RU"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15</a:t>
            </a:r>
            <a:r>
              <a:rPr sz="975" b="1" dirty="0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1A2176-A2D2-4B6A-8318-C8E6EE2A6AE4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HTML, XML և XHTML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63695A-EF6E-4B1A-B1C7-E091F72ADBCE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graphicFrame>
        <p:nvGraphicFramePr>
          <p:cNvPr id="9" name="Table 8"/>
          <p:cNvGraphicFramePr/>
          <p:nvPr/>
        </p:nvGraphicFramePr>
        <p:xfrm>
          <a:off x="523875" y="1381125"/>
          <a:ext cx="11144250" cy="4238628"/>
        </p:xfrm>
        <a:graphic>
          <a:graphicData uri="http://schemas.openxmlformats.org/drawingml/2006/table">
            <a:tbl>
              <a:tblPr firstRow="1" bandRow="1"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4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Հատկություն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HTML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XML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XHTML</a:t>
                      </a:r>
                    </a:p>
                  </a:txBody>
                  <a:tcPr anchor="ctr">
                    <a:solidFill>
                      <a:srgbClr val="11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438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Նպատակ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վեբ էջի կառուցվածք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տվյալների նկարագրություն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HTML XML շարահյուսությամբ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438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Թեգեր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նախապես սահմանված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սահմանում է հեղինակը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HTML թեգեր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438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Սխալների մշակում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բրաուզերը հաճախ ուղղում է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խիստ սխալ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խիստ XML կանոններ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438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Մեծատառ փոքրատառ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ոչ զգայուն թեգերում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զգայուն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զգայուն</a:t>
                      </a:r>
                    </a:p>
                  </a:txBody>
                  <a:tcPr anchor="ctr">
                    <a:solidFill>
                      <a:srgbClr val="0C1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6438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Կիրառում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ժամանակակից վեբ էջեր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տվյալների փոխանակում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հատուկ XML միջավայրեր</a:t>
                      </a:r>
                    </a:p>
                  </a:txBody>
                  <a:tcPr anchor="ctr">
                    <a:solidFill>
                      <a:srgbClr val="06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4342750-FF3A-498E-BD77-B8495E66CBDC}"/>
              </a:ext>
            </a:extLst>
          </p:cNvPr>
          <p:cNvSpPr>
            <a:spLocks noGrp="1"/>
          </p:cNvSpPr>
          <p:nvPr/>
        </p:nvSpPr>
        <p:spPr>
          <a:xfrm>
            <a:off x="1095375" y="5810250"/>
            <a:ext cx="100012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Ժամանակակից վեբ էջերի հիմնական ընտրությունը HTML շարահյուսությունն է</a:t>
            </a:r>
          </a:p>
        </p:txBody>
      </p:sp>
    </p:spTree>
    <p:extLst>
      <p:ext uri="{BB962C8B-B14F-4D97-AF65-F5344CB8AC3E}">
        <p14:creationId xmlns:p14="http://schemas.microsoft.com/office/powerpoint/2010/main" val="882914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1DCC443-6836-4053-A15A-711883EB5340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81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  16  ՎԵԲ ՏԵԽՆՈԼՈԳԻԱՆԵՐ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E04E97-722C-4F1A-A80C-55684E8DFE48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Ամփոփիչ գործնական առաջադրանք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92DF6E-1562-4C80-8D40-7930B2183A2C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11068050" cy="19050"/>
          </a:xfrm>
          <a:prstGeom prst="rect">
            <a:avLst/>
          </a:prstGeom>
          <a:solidFill>
            <a:srgbClr val="1B4057"/>
          </a:solidFill>
          <a:ln w="0">
            <a:noFill/>
          </a:ln>
        </p:spPr>
        <p:txBody>
          <a:bodyPr anchor="t">
            <a:noAutofit/>
          </a:bodyPr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A71D9C-38DC-437E-A345-FAD3B0344627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4857750" cy="3714750"/>
          </a:xfrm>
          <a:prstGeom prst="rect">
            <a:avLst/>
          </a:prstGeom>
          <a:solidFill>
            <a:srgbClr val="0C1D2D"/>
          </a:solidFill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Ստեղծել</a:t>
            </a:r>
            <a:r>
              <a:rPr sz="165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մեկ</a:t>
            </a:r>
            <a:r>
              <a:rPr sz="165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էջ</a:t>
            </a:r>
            <a:r>
              <a:rPr sz="165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165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որը</a:t>
            </a:r>
            <a:r>
              <a:rPr sz="165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ունի</a:t>
            </a:r>
            <a:r>
              <a:rPr sz="165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՝</a:t>
            </a:r>
          </a:p>
          <a:p>
            <a:endParaRPr sz="1650" b="0" dirty="0">
              <a:solidFill>
                <a:srgbClr val="DCE7F2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1. </a:t>
            </a:r>
            <a:r>
              <a:rPr sz="165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ճիշտ</a:t>
            </a:r>
            <a:r>
              <a:rPr sz="165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ru-RU" sz="165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էջի կառուցվածք</a:t>
            </a:r>
            <a:endParaRPr sz="1650" b="0" dirty="0">
              <a:solidFill>
                <a:srgbClr val="DCE7F2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2. header, nav, main և footer</a:t>
            </a:r>
          </a:p>
          <a:p>
            <a:pPr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3. h1–h3 </a:t>
            </a:r>
            <a:r>
              <a:rPr sz="165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վերնագրային</a:t>
            </a:r>
            <a:r>
              <a:rPr sz="165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կառուցվածք</a:t>
            </a:r>
            <a:endParaRPr sz="1650" b="0" dirty="0">
              <a:solidFill>
                <a:srgbClr val="DCE7F2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4. </a:t>
            </a:r>
            <a:r>
              <a:rPr sz="165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պարբերություն</a:t>
            </a:r>
            <a:r>
              <a:rPr sz="165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165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շեշտադրում</a:t>
            </a:r>
            <a:r>
              <a:rPr sz="165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և </a:t>
            </a:r>
            <a:r>
              <a:rPr sz="165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ցուցակ</a:t>
            </a:r>
            <a:endParaRPr sz="1650" b="0" dirty="0">
              <a:solidFill>
                <a:srgbClr val="DCE7F2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5. </a:t>
            </a:r>
            <a:r>
              <a:rPr sz="165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աղյուսակ</a:t>
            </a:r>
            <a:r>
              <a:rPr sz="165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165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հղում</a:t>
            </a:r>
            <a:r>
              <a:rPr sz="165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և </a:t>
            </a:r>
            <a:r>
              <a:rPr sz="165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պատկեր</a:t>
            </a:r>
            <a:r>
              <a:rPr sz="165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alt-</a:t>
            </a:r>
            <a:r>
              <a:rPr sz="165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ով</a:t>
            </a:r>
            <a:endParaRPr sz="1650" b="0" dirty="0">
              <a:solidFill>
                <a:srgbClr val="DCE7F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664089-AD21-4FE0-BC79-76728C75BA89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4953000" cy="2286000"/>
          </a:xfrm>
          <a:prstGeom prst="rect">
            <a:avLst/>
          </a:prstGeom>
          <a:solidFill>
            <a:srgbClr val="0C1D2D"/>
          </a:solidFill>
          <a:ln w="9525">
            <a:solidFill>
              <a:srgbClr val="1B4057"/>
            </a:solidFill>
          </a:ln>
        </p:spPr>
        <p:txBody>
          <a:bodyPr anchor="t">
            <a:noAutofit/>
          </a:bodyPr>
          <a:lstStyle/>
          <a:p>
            <a:pPr>
              <a:defRPr sz="19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 dirty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project/</a:t>
            </a:r>
          </a:p>
          <a:p>
            <a:pPr>
              <a:defRPr sz="19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 dirty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├── index.html</a:t>
            </a:r>
          </a:p>
          <a:p>
            <a:pPr>
              <a:defRPr sz="19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 dirty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├── pages/contact.html</a:t>
            </a:r>
          </a:p>
          <a:p>
            <a:pPr>
              <a:defRPr sz="19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 dirty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├── images/course.jpg</a:t>
            </a:r>
          </a:p>
          <a:p>
            <a:pPr>
              <a:defRPr sz="19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 dirty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└── media/intro.mp4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41C763-40F3-432D-AED4-DE8AC99C05AB}"/>
              </a:ext>
            </a:extLst>
          </p:cNvPr>
          <p:cNvSpPr>
            <a:spLocks noGrp="1"/>
          </p:cNvSpPr>
          <p:nvPr/>
        </p:nvSpPr>
        <p:spPr>
          <a:xfrm>
            <a:off x="6381750" y="4333875"/>
            <a:ext cx="4572000" cy="1619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27000">
              <a:spcAft>
                <a:spcPts val="9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բացել</a:t>
            </a:r>
            <a:r>
              <a:rPr sz="150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0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էջը</a:t>
            </a:r>
            <a:r>
              <a:rPr sz="150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0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բրաուզերում</a:t>
            </a:r>
            <a:endParaRPr sz="1500" b="0" dirty="0">
              <a:solidFill>
                <a:srgbClr val="DCE7F2"/>
              </a:solidFill>
              <a:latin typeface="DejaVu Sans"/>
              <a:ea typeface="DejaVu Sans"/>
              <a:cs typeface="DejaVu Sans"/>
            </a:endParaRPr>
          </a:p>
          <a:p>
            <a:pPr marL="254000" indent="-127000">
              <a:spcAft>
                <a:spcPts val="9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ստուգել</a:t>
            </a:r>
            <a:r>
              <a:rPr sz="150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0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վերնագրերի</a:t>
            </a:r>
            <a:r>
              <a:rPr sz="150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0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հերթականությունը</a:t>
            </a:r>
            <a:endParaRPr sz="1500" b="0" dirty="0">
              <a:solidFill>
                <a:srgbClr val="DCE7F2"/>
              </a:solidFill>
              <a:latin typeface="DejaVu Sans"/>
              <a:ea typeface="DejaVu Sans"/>
              <a:cs typeface="DejaVu Sans"/>
            </a:endParaRPr>
          </a:p>
          <a:p>
            <a:pPr marL="254000" indent="-127000">
              <a:spcAft>
                <a:spcPts val="9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ստուգել</a:t>
            </a:r>
            <a:r>
              <a:rPr sz="150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0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հղումները</a:t>
            </a:r>
            <a:r>
              <a:rPr sz="150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և </a:t>
            </a:r>
            <a:r>
              <a:rPr sz="150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մեդիան</a:t>
            </a:r>
            <a:endParaRPr sz="1500" b="0" dirty="0">
              <a:solidFill>
                <a:srgbClr val="DCE7F2"/>
              </a:solidFill>
              <a:latin typeface="DejaVu Sans"/>
              <a:ea typeface="DejaVu Sans"/>
              <a:cs typeface="DejaVu Sans"/>
            </a:endParaRPr>
          </a:p>
          <a:p>
            <a:pPr marL="254000" indent="-127000">
              <a:spcAft>
                <a:spcPts val="900"/>
              </a:spcAft>
              <a:buChar char="•"/>
              <a:defRPr sz="15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անցնել</a:t>
            </a:r>
            <a:r>
              <a:rPr sz="150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0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էջով</a:t>
            </a:r>
            <a:r>
              <a:rPr sz="150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0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միայն</a:t>
            </a:r>
            <a:r>
              <a:rPr sz="1500" b="0" dirty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 Tab </a:t>
            </a:r>
            <a:r>
              <a:rPr sz="1500" b="0" dirty="0" err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ստեղնով</a:t>
            </a:r>
            <a:endParaRPr sz="1500" b="0" dirty="0">
              <a:solidFill>
                <a:srgbClr val="DCE7F2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13973230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1840</Words>
  <Application>Microsoft Office PowerPoint</Application>
  <DocSecurity>0</DocSecurity>
  <PresentationFormat>Widescreen</PresentationFormat>
  <Paragraphs>312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Unicode MS</vt:lpstr>
      <vt:lpstr>Calibri</vt:lpstr>
      <vt:lpstr>DejaVu Sans</vt:lpstr>
      <vt:lpstr>DejaVu Sans Mono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poghosyan sona</cp:lastModifiedBy>
  <cp:revision>2</cp:revision>
  <dcterms:created xsi:type="dcterms:W3CDTF">2026-09-13T21:06:12Z</dcterms:created>
  <dcterms:modified xsi:type="dcterms:W3CDTF">2026-09-13T21:30:56Z</dcterms:modified>
</cp:coreProperties>
</file>