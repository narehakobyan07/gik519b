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Սկսել նախորդ դասի հաճախորդ–սերվեր կապից և ցույց տալ, թե որտեղ է գտնվում HTTP-ը։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Բացատրել, որ client socket-ը նույնպես ունի տեղային IP և ժամանակավոր պորտ։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Proxy բառը ներկայացնել որպես միջնորդ։ Նախ բացատրել ընթացքը, հետո միայն տեսակները։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Օրինակ բերել կազմակերպության կամ ուսումնական հաստատության ընդհանուր proxy սերվերը։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Շեշտել, որ օգտատերը սովորաբար չի տեսնում ներքին սերվերները։ Reverse proxy-ն մեկ մուտքի կետ է։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Տալ հարաբերական URL-ի օրինակ՝ ../css/style.css։</a:t>
            </a:r>
          </a:p>
          <a:p>
            <a:r>
              <a:t>Աղբյուրներ՝</a:t>
            </a:r>
          </a:p>
          <a:p>
            <a:r>
              <a:t>https://www.rfc-editor.org/info/rfc3986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Proxy-ն ներկայացնում է հաճախորդին, reverse proxy-ն՝ սերվերային ենթակառուցվածքը։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Կապել քեշը Network բաժնի Size և Status սյունակների հետ։</a:t>
            </a:r>
          </a:p>
          <a:p>
            <a:r>
              <a:t>Աղբյուրներ՝</a:t>
            </a:r>
          </a:p>
          <a:p>
            <a:r>
              <a:t>https://www.rfc-editor.org/info/rfc9110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HTTP-ը կիրառական մակարդակի հարցում–պատասխան արձանագրություն է։</a:t>
            </a:r>
          </a:p>
          <a:p>
            <a:r>
              <a:t>Աղբյուրներ՝</a:t>
            </a:r>
          </a:p>
          <a:p>
            <a:r>
              <a:t>https://www.rfc-editor.org/info/rfc9110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Idempotent նշանակում է, որ նույն հարցման կրկնումը նպատակային ազդեցությունը չի փոխում առաջին հաջող կիրառումից հետո։</a:t>
            </a:r>
          </a:p>
          <a:p>
            <a:r>
              <a:t>Աղբյուրներ՝</a:t>
            </a:r>
          </a:p>
          <a:p>
            <a:r>
              <a:t>https://www.rfc-editor.org/info/rfc9110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Առանձնացնել 401 և 403 կոդերի տարբերությունը։</a:t>
            </a:r>
          </a:p>
          <a:p>
            <a:r>
              <a:t>Աղբյուրներ՝</a:t>
            </a:r>
          </a:p>
          <a:p>
            <a:r>
              <a:t>https://www.rfc-editor.org/info/rfc9110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HTTP/2-ը մի կապի վրա թույլ է տալիս միաժամանակյա հոսքեր։ HTTP/3-ը HTTP-ը տեղափոխում է QUIC-ի վրա։</a:t>
            </a:r>
          </a:p>
          <a:p>
            <a:r>
              <a:t>Աղբյուրներ՝</a:t>
            </a:r>
          </a:p>
          <a:p>
            <a:r>
              <a:t>https://www.rfc-editor.org/info/rfc9113</a:t>
            </a:r>
          </a:p>
          <a:p>
            <a:r>
              <a:t>https://www.rfc-editor.org/info/rfc9114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Ցույց տալ շերտերի համագործակցությունը, ոչ թե ամեն արձանագրության ամբողջ կառուցվածքը։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Նախագծի արմատը բացել ամբողջ թղթապանակով, ոչ միայն մեկ ֆայլով։</a:t>
            </a:r>
          </a:p>
          <a:p>
            <a:r>
              <a:t>Աղբյուրներ՝</a:t>
            </a:r>
          </a:p>
          <a:p>
            <a:r>
              <a:t>https://code.visualstudio.com/docs/editing/codebasics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Network բաժնում գտնել Request URL, Method, Status Code, Remote Address և Protocol։</a:t>
            </a:r>
          </a:p>
          <a:p>
            <a:r>
              <a:t>Աղբյուրներ՝</a:t>
            </a:r>
          </a:p>
          <a:p>
            <a:r>
              <a:t>https://developer.chrome.com/docs/devtools/network/reference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Ավարտել մեկ ուսանողի բանավոր շղթայով՝ URL, DNS, կապ, HTTP, render։</a:t>
            </a:r>
          </a:p>
          <a:p>
            <a:r>
              <a:t>Աղբյուրներ՝</a:t>
            </a:r>
          </a:p>
          <a:p>
            <a:r>
              <a:t>https://docs.github.com/en/get-started/git-basics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E2B344-1140-4ABD-AFD9-3FB761757F7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01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1972DF-7E7F-48CF-A98D-64C3C76640E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Վեբ հարցման ցանցային շերտերը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26B45-E773-4ED1-9F71-56170A9D1D5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714375" y="1476375"/>
          <a:ext cx="10763250" cy="37147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Շերտ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Արձանագրություն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Դեր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Կիրառական շերտ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 HTTPS DNS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Հարցման իմաստ և անվան լուծում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Տրանսպորտային շերտ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TCP կամ QUIC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Կապ և տվյալների փոխանցում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Համացանցային շերտ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IP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Հասցեավորում և երթուղավորում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Կապուղու շերտ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Ethernet կամ Wi-Fi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Փաթեթի փոխանցում տեղային ցանցում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A1A4EFF-4303-4B14-8B44-FB57C573EDD7}"/>
              </a:ext>
            </a:extLst>
          </p:cNvPr>
          <p:cNvSpPr>
            <a:spLocks noGrp="1"/>
          </p:cNvSpPr>
          <p:nvPr/>
        </p:nvSpPr>
        <p:spPr>
          <a:xfrm>
            <a:off x="1333500" y="547687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Յուրաքանչյուր շերտ օգտագործում է ստորին շերտի ծառայությունը</a:t>
            </a:r>
          </a:p>
        </p:txBody>
      </p:sp>
    </p:spTree>
    <p:extLst>
      <p:ext uri="{BB962C8B-B14F-4D97-AF65-F5344CB8AC3E}">
        <p14:creationId xmlns:p14="http://schemas.microsoft.com/office/powerpoint/2010/main" val="111341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1E52D0-CA08-4B45-9BD6-32AA22AB444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02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BA2A3-F459-4F3B-9D88-D3ABF2DF846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Պորտ և endpoint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32028-328C-414A-B379-167E9375422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5489AC-A6F0-4B9A-98D4-8378576C7377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5143500" cy="233362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192.0.2.10:443</a:t>
            </a:r>
          </a:p>
          <a:p>
            <a:endParaRPr sz="2175" b="0">
              <a:solidFill>
                <a:srgbClr val="D5F3EF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IP հասցե  +  պորտ  =  endpoint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667500" y="1476375"/>
          <a:ext cx="4095750" cy="3000375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Պորտ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Ծառայություն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443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HTTPS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DNS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SSH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5F35A7F-9007-43D6-9669-242AE9244AB7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9906000" cy="70485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Միևնույն IP հասցեում տարբեր պորտերով կարող են աշխատել տարբեր ծառայություններ</a:t>
            </a:r>
          </a:p>
        </p:txBody>
      </p:sp>
    </p:spTree>
    <p:extLst>
      <p:ext uri="{BB962C8B-B14F-4D97-AF65-F5344CB8AC3E}">
        <p14:creationId xmlns:p14="http://schemas.microsoft.com/office/powerpoint/2010/main" val="1277180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03CCAA-035F-4531-8764-0398168BB02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03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86F395-3F18-4493-877A-D635BA63C58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Proxy միջնորդ սերվեր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4D395A-EA22-4037-8EB2-88686C5BB67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26DB-5241-447F-A95A-BB1597F5526E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2762250" cy="11430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Օգտատեր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F2B5D5-5525-4E74-A6ED-512E2BD57364}"/>
              </a:ext>
            </a:extLst>
          </p:cNvPr>
          <p:cNvSpPr>
            <a:spLocks noGrp="1"/>
          </p:cNvSpPr>
          <p:nvPr/>
        </p:nvSpPr>
        <p:spPr>
          <a:xfrm>
            <a:off x="4714875" y="1952625"/>
            <a:ext cx="2762250" cy="11430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06111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6111F"/>
                </a:solidFill>
                <a:latin typeface="DejaVu Sans"/>
                <a:ea typeface="DejaVu Sans"/>
                <a:cs typeface="DejaVu Sans"/>
              </a:rPr>
              <a:t>Proxy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A47996-4765-4310-B98B-202274C09328}"/>
              </a:ext>
            </a:extLst>
          </p:cNvPr>
          <p:cNvSpPr>
            <a:spLocks noGrp="1"/>
          </p:cNvSpPr>
          <p:nvPr/>
        </p:nvSpPr>
        <p:spPr>
          <a:xfrm>
            <a:off x="8620125" y="1952625"/>
            <a:ext cx="2762250" cy="11430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Վեբ սերվեր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EC0EF3-4948-444F-BBD7-1CFA63E2D803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9144000" cy="1190625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Proxy-ն ստանում է հարցումը, փոխանցում է այն մյուս կողմին և վերադարձնում պատասխանը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B72AE7-D42A-4514-A091-6ADC0CC401E4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Միջնորդը կարող է վերահսկել, պաշտպանել կամ արագացնել կապը</a:t>
            </a:r>
          </a:p>
        </p:txBody>
      </p:sp>
    </p:spTree>
    <p:extLst>
      <p:ext uri="{BB962C8B-B14F-4D97-AF65-F5344CB8AC3E}">
        <p14:creationId xmlns:p14="http://schemas.microsoft.com/office/powerpoint/2010/main" val="191582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267C7A-745A-4B9B-9240-EBF58C78523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04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C23-9E6F-4E45-86C0-5170E563132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Forward Proxy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D100F-1FDD-4E6E-BF4C-58D0397A6D0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89D5D8-9ECE-4099-A17B-075AA30C9D04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143250" cy="104775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Հաճախորդներ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EEA2A-3522-4EFA-BB7C-C6EA202766C8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104775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06111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6111F"/>
                </a:solidFill>
                <a:latin typeface="DejaVu Sans"/>
                <a:ea typeface="DejaVu Sans"/>
                <a:cs typeface="DejaVu Sans"/>
              </a:rPr>
              <a:t>Forward Proxy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A3348-0345-4E18-9622-EC260214D6C3}"/>
              </a:ext>
            </a:extLst>
          </p:cNvPr>
          <p:cNvSpPr>
            <a:spLocks noGrp="1"/>
          </p:cNvSpPr>
          <p:nvPr/>
        </p:nvSpPr>
        <p:spPr>
          <a:xfrm>
            <a:off x="8239125" y="1714500"/>
            <a:ext cx="3143250" cy="104775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Համացանց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67E406-EC24-44E5-BE07-3ED53C28ED59}"/>
              </a:ext>
            </a:extLst>
          </p:cNvPr>
          <p:cNvSpPr>
            <a:spLocks noGrp="1"/>
          </p:cNvSpPr>
          <p:nvPr/>
        </p:nvSpPr>
        <p:spPr>
          <a:xfrm>
            <a:off x="1619250" y="3429000"/>
            <a:ext cx="8953500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3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Գործում է հաճախորդի անունից</a:t>
            </a:r>
          </a:p>
          <a:p>
            <a:pPr marL="254000" indent="-127000">
              <a:spcAft>
                <a:spcPts val="13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Կարող է սահմանափակել կայքերի հասանելիությունը</a:t>
            </a:r>
          </a:p>
          <a:p>
            <a:pPr marL="254000" indent="-127000">
              <a:spcAft>
                <a:spcPts val="13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Կարող է գրանցել և վերահսկել հարցումները</a:t>
            </a:r>
          </a:p>
          <a:p>
            <a:pPr marL="254000" indent="-127000">
              <a:spcAft>
                <a:spcPts val="13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Արտաքին սերվերը հաճախ տեսնում է proxy-ի կապը</a:t>
            </a:r>
          </a:p>
        </p:txBody>
      </p:sp>
    </p:spTree>
    <p:extLst>
      <p:ext uri="{BB962C8B-B14F-4D97-AF65-F5344CB8AC3E}">
        <p14:creationId xmlns:p14="http://schemas.microsoft.com/office/powerpoint/2010/main" val="71806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D7A1C6-024A-4B3A-84F9-65BBFC8F98C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05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F62BA-F5D1-42A4-B89E-38FE45C4524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Reverse Proxy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36013E-4D13-4BF6-B805-8045A2A97BC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920C84-EADF-4773-9F74-7C055CB757F1}"/>
              </a:ext>
            </a:extLst>
          </p:cNvPr>
          <p:cNvSpPr>
            <a:spLocks noGrp="1"/>
          </p:cNvSpPr>
          <p:nvPr/>
        </p:nvSpPr>
        <p:spPr>
          <a:xfrm>
            <a:off x="714375" y="1762125"/>
            <a:ext cx="2857500" cy="104775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Օգտատերեր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0C744A-7016-4E4F-B3A5-23134174F4E2}"/>
              </a:ext>
            </a:extLst>
          </p:cNvPr>
          <p:cNvSpPr>
            <a:spLocks noGrp="1"/>
          </p:cNvSpPr>
          <p:nvPr/>
        </p:nvSpPr>
        <p:spPr>
          <a:xfrm>
            <a:off x="4524375" y="1762125"/>
            <a:ext cx="3143250" cy="104775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06111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6111F"/>
                </a:solidFill>
                <a:latin typeface="DejaVu Sans"/>
                <a:ea typeface="DejaVu Sans"/>
                <a:cs typeface="DejaVu Sans"/>
              </a:rPr>
              <a:t>Reverse Proxy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EF1CC-89A2-4AA7-B916-152A37164830}"/>
              </a:ext>
            </a:extLst>
          </p:cNvPr>
          <p:cNvSpPr>
            <a:spLocks noGrp="1"/>
          </p:cNvSpPr>
          <p:nvPr/>
        </p:nvSpPr>
        <p:spPr>
          <a:xfrm>
            <a:off x="8620125" y="1381125"/>
            <a:ext cx="2762250" cy="7620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Սերվեր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6CAC9-7297-497F-BE4A-5E5DE70BB4DD}"/>
              </a:ext>
            </a:extLst>
          </p:cNvPr>
          <p:cNvSpPr>
            <a:spLocks noGrp="1"/>
          </p:cNvSpPr>
          <p:nvPr/>
        </p:nvSpPr>
        <p:spPr>
          <a:xfrm>
            <a:off x="8620125" y="2333625"/>
            <a:ext cx="2762250" cy="76200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Սերվեր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2D599F-66C5-410E-87AA-B73A173EB425}"/>
              </a:ext>
            </a:extLst>
          </p:cNvPr>
          <p:cNvSpPr>
            <a:spLocks noGrp="1"/>
          </p:cNvSpPr>
          <p:nvPr/>
        </p:nvSpPr>
        <p:spPr>
          <a:xfrm>
            <a:off x="1381125" y="3619500"/>
            <a:ext cx="9525000" cy="2143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Գործում է վեբ սերվերների անունից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Ընտրում է, թե որ սերվերը կմշակի հարցումը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Կարող է ստուգել HTTPS կապը և կիրառել պաշտպանություն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Կարող է վերադարձնել քեշում պահված պատասխանը</a:t>
            </a:r>
          </a:p>
        </p:txBody>
      </p:sp>
    </p:spTree>
    <p:extLst>
      <p:ext uri="{BB962C8B-B14F-4D97-AF65-F5344CB8AC3E}">
        <p14:creationId xmlns:p14="http://schemas.microsoft.com/office/powerpoint/2010/main" val="142818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8F7C777-1DB1-4600-8190-08F342C8BB7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06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FE300D-580D-4139-B9FF-BFA7E25DE53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URI և URL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973C9-9897-45E4-A521-7DE07B1075A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6C1022-BDBC-4BB8-B65C-F03A2BC456DC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763250" cy="8763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https://www.example.com:443/products/7?lang=hy#details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C861E-5745-414D-8509-BC1086678D88}"/>
              </a:ext>
            </a:extLst>
          </p:cNvPr>
          <p:cNvSpPr>
            <a:spLocks noGrp="1"/>
          </p:cNvSpPr>
          <p:nvPr/>
        </p:nvSpPr>
        <p:spPr>
          <a:xfrm>
            <a:off x="619125" y="3095625"/>
            <a:ext cx="1714500" cy="4572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scheme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C7028-3C86-44C1-8A50-60F2D7FAB893}"/>
              </a:ext>
            </a:extLst>
          </p:cNvPr>
          <p:cNvSpPr>
            <a:spLocks noGrp="1"/>
          </p:cNvSpPr>
          <p:nvPr/>
        </p:nvSpPr>
        <p:spPr>
          <a:xfrm>
            <a:off x="619125" y="3638550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rPr>
              <a:t>https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6262EF-84E6-4623-8933-D6290F9C4A8D}"/>
              </a:ext>
            </a:extLst>
          </p:cNvPr>
          <p:cNvSpPr>
            <a:spLocks noGrp="1"/>
          </p:cNvSpPr>
          <p:nvPr/>
        </p:nvSpPr>
        <p:spPr>
          <a:xfrm>
            <a:off x="2524125" y="3095625"/>
            <a:ext cx="1714500" cy="4572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host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D6E15-3990-4960-B1E3-7C75ED183AEB}"/>
              </a:ext>
            </a:extLst>
          </p:cNvPr>
          <p:cNvSpPr>
            <a:spLocks noGrp="1"/>
          </p:cNvSpPr>
          <p:nvPr/>
        </p:nvSpPr>
        <p:spPr>
          <a:xfrm>
            <a:off x="2524125" y="3638550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rPr>
              <a:t>www.example.com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7D849F-7E5A-49D1-B6D7-45C4D0DBCE43}"/>
              </a:ext>
            </a:extLst>
          </p:cNvPr>
          <p:cNvSpPr>
            <a:spLocks noGrp="1"/>
          </p:cNvSpPr>
          <p:nvPr/>
        </p:nvSpPr>
        <p:spPr>
          <a:xfrm>
            <a:off x="4429125" y="3095625"/>
            <a:ext cx="1714500" cy="4572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DC4071-EE0A-4C0A-BE5D-D6F9AE5B4EB6}"/>
              </a:ext>
            </a:extLst>
          </p:cNvPr>
          <p:cNvSpPr>
            <a:spLocks noGrp="1"/>
          </p:cNvSpPr>
          <p:nvPr/>
        </p:nvSpPr>
        <p:spPr>
          <a:xfrm>
            <a:off x="4429125" y="3638550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rPr>
              <a:t>443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CAD030-937A-4276-B653-A712263A2394}"/>
              </a:ext>
            </a:extLst>
          </p:cNvPr>
          <p:cNvSpPr>
            <a:spLocks noGrp="1"/>
          </p:cNvSpPr>
          <p:nvPr/>
        </p:nvSpPr>
        <p:spPr>
          <a:xfrm>
            <a:off x="6334125" y="3095625"/>
            <a:ext cx="1714500" cy="4572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path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C311CD-29C2-4C24-BDA9-9DFFC45C00FA}"/>
              </a:ext>
            </a:extLst>
          </p:cNvPr>
          <p:cNvSpPr>
            <a:spLocks noGrp="1"/>
          </p:cNvSpPr>
          <p:nvPr/>
        </p:nvSpPr>
        <p:spPr>
          <a:xfrm>
            <a:off x="6334125" y="3638550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rPr>
              <a:t>/products/7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00F85B-24C4-43C3-A54B-A5CC2135875D}"/>
              </a:ext>
            </a:extLst>
          </p:cNvPr>
          <p:cNvSpPr>
            <a:spLocks noGrp="1"/>
          </p:cNvSpPr>
          <p:nvPr/>
        </p:nvSpPr>
        <p:spPr>
          <a:xfrm>
            <a:off x="8239125" y="3095625"/>
            <a:ext cx="1714500" cy="4572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query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119DEB-A690-4AD9-8358-0D4B9DBAF31A}"/>
              </a:ext>
            </a:extLst>
          </p:cNvPr>
          <p:cNvSpPr>
            <a:spLocks noGrp="1"/>
          </p:cNvSpPr>
          <p:nvPr/>
        </p:nvSpPr>
        <p:spPr>
          <a:xfrm>
            <a:off x="8239125" y="3638550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rPr>
              <a:t>lang=hy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1A5221-C4B2-403E-9785-362024C59B7B}"/>
              </a:ext>
            </a:extLst>
          </p:cNvPr>
          <p:cNvSpPr>
            <a:spLocks noGrp="1"/>
          </p:cNvSpPr>
          <p:nvPr/>
        </p:nvSpPr>
        <p:spPr>
          <a:xfrm>
            <a:off x="10144125" y="3095625"/>
            <a:ext cx="1714500" cy="4572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fragment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7FD2ED-F570-4CE3-8189-796397FDA319}"/>
              </a:ext>
            </a:extLst>
          </p:cNvPr>
          <p:cNvSpPr>
            <a:spLocks noGrp="1"/>
          </p:cNvSpPr>
          <p:nvPr/>
        </p:nvSpPr>
        <p:spPr>
          <a:xfrm>
            <a:off x="10144125" y="3638550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CE7F2"/>
                </a:solidFill>
                <a:latin typeface="DejaVu Sans Mono"/>
                <a:ea typeface="DejaVu Sans Mono"/>
                <a:cs typeface="DejaVu Sans Mono"/>
              </a:rPr>
              <a:t>details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A82760-CDC6-466E-BBC9-13936DE46F32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9334500" cy="51435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URI-ն նույնականացնում է ռեսուրսը, URL-ը նաև ցույց է տալիս հասանելիության եղանակն ու տեղը</a:t>
            </a:r>
          </a:p>
        </p:txBody>
      </p:sp>
    </p:spTree>
    <p:extLst>
      <p:ext uri="{BB962C8B-B14F-4D97-AF65-F5344CB8AC3E}">
        <p14:creationId xmlns:p14="http://schemas.microsoft.com/office/powerpoint/2010/main" val="80445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A15D23-5CD0-4E1E-AFEA-E163EBBC059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07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F376B-A114-4E87-A09A-BED49CD45C2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Proxy Reverse Proxy և CDN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32155B-1FAC-419C-914A-0E9DF5B7319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762000" y="1524000"/>
          <a:ext cx="10668000" cy="3333750"/>
        </p:xfrm>
        <a:graphic>
          <a:graphicData uri="http://schemas.openxmlformats.org/drawingml/2006/table">
            <a:tbl>
              <a:tblPr firstRow="1" band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Տեսակ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Դիրք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Դեր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Proxy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հաճախորդի կողմ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ֆիլտրում և ելքի վերահսկում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Reverse proxy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սերվերի կողմ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երթուղավորում TLS և բեռի բաշխում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CDN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եզրային հանգույցներ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մոտ տարածքից բովանդակության առաքում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4819698-9D4F-4F86-8462-2BFA0E38C967}"/>
              </a:ext>
            </a:extLst>
          </p:cNvPr>
          <p:cNvSpPr>
            <a:spLocks noGrp="1"/>
          </p:cNvSpPr>
          <p:nvPr/>
        </p:nvSpPr>
        <p:spPr>
          <a:xfrm>
            <a:off x="1476375" y="5238750"/>
            <a:ext cx="9239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CDN-ը հաճախ աշխատում է որպես բաշխված reverse proxy և cache</a:t>
            </a:r>
          </a:p>
        </p:txBody>
      </p:sp>
    </p:spTree>
    <p:extLst>
      <p:ext uri="{BB962C8B-B14F-4D97-AF65-F5344CB8AC3E}">
        <p14:creationId xmlns:p14="http://schemas.microsoft.com/office/powerpoint/2010/main" val="184171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1C11C8-EE95-4F20-8A42-F72EF52702F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08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3B38C-FD4B-47C5-B792-F33A0087C89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Քեշավորման կառավարում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89483A-A1B4-4F96-8DE4-78904EF56F7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557EFE-FD6E-44F2-8648-0C41C4E3585A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5143500" cy="33337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Cache-Control: max-age=3600</a:t>
            </a:r>
          </a:p>
          <a:p>
            <a:pPr>
              <a:def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Cache-Control: no-store</a:t>
            </a:r>
          </a:p>
          <a:p>
            <a:pPr>
              <a:def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ETag: "v7"</a:t>
            </a:r>
          </a:p>
          <a:p>
            <a:pPr>
              <a:def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If-None-Match: "v7"</a:t>
            </a:r>
          </a:p>
          <a:p>
            <a:pPr>
              <a:def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HTTP/1.1 304 Not Modified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9C73B-C48F-428E-87D5-DA758CF7E086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3333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Browser cache-ը պահում է տեղային պատճեն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CDN cache-ը սպասարկում է բազմաթիվ օգտատերերի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max-age-ը սահմանում է թարմության ժամկետը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ETag-ը թույլ է տալիս ստուգել փոփոխությունը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304 պատասխանը մարմին չի փոխանցում</a:t>
            </a:r>
          </a:p>
        </p:txBody>
      </p:sp>
    </p:spTree>
    <p:extLst>
      <p:ext uri="{BB962C8B-B14F-4D97-AF65-F5344CB8AC3E}">
        <p14:creationId xmlns:p14="http://schemas.microsoft.com/office/powerpoint/2010/main" val="324306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D7F28F-63B3-4272-8072-4891B53EC19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09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A0CEF0-7970-4FD2-AC07-79BC40D06E6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HTTP հարցում և պատասխան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9002B-DDFF-4A79-824F-FADD78DB2DA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70A88-7EBC-4088-9D0D-9E2AB327A42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238750" cy="2476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GET /api/products/7 HTTP/1.1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Host: example.com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Accept: application/json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3F646-881E-41CA-9DA7-7AB5C1DFA7FD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5238750" cy="2476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HTTP/1.1 200 OK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Content-Type: application/json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Cache-Control: max-age=60</a:t>
            </a:r>
          </a:p>
          <a:p>
            <a:endParaRPr sz="1650" b="0">
              <a:solidFill>
                <a:srgbClr val="D5F3EF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{"id":7,"name":"Book"}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F5CEC-0CE9-435E-BC75-C9FD9580B522}"/>
              </a:ext>
            </a:extLst>
          </p:cNvPr>
          <p:cNvSpPr>
            <a:spLocks noGrp="1"/>
          </p:cNvSpPr>
          <p:nvPr/>
        </p:nvSpPr>
        <p:spPr>
          <a:xfrm>
            <a:off x="1095375" y="4429125"/>
            <a:ext cx="4381500" cy="93345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ՀԱՐՑՈՒՄ</a:t>
            </a:r>
          </a:p>
          <a:p>
            <a:pPr>
              <a:defRPr sz="165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մեթոդ ուղի վերնագրեր մարմին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178103-2E3F-4114-9121-5B5D6CAF60B4}"/>
              </a:ext>
            </a:extLst>
          </p:cNvPr>
          <p:cNvSpPr>
            <a:spLocks noGrp="1"/>
          </p:cNvSpPr>
          <p:nvPr/>
        </p:nvSpPr>
        <p:spPr>
          <a:xfrm>
            <a:off x="6715125" y="4429125"/>
            <a:ext cx="4381500" cy="93345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ՊԱՏԱՍԽԱՆ</a:t>
            </a:r>
          </a:p>
          <a:p>
            <a:pPr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կոդ վերնագրեր մարմին</a:t>
            </a:r>
          </a:p>
        </p:txBody>
      </p:sp>
    </p:spTree>
    <p:extLst>
      <p:ext uri="{BB962C8B-B14F-4D97-AF65-F5344CB8AC3E}">
        <p14:creationId xmlns:p14="http://schemas.microsoft.com/office/powerpoint/2010/main" val="326916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37CF1A-8863-4CFE-AE18-3F510C24165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10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38A01D-6535-4015-AE6B-360CDE9013D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HTTP մեթոդներ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A11D7-78A1-4C66-8020-1CA678526B9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/>
          <p:nvPr/>
        </p:nvGraphicFramePr>
        <p:xfrm>
          <a:off x="714375" y="1381125"/>
          <a:ext cx="10763250" cy="4286250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Մեթոդ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Նպատակ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Հատկություն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ստանալ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անվտանգ և idempotent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ստեղծել կամ գործարկել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սովորաբար ոչ idempotent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ամբողջությամբ փոխարինել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idempotent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PATCH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մասնակի փոփոխել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կախված է կիրառությունից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DELETE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հեռացնել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idempotent իմաստով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HEAD OPTIONS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վերնագրեր կամ հնարավորություններ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օժանդակ մեթոդներ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61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B5FAAD-DA6D-47D6-A105-4ADDCA9B970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11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20EAE3-2726-48D4-8DA0-185165FE90E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HTTP կարգավիճակի կոդեր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8B783-FF67-411D-87D0-24CC37CABDB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714375" y="1476375"/>
          <a:ext cx="10763250" cy="3714750"/>
        </p:xfrm>
        <a:graphic>
          <a:graphicData uri="http://schemas.openxmlformats.org/drawingml/2006/table">
            <a:tbl>
              <a:tblPr firstRow="1" bandRow="1"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Խումբ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Իմաստ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Օրինակներ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1xx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տեղեկատվական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2xx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հաջողություն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200 201 204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3xx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վերաուղղում կամ քեշ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301 302 304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4xx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հաճախորդի հարցման խնդիր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400 401 403 404 422 429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5xx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սերվերի մշակման խնդիր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500 502 503 504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627F4F-BD15-407E-BDF5-3BE886A4FDE9}"/>
              </a:ext>
            </a:extLst>
          </p:cNvPr>
          <p:cNvSpPr>
            <a:spLocks noGrp="1"/>
          </p:cNvSpPr>
          <p:nvPr/>
        </p:nvSpPr>
        <p:spPr>
          <a:xfrm>
            <a:off x="1095375" y="5476875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FFCC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CC7A"/>
                </a:solidFill>
                <a:latin typeface="DejaVu Sans Mono"/>
                <a:ea typeface="DejaVu Sans Mono"/>
                <a:cs typeface="DejaVu Sans Mono"/>
              </a:rPr>
              <a:t>401՝ authentication   403՝ access denied   404՝ resource not found</a:t>
            </a:r>
          </a:p>
        </p:txBody>
      </p:sp>
    </p:spTree>
    <p:extLst>
      <p:ext uri="{BB962C8B-B14F-4D97-AF65-F5344CB8AC3E}">
        <p14:creationId xmlns:p14="http://schemas.microsoft.com/office/powerpoint/2010/main" val="1306115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676F2C-7490-433B-BB14-7C1E6DC7945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12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93DE45-4797-44B0-BE37-45BA45A9CE1B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HTTPS և HTTP տարբերակներ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33B78-804B-4D10-8682-AA33AA4E2A4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714375" y="1428750"/>
          <a:ext cx="10763250" cy="3714750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Տարբերակ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Տրանսպորտ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Հիմնական տարբերություն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 և TLS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գաղտնիություն ամբողջականություն ինքնության ստուգում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HTTP/1.1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TCP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տեքստային հաղորդագրություններ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HTTP/2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TCP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բազմահոսք և HPACK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HTTP/3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QUIC UDP-ի վրա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բազմահոսք և QPACK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84A6A1A-7D19-49F1-AA1D-4B0558CAA91E}"/>
              </a:ext>
            </a:extLst>
          </p:cNvPr>
          <p:cNvSpPr>
            <a:spLocks noGrp="1"/>
          </p:cNvSpPr>
          <p:nvPr/>
        </p:nvSpPr>
        <p:spPr>
          <a:xfrm>
            <a:off x="1381125" y="5476875"/>
            <a:ext cx="9429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HTTP-ի իմաստը պահպանվում է, փոխանցման մեխանիզմը փոխվում է</a:t>
            </a:r>
          </a:p>
        </p:txBody>
      </p:sp>
    </p:spTree>
    <p:extLst>
      <p:ext uri="{BB962C8B-B14F-4D97-AF65-F5344CB8AC3E}">
        <p14:creationId xmlns:p14="http://schemas.microsoft.com/office/powerpoint/2010/main" val="83688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FE83A8-6DCA-4EC4-9D6B-43C56A5736A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13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8CB61B-E2A7-465D-81B5-6061EE98214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Այլ հիմնական արձանագրություններ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25B7E1-70E9-4F46-8FED-6FAD94A7763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/>
          <p:nvPr/>
        </p:nvGraphicFramePr>
        <p:xfrm>
          <a:off x="1333500" y="1381125"/>
          <a:ext cx="9525000" cy="4286250"/>
        </p:xfrm>
        <a:graphic>
          <a:graphicData uri="http://schemas.openxmlformats.org/drawingml/2006/table">
            <a:tbl>
              <a:tblPr firstRow="1" bandRow="1"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Արձանագրություն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Դեր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DNS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դոմենային անվան լուծում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IP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փաթեթների հասցեավորում և երթուղավորում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TCP կամ QUIC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տվյալների փոխանցում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TLS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կապի պաշտպանություն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WebSocket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երկարատև երկկողմ հաղորդակցություն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SSH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հեռավար անվտանգ կառավարում և Git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86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9BAFAF-D4EE-46B3-AFDF-DC2E67B29C4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14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EC30AD-11AF-48F2-A492-4621C2F79812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VS Code և նախագծի կառուցվածք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C89AA6-7C57-4462-B305-58516871A97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102C3E-E784-4469-8DAD-5F62B111E49B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4762500" cy="385762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web-project/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index.html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css/style.css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js/app.js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assets/images/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README.md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└── .gitignore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33A30-C4C8-4D8E-B1C8-73F79DEB3AA3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048250" cy="3429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3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Explorer՝ ֆայլերի կառուցվածք</a:t>
            </a:r>
          </a:p>
          <a:p>
            <a:pPr marL="254000" indent="-127000">
              <a:spcAft>
                <a:spcPts val="13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Search՝ որոնում ամբողջ նախագծում</a:t>
            </a:r>
          </a:p>
          <a:p>
            <a:pPr marL="254000" indent="-127000">
              <a:spcAft>
                <a:spcPts val="13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Source Control՝ Git փոփոխություններ</a:t>
            </a:r>
          </a:p>
          <a:p>
            <a:pPr marL="254000" indent="-127000">
              <a:spcAft>
                <a:spcPts val="13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Terminal՝ հրամանների կատարում</a:t>
            </a:r>
          </a:p>
          <a:p>
            <a:pPr marL="254000" indent="-127000">
              <a:spcAft>
                <a:spcPts val="13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Extensions՝ լեզուների և գործիքների աջակցություն</a:t>
            </a:r>
          </a:p>
        </p:txBody>
      </p:sp>
    </p:spTree>
    <p:extLst>
      <p:ext uri="{BB962C8B-B14F-4D97-AF65-F5344CB8AC3E}">
        <p14:creationId xmlns:p14="http://schemas.microsoft.com/office/powerpoint/2010/main" val="98883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46DA5D-C171-45EE-A861-95F2D100D28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15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FAC705-8EB5-40FB-B165-8C438EB9814E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Developer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9B5DD1-0F52-4C7E-9DDD-5F98097364A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952500" y="1428750"/>
          <a:ext cx="10287000" cy="3714750"/>
        </p:xfrm>
        <a:graphic>
          <a:graphicData uri="http://schemas.openxmlformats.org/drawingml/2006/table">
            <a:tbl>
              <a:tblPr firstRow="1" band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Բաժին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 ենք ստուգում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Elements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 և CSS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Console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JavaScript հաղորդագրություններ և սխալներ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Network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URL մեթոդ կոդ վերնագրեր մարմին տևողություն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Application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cookie storage և cache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կոդ և breakpoint-ներ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17D91C-5937-4DDF-8A93-7241B1CBEE35}"/>
              </a:ext>
            </a:extLst>
          </p:cNvPr>
          <p:cNvSpPr>
            <a:spLocks noGrp="1"/>
          </p:cNvSpPr>
          <p:nvPr/>
        </p:nvSpPr>
        <p:spPr>
          <a:xfrm>
            <a:off x="1524000" y="5476875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Փոքր ցուցադրում՝ F12  Network  Reload  ընտրել հիմնական HTML հարցումը</a:t>
            </a:r>
          </a:p>
        </p:txBody>
      </p:sp>
    </p:spTree>
    <p:extLst>
      <p:ext uri="{BB962C8B-B14F-4D97-AF65-F5344CB8AC3E}">
        <p14:creationId xmlns:p14="http://schemas.microsoft.com/office/powerpoint/2010/main" val="252018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D32659-4C06-47D1-A87D-B584FA382FD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16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1D14E4-AA86-4225-8C33-006DCD96B54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 dirty="0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Git GitHu</a:t>
            </a:r>
            <a:r>
              <a:rPr lang="en-US" sz="2475" b="1" dirty="0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b</a:t>
            </a:r>
            <a:endParaRPr sz="2475" b="1" dirty="0">
              <a:solidFill>
                <a:srgbClr val="E8F1F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666272-6DDE-45D5-96B9-059EE9C7255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A94C6E-63FC-4670-873F-9A9E5E890ECF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5301431" cy="301942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</a:t>
            </a:r>
            <a:r>
              <a:rPr sz="1575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init</a:t>
            </a:r>
            <a:endParaRPr sz="1575" b="0" dirty="0">
              <a:solidFill>
                <a:srgbClr val="D5F3EF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add .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commit -m "Initial web structure"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push -u origin main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3B46A-ED01-497A-99B9-ABA7893AC929}"/>
              </a:ext>
            </a:extLst>
          </p:cNvPr>
          <p:cNvSpPr>
            <a:spLocks noGrp="1"/>
          </p:cNvSpPr>
          <p:nvPr/>
        </p:nvSpPr>
        <p:spPr>
          <a:xfrm>
            <a:off x="6362700" y="1673020"/>
            <a:ext cx="4953000" cy="3333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Git-ը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պահպանում</a:t>
            </a: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է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փոփոխությունների</a:t>
            </a: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պատմությունը</a:t>
            </a:r>
            <a:endParaRPr sz="1575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GitHub-ը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հոսթավորում</a:t>
            </a: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է Git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պահոցը</a:t>
            </a:r>
            <a:endParaRPr sz="1575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Commit-ը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նկարագրում</a:t>
            </a: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է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մեկ</a:t>
            </a: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իմաստավորված</a:t>
            </a:r>
            <a:r>
              <a:rPr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փոփոխությու</a:t>
            </a:r>
            <a:r>
              <a:rPr lang="hy-AM" sz="1575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ն</a:t>
            </a:r>
          </a:p>
        </p:txBody>
      </p:sp>
    </p:spTree>
    <p:extLst>
      <p:ext uri="{BB962C8B-B14F-4D97-AF65-F5344CB8AC3E}">
        <p14:creationId xmlns:p14="http://schemas.microsoft.com/office/powerpoint/2010/main" val="4116897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Microsoft Office PowerPoint</Application>
  <DocSecurity>0</DocSecurity>
  <PresentationFormat>Widescreen</PresentationFormat>
  <Paragraphs>269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DejaVu Sans</vt:lpstr>
      <vt:lpstr>DejaVu Sans Mono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poghosyan sona</cp:lastModifiedBy>
  <cp:revision>2</cp:revision>
  <dcterms:created xsi:type="dcterms:W3CDTF">2026-09-13T20:29:15Z</dcterms:created>
  <dcterms:modified xsi:type="dcterms:W3CDTF">2026-09-13T21:32:32Z</dcterms:modified>
</cp:coreProperties>
</file>